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86" r:id="rId4"/>
    <p:sldId id="2147483064" r:id="rId5"/>
    <p:sldId id="2147483089" r:id="rId6"/>
    <p:sldId id="2147483090" r:id="rId7"/>
    <p:sldId id="21474830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C99A8-74AF-1B4F-8415-BAEBA261C05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E6564-EBD3-ED48-9123-DC04AFCDA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2A38AF-BF39-B147-8521-BA6C4E41F8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61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4D6D-798F-104A-FE0C-9B5C14DAF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E3131-52AE-1D02-E049-57608B0C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AAB7-80E8-2848-5A93-D26DFF9B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3417-7614-C4E1-54A1-4B5309DB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29B8-528E-679C-C68D-99293283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0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FE89-AB4D-4CAE-3D99-76F9D720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2CEA-6321-70CD-82DC-3159285A3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FA0C2-715C-1B53-1BB9-9BF86F01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95DC-C7BF-3F81-CB61-51909657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87E2D-54E8-494A-CDEE-79B49EDC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9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B34C-A0FE-866B-42EE-F64EFFC2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9A230-F70D-D449-3214-10A90CA46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37445-EAB5-5EB4-795E-14315C39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DC293-DFD6-8AE8-EB1B-1935EB80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FE3A9-7BD2-8DC1-98AA-2036EDD6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5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37B6-5CF1-98A0-A369-DB57F403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F446-4195-2C7A-7A51-1D513FE0C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C1335-F6F3-444D-F34D-EDFBDA3C7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87191-9882-F4B4-113A-AC2F562C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CEE2A-A781-F90C-CA1D-15FD369C0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50184-6D5D-59FD-490D-915062C7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9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1153-DDFF-763A-7358-7DE64137F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16698-F88A-AB90-6194-198C643F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8C9E5-6FD0-E26C-BA88-603913BFB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057FF-9139-61BC-8120-B0048BC25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E4892-9D09-2500-4145-885229B84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FA541-E818-3C3A-1D6B-52757ED5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1D518-2882-D40A-256F-3D7969A7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D96F3-CD6A-6A91-BD6F-4CAE885C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6802-2A44-B067-5589-5DAE645B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4FB3B-0B42-2406-60F8-4CB4B677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DC1DD-B3E9-7115-F438-1216D5AF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36F67-02CE-065E-06A8-1B6A6747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8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132BA-0612-67AC-439E-B79AA0D9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4DA24-85B5-22C9-D11F-4D3680EA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992D8-F770-404C-A9D6-248B1EFB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0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7F73-ED1C-1FA1-6512-048E56B7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8EF8-7943-AAEA-AD00-733BFDCC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B0EAA-72D3-421A-E1A0-6A83A7358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056BE-615F-AE99-8170-182ECB40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C26B7-9E8C-D3B9-3A3E-FB7E7069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7B591-291C-ED6E-51DA-DA1231D6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0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3541-03B7-9BC3-2C11-F067B440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CFA22-D61C-2DEE-58AD-9277F24EB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4A810-BCDC-5355-E87C-72627439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E7F-56B2-19AF-5128-70BD100F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EED63-D903-C65D-7390-C43287FF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84185-577E-5071-E04C-0572A9E3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3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5776-9E42-4B6B-F048-947703D9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FC24F-C5D2-DC96-42E6-FB3FE69EC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C079-611A-3548-903C-F994C7E8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69B0F-B63A-801D-1D8C-220C2D0B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25F46-ECE9-0DEE-C0FD-7AC47C22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0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D9582-8984-DC6D-9EC4-03B12D021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FD6BA-5BE3-5607-2884-F2F71F9A0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A0AA8-2AF8-8651-C57C-2EF5EE74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3DD06-9111-7677-D952-28ECC3D7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1EA1-0717-389C-90C6-1C73720EE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4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6CF2-2F75-64CF-4E72-F3CE0AD97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55118-EC4C-3645-4647-5B25E8F8F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4667-37F4-D9F2-1679-0F8D3AA7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EFFB-B19E-4A4B-A3D7-96312AED22BC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4FC54-B040-9C55-092D-160BBF6E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7C8AB-F0DE-2D1D-0D9F-E642332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226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C504-0177-C484-5389-0F63C2A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459C-CCB3-FD9C-38C9-100CC8727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1974-3B70-5E1D-C065-AC9E2DD8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3074-433E-4EA4-A868-B33FC859797D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AF2EB-3396-A647-E3BA-DE352316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1AAF4-761E-3007-13C4-37D2F74E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90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65EE-AD49-B3A2-824C-66CF50A1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A9BE7-EE8E-9EE7-56DA-E1203A88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8DF9-E3B6-0D67-9DD1-BCEDE46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0F42-D4EE-461E-B7E3-2766C6F8425F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8541-71C5-E27A-A5D5-50FF3A79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ED84-7C63-0959-5155-504E512D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16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5733-932F-DE7C-8E21-8F027607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9842-87F7-6F50-B904-9D0F605B9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B90DC-3C88-0697-FC67-CE116D388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859B1-E139-66AF-9161-46D45833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2231-8455-425D-B769-C1AAF1D8F1F3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7EF28-19AC-105A-BC5F-7345E47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CF022-6D63-07BE-2682-0EDDA678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01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9318-CC5D-2DFF-5BEB-A2EE3B5C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2F731-3803-0BA7-7085-1EAB9E4B8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C4577-18B9-1FE1-9838-10BE40A86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329D2-7FD4-F453-B3A6-821F72FBD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156C0-787A-3F24-DE81-0BD12A750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387912-7092-5048-260B-37CE47F3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5180B-C131-4B72-A68C-E1A69C9DB921}" type="datetime1">
              <a:rPr lang="en-IN" smtClean="0"/>
              <a:t>23/03/26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D42C3-9F5C-C642-C716-69649880A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78FD3-BFB7-8E43-95EB-AEC0472F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46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EADE-B3D2-7F8A-9A4F-E509CA22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8" y="136526"/>
            <a:ext cx="10515600" cy="597122"/>
          </a:xfrm>
          <a:ln w="12700">
            <a:miter lim="400000"/>
          </a:ln>
        </p:spPr>
        <p:txBody>
          <a:bodyPr vert="horz" lIns="0" tIns="0" rIns="0" bIns="0" rtlCol="0" anchor="ctr">
            <a:normAutofit/>
          </a:bodyPr>
          <a:lstStyle>
            <a:lvl1pPr>
              <a:defRPr lang="en-IN" sz="2400" b="1" dirty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 defTabSz="1218956">
              <a:spcBef>
                <a:spcPts val="0"/>
              </a:spcBef>
            </a:pPr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B3C4E-64A8-BB7F-1FDB-AA2EE57C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4E886-7E1F-4F24-9AA3-9BE34B1F8DFF}" type="datetime1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AF62A-991C-6024-5647-98A502B1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6D9C0-1891-4D52-A7CE-02464EF4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760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67541-D89D-C676-4F56-E05668E2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B82E-9952-4801-8E68-DCC8A08171F4}" type="datetime1">
              <a:rPr lang="en-IN" smtClean="0"/>
              <a:t>23/03/26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56DCD-3179-DDDD-64BC-8AB8ED68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335-3F4D-C3EE-E5A1-28EBE6D6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98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E8C0-ABB5-3073-3643-3834ECCF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3A09-1892-FF6E-CBB8-4EC3DA98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3452A-3BA6-687D-A77F-D8A94E9B1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75332-28DA-3A11-B766-70811BAA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FC9B-8970-4165-96CE-96C96CA6D63F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689DA-0A41-D229-D47A-F3E6B069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738C1-F3DE-5648-BE07-F6DDD522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159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AECF-D8D4-096D-A874-527EB31D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8F34DE-6530-756F-508B-350546899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FA2AD-9ED1-E423-0F4F-498F61026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9F0F-FAA7-78C2-8A1E-29798C64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0FA2-E3A7-4FD7-B2CD-59223EF1EA75}" type="datetime1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CDE77-0EB1-6E88-EAA3-E8873735F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52EEE-2149-9611-8942-462A5401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538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9F4C-F09E-E24D-5E26-1C8140B3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58E08-0335-A86E-BB9F-3DBE2D18C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47CEE-853F-6A7A-D6CE-635FF9EF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FF4CE-DE35-4B6D-A66B-6333535FF95A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F268-E0AF-C314-B757-65163C5A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C208F-1B9D-5CB6-D443-C848DB0B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185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F69A7-18E3-9111-5572-DF2B3656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BC245-CA06-B668-1153-FF49FAB30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F9F0C-CE90-81CE-2AF5-AE852F19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513E2-7A5D-45EB-A15D-B7A5FF7CE258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20DAB-F7F0-955B-4D6C-E1224505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2E0E3-172A-E10E-01F2-13BCA0C5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8644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0B31-D0C6-7ACD-052C-07C8C8B2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133631"/>
            <a:ext cx="11836078" cy="1325563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710E6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 slide">
    <p:bg>
      <p:bgPr>
        <a:solidFill>
          <a:srgbClr val="002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  <a:solidFill>
            <a:srgbClr val="002D9C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861FD91-E169-6FBB-2EFC-024BEE3E874B}"/>
              </a:ext>
            </a:extLst>
          </p:cNvPr>
          <p:cNvSpPr/>
          <p:nvPr userDrawn="1"/>
        </p:nvSpPr>
        <p:spPr bwMode="auto">
          <a:xfrm>
            <a:off x="10474960" y="162560"/>
            <a:ext cx="1513840" cy="721360"/>
          </a:xfrm>
          <a:prstGeom prst="rect">
            <a:avLst/>
          </a:prstGeom>
          <a:solidFill>
            <a:srgbClr val="002D9C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AT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422655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FCDE-696E-126E-035B-76EE4F2E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37236"/>
            <a:ext cx="1015648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B44167-9C2B-314F-F177-B30DAF0A45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124" y="1714500"/>
            <a:ext cx="11620575" cy="458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E07E-CE19-0417-7226-C47B7C7669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45479" y="6356350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5786FF4-BED2-F60F-A907-2AA4426CF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© 2025 IBM Corporation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F87621-3D49-6249-AE4B-8CF8EB4383F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5900860"/>
              </p:ext>
            </p:extLst>
          </p:nvPr>
        </p:nvGraphicFramePr>
        <p:xfrm>
          <a:off x="-6326155" y="1122363"/>
          <a:ext cx="5931904" cy="6502311"/>
        </p:xfrm>
        <a:graphic>
          <a:graphicData uri="http://schemas.openxmlformats.org/drawingml/2006/table">
            <a:tbl>
              <a:tblPr/>
              <a:tblGrid>
                <a:gridCol w="1203610">
                  <a:extLst>
                    <a:ext uri="{9D8B030D-6E8A-4147-A177-3AD203B41FA5}">
                      <a16:colId xmlns:a16="http://schemas.microsoft.com/office/drawing/2014/main" val="1479872914"/>
                    </a:ext>
                  </a:extLst>
                </a:gridCol>
                <a:gridCol w="623590">
                  <a:extLst>
                    <a:ext uri="{9D8B030D-6E8A-4147-A177-3AD203B41FA5}">
                      <a16:colId xmlns:a16="http://schemas.microsoft.com/office/drawing/2014/main" val="10120844"/>
                    </a:ext>
                  </a:extLst>
                </a:gridCol>
                <a:gridCol w="580201">
                  <a:extLst>
                    <a:ext uri="{9D8B030D-6E8A-4147-A177-3AD203B41FA5}">
                      <a16:colId xmlns:a16="http://schemas.microsoft.com/office/drawing/2014/main" val="1549515148"/>
                    </a:ext>
                  </a:extLst>
                </a:gridCol>
                <a:gridCol w="575871">
                  <a:extLst>
                    <a:ext uri="{9D8B030D-6E8A-4147-A177-3AD203B41FA5}">
                      <a16:colId xmlns:a16="http://schemas.microsoft.com/office/drawing/2014/main" val="4176681777"/>
                    </a:ext>
                  </a:extLst>
                </a:gridCol>
                <a:gridCol w="640819">
                  <a:extLst>
                    <a:ext uri="{9D8B030D-6E8A-4147-A177-3AD203B41FA5}">
                      <a16:colId xmlns:a16="http://schemas.microsoft.com/office/drawing/2014/main" val="3571594574"/>
                    </a:ext>
                  </a:extLst>
                </a:gridCol>
                <a:gridCol w="632158">
                  <a:extLst>
                    <a:ext uri="{9D8B030D-6E8A-4147-A177-3AD203B41FA5}">
                      <a16:colId xmlns:a16="http://schemas.microsoft.com/office/drawing/2014/main" val="2974392418"/>
                    </a:ext>
                  </a:extLst>
                </a:gridCol>
                <a:gridCol w="1675655">
                  <a:extLst>
                    <a:ext uri="{9D8B030D-6E8A-4147-A177-3AD203B41FA5}">
                      <a16:colId xmlns:a16="http://schemas.microsoft.com/office/drawing/2014/main" val="2104453619"/>
                    </a:ext>
                  </a:extLst>
                </a:gridCol>
              </a:tblGrid>
              <a:tr h="6277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Colour Theme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Primary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Dark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Generic Usage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095830"/>
                  </a:ext>
                </a:extLst>
              </a:tr>
              <a:tr h="11743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 (Primary Brand)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EAF5FF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DDF3FF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4589FF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0F62FE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002D9C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Primary titles, section headers, core shapes, diagrams, main narrative elements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560062"/>
                  </a:ext>
                </a:extLst>
              </a:tr>
              <a:tr h="1408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Purple (Secondary Accent)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F2ECFF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E0D7FF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7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A78BFA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8B5CF6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6F42C1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Secondary emphasis, supporting callouts, differentiation elements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23072"/>
                  </a:ext>
                </a:extLst>
              </a:tr>
              <a:tr h="11743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 (Positive Indicator)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ECFDF3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C6F6D5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42BE65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E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24A148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1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0E6027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02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 indicators, progress markers, completion or improvement signals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19867"/>
                  </a:ext>
                </a:extLst>
              </a:tr>
              <a:tr h="705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Yellow (Highlight / Focus)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FFF8E1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FFF1C2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F1C21B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1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D2A106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A10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8E6A00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A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Highlights, attention areas, key points, milestones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65919"/>
                  </a:ext>
                </a:extLst>
              </a:tr>
              <a:tr h="705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 (Attention / Risk)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FFF1F1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FFD7D9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FA4D56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DA1E28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E2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A2191F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9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Issues, risks, constraints, exceptions, alerts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506363"/>
                  </a:ext>
                </a:extLst>
              </a:tr>
              <a:tr h="705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Neutral (Foundation)</a:t>
                      </a:r>
                    </a:p>
                  </a:txBody>
                  <a:tcPr marL="2924" marR="2924" marT="2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FFFFFF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F4F4F4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E0E0E0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A8A8A8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A8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Arial Unicode MS"/>
                        </a:rPr>
                        <a:t>161616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Backgrounds, body text, tables, dividers, footnotes</a:t>
                      </a:r>
                    </a:p>
                  </a:txBody>
                  <a:tcPr marL="2924" marR="2924" marT="2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362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58989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B8C2A0-24F9-4DEA-EDD0-BDD040D2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68ABC-4852-6989-9225-4D415BB9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79E9-C0D9-8966-5CF9-C1F4FC0D2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851B0-4CE3-6840-8CD6-C7DD21665D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BA0D9-E0F4-FFCA-C5B9-C1716162D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0833E-DA99-0A78-DD76-FFFFF06E6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450F5-5520-B041-BD04-0D67ADAF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9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44567-3D55-1582-1741-638392ED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E22F3-912E-1E4A-C5A3-8CE583CA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939A2-496B-188F-CEF9-4569D9908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EC523-99D5-4163-9704-FD3CD038C969}" type="datetime1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C0F7-FD85-7DAF-D59D-8E682DAD4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8554-26FF-3A87-ACB5-281204891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7628" y="6356350"/>
            <a:ext cx="5161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3DEA9-8E1D-4F84-86D3-D29702EC14F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7059810C-4637-F16D-05D5-C9369F8ABAE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95282" y="6413816"/>
            <a:ext cx="591648" cy="2201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EA628B-7C80-DFFC-4E2F-9DF0EC8C027E}"/>
              </a:ext>
            </a:extLst>
          </p:cNvPr>
          <p:cNvCxnSpPr/>
          <p:nvPr userDrawn="1"/>
        </p:nvCxnSpPr>
        <p:spPr>
          <a:xfrm>
            <a:off x="1344687" y="6379904"/>
            <a:ext cx="0" cy="288000"/>
          </a:xfrm>
          <a:prstGeom prst="line">
            <a:avLst/>
          </a:prstGeom>
          <a:ln w="12700" cap="rnd">
            <a:solidFill>
              <a:schemeClr val="bg2">
                <a:lumMod val="75000"/>
              </a:schemeClr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6">
            <a:extLst>
              <a:ext uri="{FF2B5EF4-FFF2-40B4-BE49-F238E27FC236}">
                <a16:creationId xmlns:a16="http://schemas.microsoft.com/office/drawing/2014/main" id="{A2165548-48F8-58F8-7DD8-73C9F79BA0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444" y="6402530"/>
            <a:ext cx="2195882" cy="24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D40FA4-9828-447A-0612-A04B89D4F160}"/>
              </a:ext>
            </a:extLst>
          </p:cNvPr>
          <p:cNvSpPr/>
          <p:nvPr userDrawn="1"/>
        </p:nvSpPr>
        <p:spPr>
          <a:xfrm flipV="1">
            <a:off x="7862" y="2177"/>
            <a:ext cx="7870371" cy="865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495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9B8CB-DF52-FFCA-7C5A-16F8B6FD1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8C71E-5870-83FF-51B3-4DA2400F4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5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4243-B1F8-B0DA-F84D-A0101B8E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1F5EC-02F4-5F2D-16FC-F54B9344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53DEA9-8E1D-4F84-86D3-D29702EC14F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DD65B-378E-D521-8F86-DB668ED14C06}"/>
              </a:ext>
            </a:extLst>
          </p:cNvPr>
          <p:cNvSpPr txBox="1"/>
          <p:nvPr/>
        </p:nvSpPr>
        <p:spPr>
          <a:xfrm>
            <a:off x="282046" y="975916"/>
            <a:ext cx="5760000" cy="80021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1. Architecture Style &amp; Design Principles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Adopt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Microservices Architecture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aligned to business capabilities (Ideation, Campaign, WBS, Closure, etc.)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0884C-93A2-3E24-5809-3CC85902F740}"/>
              </a:ext>
            </a:extLst>
          </p:cNvPr>
          <p:cNvSpPr txBox="1"/>
          <p:nvPr/>
        </p:nvSpPr>
        <p:spPr>
          <a:xfrm>
            <a:off x="282046" y="5567560"/>
            <a:ext cx="5760000" cy="80021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2. Scalability &amp;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Support horizontal scaling via Kubernetes for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stateless services, Caching, CQRS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8BF51-BCBC-E4B0-28F3-629FF69C3E50}"/>
              </a:ext>
            </a:extLst>
          </p:cNvPr>
          <p:cNvSpPr txBox="1"/>
          <p:nvPr/>
        </p:nvSpPr>
        <p:spPr>
          <a:xfrm>
            <a:off x="6232289" y="4533755"/>
            <a:ext cx="5760000" cy="80021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3. High Availability &amp; Resilience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Ensure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no single point of failure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with resilience pattern Circuit Breaker, Retry with backoff, Timeout handling ,Bulkhead isolation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50F5E-38D6-6A4E-F09A-AF3B35D1E971}"/>
              </a:ext>
            </a:extLst>
          </p:cNvPr>
          <p:cNvSpPr txBox="1"/>
          <p:nvPr/>
        </p:nvSpPr>
        <p:spPr>
          <a:xfrm>
            <a:off x="6232289" y="2290227"/>
            <a:ext cx="5760000" cy="113877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4. Security &amp; Compliance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Implement Zero Trust Security Model, Use OAuth2 / JWT-based authentication (Azure AD integration), Ensure data encryption:</a:t>
            </a:r>
          </a:p>
          <a:p>
            <a:pPr marL="6286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 transit (TLS), At rest (AES-256)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Support secure webhook validation for JIRA data consumptions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8DF3D-E33E-CBF0-C45F-8864252D8115}"/>
              </a:ext>
            </a:extLst>
          </p:cNvPr>
          <p:cNvSpPr txBox="1"/>
          <p:nvPr/>
        </p:nvSpPr>
        <p:spPr>
          <a:xfrm>
            <a:off x="282046" y="1895967"/>
            <a:ext cx="5760000" cy="96949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5. Integration Architecture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Follow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API + Event + Batch hybrid integration model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Integration Adapter Layer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(anti-corruption layer) for external systems (JIRA, SAP, etc.)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C8A4D-2745-BB81-F9B6-B99374DC17C6}"/>
              </a:ext>
            </a:extLst>
          </p:cNvPr>
          <p:cNvSpPr txBox="1"/>
          <p:nvPr/>
        </p:nvSpPr>
        <p:spPr>
          <a:xfrm>
            <a:off x="6232289" y="3751641"/>
            <a:ext cx="5760000" cy="61555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6.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Data &amp; Storage Strategy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Separation of  System of Record (RDBMS) ,Operational / Read DB ,Archive / Cold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11A543-A96A-ED13-5AA6-8161E2E58B00}"/>
              </a:ext>
            </a:extLst>
          </p:cNvPr>
          <p:cNvSpPr txBox="1"/>
          <p:nvPr/>
        </p:nvSpPr>
        <p:spPr>
          <a:xfrm>
            <a:off x="282046" y="4835635"/>
            <a:ext cx="5760000" cy="61555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7. Workflow, Rules &amp; Orchestration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Workflow Engine / Orchestrator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for long-running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Rule Engine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for configurable business rules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5F462-08DF-22C3-AB72-37422E938E44}"/>
              </a:ext>
            </a:extLst>
          </p:cNvPr>
          <p:cNvSpPr txBox="1"/>
          <p:nvPr/>
        </p:nvSpPr>
        <p:spPr>
          <a:xfrm>
            <a:off x="6232289" y="5607669"/>
            <a:ext cx="5760000" cy="720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8. Observability &amp;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Implement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application logs, infra metrics, business </a:t>
            </a:r>
            <a:r>
              <a:rPr kumimoji="0" lang="en-IN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metrics,Alerting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Integrate with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Incident Management tools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ABDAA-36A0-37F5-C310-AB1C8CA633FC}"/>
              </a:ext>
            </a:extLst>
          </p:cNvPr>
          <p:cNvSpPr txBox="1"/>
          <p:nvPr/>
        </p:nvSpPr>
        <p:spPr>
          <a:xfrm>
            <a:off x="282046" y="2919263"/>
            <a:ext cx="5760000" cy="1800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9. AI / GenAI &amp; Agentic Capabilities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Introduce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Orchestrator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layer for AI-driven workflows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 GenAI (MSIL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standerdized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LLMs) for: Summarization ,Insights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generatio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, Natural language querying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Implement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Agents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for Automated analysis 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. Project risks, Delays), Decision support, Recommendations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 vector database (MSIL standardized) for semantic search (optional)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Ensure guardrails, prompt security, and auditability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FDCA4-525F-9981-2ACB-650E026B3066}"/>
              </a:ext>
            </a:extLst>
          </p:cNvPr>
          <p:cNvSpPr txBox="1"/>
          <p:nvPr/>
        </p:nvSpPr>
        <p:spPr>
          <a:xfrm>
            <a:off x="6232289" y="971937"/>
            <a:ext cx="5760000" cy="1080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10. Experience Layer Considerations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Provide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role-based dashboards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(Controller, PMO, Admin, etc.)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Support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search, filters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3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8F9BDB2-BBAE-200B-0D84-1EE170A9D96E}"/>
              </a:ext>
            </a:extLst>
          </p:cNvPr>
          <p:cNvSpPr txBox="1"/>
          <p:nvPr/>
        </p:nvSpPr>
        <p:spPr>
          <a:xfrm>
            <a:off x="2003543" y="2854047"/>
            <a:ext cx="7148555" cy="39088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76197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rgbClr val="051243"/>
                </a:solidFill>
                <a:latin typeface="Arial" panose="020B060402020202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MZ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C3E27E-655C-7AF9-ED02-8CE473FDD1C9}"/>
              </a:ext>
            </a:extLst>
          </p:cNvPr>
          <p:cNvSpPr/>
          <p:nvPr/>
        </p:nvSpPr>
        <p:spPr>
          <a:xfrm>
            <a:off x="8134736" y="3443088"/>
            <a:ext cx="932586" cy="1918748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1178B4-8A1C-8C30-C4B5-898C2574B243}"/>
              </a:ext>
            </a:extLst>
          </p:cNvPr>
          <p:cNvSpPr/>
          <p:nvPr/>
        </p:nvSpPr>
        <p:spPr>
          <a:xfrm>
            <a:off x="8205583" y="4226714"/>
            <a:ext cx="812652" cy="562777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12EE656-0881-632C-304E-082ACD532DDC}"/>
              </a:ext>
            </a:extLst>
          </p:cNvPr>
          <p:cNvSpPr/>
          <p:nvPr/>
        </p:nvSpPr>
        <p:spPr>
          <a:xfrm>
            <a:off x="8205583" y="3551753"/>
            <a:ext cx="812652" cy="430943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4E2EF-CA7E-A5D0-FED7-8538602B7E48}"/>
              </a:ext>
            </a:extLst>
          </p:cNvPr>
          <p:cNvSpPr/>
          <p:nvPr/>
        </p:nvSpPr>
        <p:spPr>
          <a:xfrm>
            <a:off x="459887" y="1129098"/>
            <a:ext cx="10169630" cy="5633816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D8DA67C-EC68-8F5A-D48F-940DFED37716}"/>
              </a:ext>
            </a:extLst>
          </p:cNvPr>
          <p:cNvSpPr/>
          <p:nvPr/>
        </p:nvSpPr>
        <p:spPr>
          <a:xfrm>
            <a:off x="3577034" y="1450877"/>
            <a:ext cx="1885334" cy="183694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EPMP Mobile App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DE3EA00-1C0C-6F8C-D180-C2D4ED1426F4}"/>
              </a:ext>
            </a:extLst>
          </p:cNvPr>
          <p:cNvSpPr/>
          <p:nvPr/>
        </p:nvSpPr>
        <p:spPr>
          <a:xfrm>
            <a:off x="5654795" y="1464096"/>
            <a:ext cx="1787505" cy="22694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EPMP Web Portal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3F3822-A17F-07AC-E2D2-4C2C43CEC4A1}"/>
              </a:ext>
            </a:extLst>
          </p:cNvPr>
          <p:cNvSpPr txBox="1"/>
          <p:nvPr/>
        </p:nvSpPr>
        <p:spPr>
          <a:xfrm>
            <a:off x="1984061" y="1684966"/>
            <a:ext cx="7148555" cy="1084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76197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rgbClr val="051243"/>
                </a:solidFill>
                <a:latin typeface="Arial" panose="020B060402020202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DMZ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033" name="Rounded Rectangle 1032">
            <a:extLst>
              <a:ext uri="{FF2B5EF4-FFF2-40B4-BE49-F238E27FC236}">
                <a16:creationId xmlns:a16="http://schemas.microsoft.com/office/drawing/2014/main" id="{D690F272-AA73-AF97-4EE9-96A62E6502E9}"/>
              </a:ext>
            </a:extLst>
          </p:cNvPr>
          <p:cNvSpPr/>
          <p:nvPr/>
        </p:nvSpPr>
        <p:spPr>
          <a:xfrm>
            <a:off x="3180799" y="3583786"/>
            <a:ext cx="787888" cy="547431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87BAD3-D0AB-C44D-8FD4-C586689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8460" y="6492875"/>
            <a:ext cx="516172" cy="365125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53DEA9-8E1D-4F84-86D3-D29702EC14FC}" type="slidenum">
              <a:rPr kumimoji="0" lang="en-IN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2DB9F73-A112-C3B3-CCD9-10DA5F62BEF1}"/>
              </a:ext>
            </a:extLst>
          </p:cNvPr>
          <p:cNvSpPr/>
          <p:nvPr/>
        </p:nvSpPr>
        <p:spPr>
          <a:xfrm>
            <a:off x="6581004" y="3443288"/>
            <a:ext cx="1416410" cy="1949141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96912B-B435-0399-29BD-DDBAE5BC029C}"/>
              </a:ext>
            </a:extLst>
          </p:cNvPr>
          <p:cNvSpPr/>
          <p:nvPr/>
        </p:nvSpPr>
        <p:spPr>
          <a:xfrm>
            <a:off x="3218229" y="5691975"/>
            <a:ext cx="1669845" cy="7652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2ABE63-A5DE-C2C4-32EA-DDC99A35775D}"/>
              </a:ext>
            </a:extLst>
          </p:cNvPr>
          <p:cNvSpPr/>
          <p:nvPr/>
        </p:nvSpPr>
        <p:spPr>
          <a:xfrm>
            <a:off x="4463729" y="3436458"/>
            <a:ext cx="1978249" cy="1963123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F3839D-F1B4-8F74-5AF5-93F9CBA0FE58}"/>
              </a:ext>
            </a:extLst>
          </p:cNvPr>
          <p:cNvSpPr/>
          <p:nvPr/>
        </p:nvSpPr>
        <p:spPr>
          <a:xfrm>
            <a:off x="3222819" y="2427223"/>
            <a:ext cx="4967487" cy="300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API Gateway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417EB3-0341-A2E5-DE62-BB28D6A483E6}"/>
              </a:ext>
            </a:extLst>
          </p:cNvPr>
          <p:cNvSpPr/>
          <p:nvPr/>
        </p:nvSpPr>
        <p:spPr>
          <a:xfrm>
            <a:off x="4855598" y="3606727"/>
            <a:ext cx="1276279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Biz Microservices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67DEEC-8064-01C8-E81A-9942E9CD08A1}"/>
              </a:ext>
            </a:extLst>
          </p:cNvPr>
          <p:cNvSpPr txBox="1"/>
          <p:nvPr/>
        </p:nvSpPr>
        <p:spPr>
          <a:xfrm>
            <a:off x="815034" y="1768137"/>
            <a:ext cx="1046152" cy="184757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>
              <a:defRPr kern="0">
                <a:solidFill>
                  <a:prstClr val="black"/>
                </a:solidFill>
                <a:latin typeface="Aptos" panose="02110004020202020204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External Systems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12F45B-2066-1701-DCD1-8BD6640C8C07}"/>
              </a:ext>
            </a:extLst>
          </p:cNvPr>
          <p:cNvCxnSpPr>
            <a:cxnSpLocks/>
            <a:stCxn id="46" idx="0"/>
          </p:cNvCxnSpPr>
          <p:nvPr/>
        </p:nvCxnSpPr>
        <p:spPr>
          <a:xfrm flipH="1">
            <a:off x="4507979" y="1450877"/>
            <a:ext cx="11722" cy="31625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7BE5A8-1751-FADA-D03B-00D03B25A0B7}"/>
              </a:ext>
            </a:extLst>
          </p:cNvPr>
          <p:cNvCxnSpPr>
            <a:cxnSpLocks/>
          </p:cNvCxnSpPr>
          <p:nvPr/>
        </p:nvCxnSpPr>
        <p:spPr>
          <a:xfrm>
            <a:off x="6559074" y="1404523"/>
            <a:ext cx="0" cy="34608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A0A7CE2-7CED-6917-0E4C-EAB42403D8EE}"/>
              </a:ext>
            </a:extLst>
          </p:cNvPr>
          <p:cNvSpPr/>
          <p:nvPr/>
        </p:nvSpPr>
        <p:spPr>
          <a:xfrm>
            <a:off x="9335274" y="2312889"/>
            <a:ext cx="1046152" cy="5108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Authorization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Server- MSIL Azure 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4E7706-6711-EBCE-52D6-4243A1624B2C}"/>
              </a:ext>
            </a:extLst>
          </p:cNvPr>
          <p:cNvSpPr txBox="1"/>
          <p:nvPr/>
        </p:nvSpPr>
        <p:spPr>
          <a:xfrm>
            <a:off x="8568191" y="2433468"/>
            <a:ext cx="843964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Authentication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87F0AFE-A550-2E42-B7A9-61ACA19FD221}"/>
              </a:ext>
            </a:extLst>
          </p:cNvPr>
          <p:cNvCxnSpPr>
            <a:cxnSpLocks/>
            <a:stCxn id="13" idx="3"/>
            <a:endCxn id="40" idx="1"/>
          </p:cNvCxnSpPr>
          <p:nvPr/>
        </p:nvCxnSpPr>
        <p:spPr>
          <a:xfrm flipV="1">
            <a:off x="8190306" y="2568331"/>
            <a:ext cx="1144968" cy="897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DC62808-2954-2269-E530-95FD365EBA1B}"/>
              </a:ext>
            </a:extLst>
          </p:cNvPr>
          <p:cNvSpPr/>
          <p:nvPr/>
        </p:nvSpPr>
        <p:spPr>
          <a:xfrm>
            <a:off x="3218229" y="1768137"/>
            <a:ext cx="4976668" cy="16516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CONTENT DELIVERY NETWORK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80AB38-5259-0486-6DD4-4205DDDFCA8C}"/>
              </a:ext>
            </a:extLst>
          </p:cNvPr>
          <p:cNvSpPr txBox="1"/>
          <p:nvPr/>
        </p:nvSpPr>
        <p:spPr>
          <a:xfrm>
            <a:off x="2134444" y="1180018"/>
            <a:ext cx="977117" cy="337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76197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rgbClr val="051243"/>
                </a:solidFill>
                <a:latin typeface="Arial" panose="020B060402020202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User Engagement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pic>
        <p:nvPicPr>
          <p:cNvPr id="49" name="Picture 48" descr="A picture containing icon&#10;&#10;Description automatically generated">
            <a:extLst>
              <a:ext uri="{FF2B5EF4-FFF2-40B4-BE49-F238E27FC236}">
                <a16:creationId xmlns:a16="http://schemas.microsoft.com/office/drawing/2014/main" id="{C7CA4A0D-1153-E564-1E24-570097494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974" y="1189122"/>
            <a:ext cx="183977" cy="196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53" name="Graphic 15">
            <a:extLst>
              <a:ext uri="{FF2B5EF4-FFF2-40B4-BE49-F238E27FC236}">
                <a16:creationId xmlns:a16="http://schemas.microsoft.com/office/drawing/2014/main" id="{F057B09C-F99F-766E-C68F-D63F549DC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452" y="1213275"/>
            <a:ext cx="235054" cy="23505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3BED42-766A-930C-C6F3-332C37E13572}"/>
              </a:ext>
            </a:extLst>
          </p:cNvPr>
          <p:cNvCxnSpPr>
            <a:cxnSpLocks/>
          </p:cNvCxnSpPr>
          <p:nvPr/>
        </p:nvCxnSpPr>
        <p:spPr>
          <a:xfrm>
            <a:off x="4531213" y="2331184"/>
            <a:ext cx="0" cy="1519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4FCC26C-A257-6C79-8E2E-CAEC361A6C76}"/>
              </a:ext>
            </a:extLst>
          </p:cNvPr>
          <p:cNvSpPr/>
          <p:nvPr/>
        </p:nvSpPr>
        <p:spPr>
          <a:xfrm>
            <a:off x="5972115" y="5685546"/>
            <a:ext cx="950289" cy="76644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Event Messaging Platform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D99408B-B09B-0450-20B0-5E589CFCDF17}"/>
              </a:ext>
            </a:extLst>
          </p:cNvPr>
          <p:cNvCxnSpPr>
            <a:cxnSpLocks/>
          </p:cNvCxnSpPr>
          <p:nvPr/>
        </p:nvCxnSpPr>
        <p:spPr>
          <a:xfrm>
            <a:off x="6213509" y="5416144"/>
            <a:ext cx="0" cy="27583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1B137C7-E23F-57D3-53A0-24723F048C54}"/>
              </a:ext>
            </a:extLst>
          </p:cNvPr>
          <p:cNvCxnSpPr>
            <a:cxnSpLocks/>
            <a:stCxn id="87" idx="1"/>
            <a:endCxn id="5" idx="3"/>
          </p:cNvCxnSpPr>
          <p:nvPr/>
        </p:nvCxnSpPr>
        <p:spPr>
          <a:xfrm flipH="1">
            <a:off x="6441978" y="4417859"/>
            <a:ext cx="139026" cy="16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23EFDC8-D917-5A9A-EAEB-1E2713EEF41D}"/>
              </a:ext>
            </a:extLst>
          </p:cNvPr>
          <p:cNvSpPr/>
          <p:nvPr/>
        </p:nvSpPr>
        <p:spPr>
          <a:xfrm>
            <a:off x="5577821" y="2923068"/>
            <a:ext cx="2601401" cy="289070"/>
          </a:xfrm>
          <a:prstGeom prst="roundRect">
            <a:avLst>
              <a:gd name="adj" fmla="val 9413"/>
            </a:avLst>
          </a:prstGeom>
          <a:solidFill>
            <a:srgbClr val="DDF3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BAF07D4D-015E-5463-EE2F-32666C03A8CC}"/>
              </a:ext>
            </a:extLst>
          </p:cNvPr>
          <p:cNvSpPr/>
          <p:nvPr/>
        </p:nvSpPr>
        <p:spPr>
          <a:xfrm>
            <a:off x="3165994" y="4204340"/>
            <a:ext cx="825066" cy="575771"/>
          </a:xfrm>
          <a:prstGeom prst="roundRect">
            <a:avLst>
              <a:gd name="adj" fmla="val 9413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F3D7703-F2A8-8AB9-CF4C-E5EC26AD9C51}"/>
              </a:ext>
            </a:extLst>
          </p:cNvPr>
          <p:cNvSpPr/>
          <p:nvPr/>
        </p:nvSpPr>
        <p:spPr>
          <a:xfrm>
            <a:off x="3185382" y="4265759"/>
            <a:ext cx="78330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Rule Engine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D42C42-4C20-04E7-933E-403C435B225F}"/>
              </a:ext>
            </a:extLst>
          </p:cNvPr>
          <p:cNvSpPr/>
          <p:nvPr/>
        </p:nvSpPr>
        <p:spPr>
          <a:xfrm>
            <a:off x="3180799" y="2907319"/>
            <a:ext cx="811785" cy="298682"/>
          </a:xfrm>
          <a:prstGeom prst="roundRect">
            <a:avLst>
              <a:gd name="adj" fmla="val 9413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ABF54DC-62FE-6256-1306-CA4756E62A4F}"/>
              </a:ext>
            </a:extLst>
          </p:cNvPr>
          <p:cNvSpPr/>
          <p:nvPr/>
        </p:nvSpPr>
        <p:spPr>
          <a:xfrm>
            <a:off x="3232980" y="2906213"/>
            <a:ext cx="596490" cy="1384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Caching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D4E041E-9705-FAF1-0B2E-CAFAA441785C}"/>
              </a:ext>
            </a:extLst>
          </p:cNvPr>
          <p:cNvSpPr/>
          <p:nvPr/>
        </p:nvSpPr>
        <p:spPr>
          <a:xfrm>
            <a:off x="1002658" y="2510860"/>
            <a:ext cx="720000" cy="1800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JIRA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1944EBF-8003-4EC8-4A4B-07D8FAD055EA}"/>
              </a:ext>
            </a:extLst>
          </p:cNvPr>
          <p:cNvSpPr/>
          <p:nvPr/>
        </p:nvSpPr>
        <p:spPr>
          <a:xfrm>
            <a:off x="1002658" y="2165073"/>
            <a:ext cx="720000" cy="1800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Jenkins</a:t>
            </a:r>
          </a:p>
        </p:txBody>
      </p:sp>
      <p:sp>
        <p:nvSpPr>
          <p:cNvPr id="142" name="Hexagon 141">
            <a:extLst>
              <a:ext uri="{FF2B5EF4-FFF2-40B4-BE49-F238E27FC236}">
                <a16:creationId xmlns:a16="http://schemas.microsoft.com/office/drawing/2014/main" id="{C1C7F9A0-F9CB-6549-A245-D77568F95689}"/>
              </a:ext>
            </a:extLst>
          </p:cNvPr>
          <p:cNvSpPr/>
          <p:nvPr/>
        </p:nvSpPr>
        <p:spPr>
          <a:xfrm>
            <a:off x="4603836" y="3918755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4E4C4C60-4855-6EC0-E033-12574E05A6D9}"/>
              </a:ext>
            </a:extLst>
          </p:cNvPr>
          <p:cNvSpPr/>
          <p:nvPr/>
        </p:nvSpPr>
        <p:spPr>
          <a:xfrm>
            <a:off x="7289209" y="5667552"/>
            <a:ext cx="728471" cy="801963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GenAI Platform</a:t>
            </a:r>
          </a:p>
        </p:txBody>
      </p: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FB572C91-7908-956B-B7FC-459D5085995B}"/>
              </a:ext>
            </a:extLst>
          </p:cNvPr>
          <p:cNvCxnSpPr>
            <a:cxnSpLocks/>
            <a:stCxn id="3" idx="2"/>
            <a:endCxn id="150" idx="2"/>
          </p:cNvCxnSpPr>
          <p:nvPr/>
        </p:nvCxnSpPr>
        <p:spPr>
          <a:xfrm rot="16200000" flipH="1">
            <a:off x="5847152" y="4663221"/>
            <a:ext cx="12293" cy="3600293"/>
          </a:xfrm>
          <a:prstGeom prst="bentConnector3">
            <a:avLst>
              <a:gd name="adj1" fmla="val 1959595"/>
            </a:avLst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Hexagon 154">
            <a:extLst>
              <a:ext uri="{FF2B5EF4-FFF2-40B4-BE49-F238E27FC236}">
                <a16:creationId xmlns:a16="http://schemas.microsoft.com/office/drawing/2014/main" id="{9F504D0F-0B08-6B0B-D84B-8A9829E8AA41}"/>
              </a:ext>
            </a:extLst>
          </p:cNvPr>
          <p:cNvSpPr/>
          <p:nvPr/>
        </p:nvSpPr>
        <p:spPr>
          <a:xfrm>
            <a:off x="5766053" y="2985830"/>
            <a:ext cx="193008" cy="177522"/>
          </a:xfrm>
          <a:prstGeom prst="hexagon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C7FCD9AC-393F-6D37-3287-C8E2EA3F02B4}"/>
              </a:ext>
            </a:extLst>
          </p:cNvPr>
          <p:cNvCxnSpPr>
            <a:cxnSpLocks/>
            <a:stCxn id="87" idx="2"/>
            <a:endCxn id="150" idx="1"/>
          </p:cNvCxnSpPr>
          <p:nvPr/>
        </p:nvCxnSpPr>
        <p:spPr>
          <a:xfrm rot="5400000">
            <a:off x="6951157" y="5730481"/>
            <a:ext cx="676105" cy="12700"/>
          </a:xfrm>
          <a:prstGeom prst="bentConnector4">
            <a:avLst>
              <a:gd name="adj1" fmla="val 20346"/>
              <a:gd name="adj2" fmla="val 150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FE5D9172-1EF2-A399-6B58-A3BF1E52A510}"/>
              </a:ext>
            </a:extLst>
          </p:cNvPr>
          <p:cNvSpPr txBox="1"/>
          <p:nvPr/>
        </p:nvSpPr>
        <p:spPr>
          <a:xfrm>
            <a:off x="5755394" y="5207582"/>
            <a:ext cx="562646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defTabSz="76194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rgbClr val="051243"/>
                </a:solidFill>
                <a:latin typeface="IBM Plex Sans" panose="020B0503050203000203" pitchFamily="34" charset="0"/>
              </a:defRPr>
            </a:lvl1pPr>
          </a:lstStyle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Log Agent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E66B84B-491A-A873-4F0B-41D8F26A1DFE}"/>
              </a:ext>
            </a:extLst>
          </p:cNvPr>
          <p:cNvSpPr/>
          <p:nvPr/>
        </p:nvSpPr>
        <p:spPr>
          <a:xfrm>
            <a:off x="1002658" y="2824677"/>
            <a:ext cx="720000" cy="1800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Zendesk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65CA70-5E4E-F5E3-BD4B-62E6E0D9384A}"/>
              </a:ext>
            </a:extLst>
          </p:cNvPr>
          <p:cNvSpPr/>
          <p:nvPr/>
        </p:nvSpPr>
        <p:spPr>
          <a:xfrm>
            <a:off x="6639923" y="3575481"/>
            <a:ext cx="1233277" cy="153233"/>
          </a:xfrm>
          <a:prstGeom prst="round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Journey Orchestrator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DE1E1C-EC97-0B3F-559D-5309D1F5ECEE}"/>
              </a:ext>
            </a:extLst>
          </p:cNvPr>
          <p:cNvSpPr txBox="1"/>
          <p:nvPr/>
        </p:nvSpPr>
        <p:spPr>
          <a:xfrm>
            <a:off x="9035840" y="6057099"/>
            <a:ext cx="17047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Monitor Endpoint security, Remote access, Vulnerability patch &amp; Health check scans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EA8C0B-3A02-42C6-52B5-40F780ED7242}"/>
              </a:ext>
            </a:extLst>
          </p:cNvPr>
          <p:cNvSpPr txBox="1"/>
          <p:nvPr/>
        </p:nvSpPr>
        <p:spPr>
          <a:xfrm>
            <a:off x="10162608" y="2762342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01F67F6-8471-82C7-2C9E-D450B6749CD9}"/>
              </a:ext>
            </a:extLst>
          </p:cNvPr>
          <p:cNvSpPr/>
          <p:nvPr/>
        </p:nvSpPr>
        <p:spPr>
          <a:xfrm>
            <a:off x="10743577" y="4126889"/>
            <a:ext cx="977113" cy="406919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Monitoring &amp; Automation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8BA7EEA-FC7D-79C6-8A8F-2085F7BD7537}"/>
              </a:ext>
            </a:extLst>
          </p:cNvPr>
          <p:cNvSpPr/>
          <p:nvPr/>
        </p:nvSpPr>
        <p:spPr>
          <a:xfrm>
            <a:off x="10743582" y="4768377"/>
            <a:ext cx="977102" cy="406919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DevOps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CB2F188-ECD0-506F-7A04-2C8E6E3FCB74}"/>
              </a:ext>
            </a:extLst>
          </p:cNvPr>
          <p:cNvSpPr/>
          <p:nvPr/>
        </p:nvSpPr>
        <p:spPr>
          <a:xfrm>
            <a:off x="10743582" y="5409865"/>
            <a:ext cx="977102" cy="406919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AF93CBA-FFEF-EB62-930B-C53D76B69FCD}"/>
              </a:ext>
            </a:extLst>
          </p:cNvPr>
          <p:cNvSpPr/>
          <p:nvPr/>
        </p:nvSpPr>
        <p:spPr>
          <a:xfrm>
            <a:off x="10736691" y="6051352"/>
            <a:ext cx="990885" cy="406919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Security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2437D9-F8F0-2713-0CD5-2C32714A554D}"/>
              </a:ext>
            </a:extLst>
          </p:cNvPr>
          <p:cNvSpPr txBox="1"/>
          <p:nvPr/>
        </p:nvSpPr>
        <p:spPr>
          <a:xfrm>
            <a:off x="9470371" y="3984066"/>
            <a:ext cx="1159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Collect app logs &amp; Server Metrics.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0CD473-F5A2-9A19-348C-B7B11ADC2FB2}"/>
              </a:ext>
            </a:extLst>
          </p:cNvPr>
          <p:cNvSpPr txBox="1"/>
          <p:nvPr/>
        </p:nvSpPr>
        <p:spPr>
          <a:xfrm>
            <a:off x="9444694" y="4858741"/>
            <a:ext cx="9367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Deploy Application Package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73A4AE-6ED1-ADF6-1C1E-B512812C32B0}"/>
              </a:ext>
            </a:extLst>
          </p:cNvPr>
          <p:cNvSpPr txBox="1"/>
          <p:nvPr/>
        </p:nvSpPr>
        <p:spPr>
          <a:xfrm>
            <a:off x="9412155" y="5514664"/>
            <a:ext cx="9445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Backup File system and DB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E457D6-6004-C1C4-61AE-AC7516E0B313}"/>
              </a:ext>
            </a:extLst>
          </p:cNvPr>
          <p:cNvSpPr txBox="1"/>
          <p:nvPr/>
        </p:nvSpPr>
        <p:spPr>
          <a:xfrm>
            <a:off x="10704932" y="2914677"/>
            <a:ext cx="1027181" cy="543567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sz="900" kern="0">
                <a:solidFill>
                  <a:prstClr val="black"/>
                </a:solidFill>
                <a:latin typeface="IBM Plex Sans" panose="020B05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Incident Management tool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0E3A56-7E98-9CC8-143E-714646D19542}"/>
              </a:ext>
            </a:extLst>
          </p:cNvPr>
          <p:cNvSpPr txBox="1"/>
          <p:nvPr/>
        </p:nvSpPr>
        <p:spPr>
          <a:xfrm>
            <a:off x="10629517" y="3589824"/>
            <a:ext cx="69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Raise Incidents</a:t>
            </a:r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4AD1E5F-3CBD-7F4A-EFC8-12762EC86F61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9171486" y="4330349"/>
            <a:ext cx="1572091" cy="78312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84F52FC-D754-C87A-6FBB-F4DD73386419}"/>
              </a:ext>
            </a:extLst>
          </p:cNvPr>
          <p:cNvSpPr/>
          <p:nvPr/>
        </p:nvSpPr>
        <p:spPr>
          <a:xfrm>
            <a:off x="1002658" y="3220194"/>
            <a:ext cx="720000" cy="1800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SAP Success factor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6CC4A54-F4FB-53AC-DE1E-38CFF1E6BBED}"/>
              </a:ext>
            </a:extLst>
          </p:cNvPr>
          <p:cNvCxnSpPr>
            <a:cxnSpLocks/>
          </p:cNvCxnSpPr>
          <p:nvPr/>
        </p:nvCxnSpPr>
        <p:spPr>
          <a:xfrm flipV="1">
            <a:off x="9058644" y="5143176"/>
            <a:ext cx="1634858" cy="36021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dashDot"/>
            <a:miter lim="800000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072B32-F047-198F-1891-2C9F05A45DCB}"/>
              </a:ext>
            </a:extLst>
          </p:cNvPr>
          <p:cNvCxnSpPr>
            <a:cxnSpLocks/>
          </p:cNvCxnSpPr>
          <p:nvPr/>
        </p:nvCxnSpPr>
        <p:spPr>
          <a:xfrm flipV="1">
            <a:off x="9058644" y="5691976"/>
            <a:ext cx="1681980" cy="29656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dashDot"/>
            <a:miter lim="800000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FC28E4E-D593-ECFC-AD0A-7612C0CC1250}"/>
              </a:ext>
            </a:extLst>
          </p:cNvPr>
          <p:cNvCxnSpPr>
            <a:cxnSpLocks/>
          </p:cNvCxnSpPr>
          <p:nvPr/>
        </p:nvCxnSpPr>
        <p:spPr>
          <a:xfrm>
            <a:off x="8979900" y="6254811"/>
            <a:ext cx="1773808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dashDot"/>
            <a:miter lim="800000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FF03226-DFA5-09A6-A678-23AB8807F18B}"/>
              </a:ext>
            </a:extLst>
          </p:cNvPr>
          <p:cNvSpPr/>
          <p:nvPr/>
        </p:nvSpPr>
        <p:spPr>
          <a:xfrm>
            <a:off x="6718380" y="4003837"/>
            <a:ext cx="1254686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Campaign Create Workflow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AB259B-AC74-6F52-4774-21E39889105F}"/>
              </a:ext>
            </a:extLst>
          </p:cNvPr>
          <p:cNvSpPr/>
          <p:nvPr/>
        </p:nvSpPr>
        <p:spPr>
          <a:xfrm>
            <a:off x="6727001" y="4261565"/>
            <a:ext cx="1246065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Ideation Create Workflow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EBF314-43DF-5297-30E2-5C45FEF653DF}"/>
              </a:ext>
            </a:extLst>
          </p:cNvPr>
          <p:cNvSpPr/>
          <p:nvPr/>
        </p:nvSpPr>
        <p:spPr>
          <a:xfrm>
            <a:off x="6735213" y="4131240"/>
            <a:ext cx="1137987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WBS Creation Workflow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009A05-9E5E-26B2-36A0-240FD70BB5FC}"/>
              </a:ext>
            </a:extLst>
          </p:cNvPr>
          <p:cNvSpPr/>
          <p:nvPr/>
        </p:nvSpPr>
        <p:spPr>
          <a:xfrm>
            <a:off x="6728374" y="4396910"/>
            <a:ext cx="95840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Closure Workflow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A48EE67-8E59-8A60-9329-108AE707F97D}"/>
              </a:ext>
            </a:extLst>
          </p:cNvPr>
          <p:cNvSpPr/>
          <p:nvPr/>
        </p:nvSpPr>
        <p:spPr>
          <a:xfrm>
            <a:off x="5747817" y="3911711"/>
            <a:ext cx="5405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Campaign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ACF49A-2FAE-A357-C5B0-DB0B2A674D84}"/>
              </a:ext>
            </a:extLst>
          </p:cNvPr>
          <p:cNvSpPr/>
          <p:nvPr/>
        </p:nvSpPr>
        <p:spPr>
          <a:xfrm>
            <a:off x="4756578" y="3926635"/>
            <a:ext cx="5405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Ideation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7263F7-3284-2FE1-D62F-0B51D661ADF6}"/>
              </a:ext>
            </a:extLst>
          </p:cNvPr>
          <p:cNvSpPr/>
          <p:nvPr/>
        </p:nvSpPr>
        <p:spPr>
          <a:xfrm>
            <a:off x="4756578" y="4789491"/>
            <a:ext cx="288952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…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A0E5F70-1A3C-F7AB-2995-9FAA3D712FD9}"/>
              </a:ext>
            </a:extLst>
          </p:cNvPr>
          <p:cNvSpPr/>
          <p:nvPr/>
        </p:nvSpPr>
        <p:spPr>
          <a:xfrm>
            <a:off x="6002592" y="2997319"/>
            <a:ext cx="646359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Web  BFF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5ACA30-332F-D3AD-B1F0-4D291627EA1F}"/>
              </a:ext>
            </a:extLst>
          </p:cNvPr>
          <p:cNvSpPr/>
          <p:nvPr/>
        </p:nvSpPr>
        <p:spPr>
          <a:xfrm>
            <a:off x="6878521" y="2992072"/>
            <a:ext cx="646359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Mobile BFF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1A226CD-00C3-1BB5-4B0B-8873394F1FC1}"/>
              </a:ext>
            </a:extLst>
          </p:cNvPr>
          <p:cNvSpPr txBox="1"/>
          <p:nvPr/>
        </p:nvSpPr>
        <p:spPr>
          <a:xfrm>
            <a:off x="8679199" y="2690860"/>
            <a:ext cx="310974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JWT</a:t>
            </a:r>
          </a:p>
        </p:txBody>
      </p:sp>
      <p:sp>
        <p:nvSpPr>
          <p:cNvPr id="101" name="Doughnut 100">
            <a:extLst>
              <a:ext uri="{FF2B5EF4-FFF2-40B4-BE49-F238E27FC236}">
                <a16:creationId xmlns:a16="http://schemas.microsoft.com/office/drawing/2014/main" id="{231734DF-856F-48FE-5422-3D9B7DB7768B}"/>
              </a:ext>
            </a:extLst>
          </p:cNvPr>
          <p:cNvSpPr/>
          <p:nvPr/>
        </p:nvSpPr>
        <p:spPr>
          <a:xfrm>
            <a:off x="6770049" y="5004945"/>
            <a:ext cx="165985" cy="144327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4B10A1F-66FC-57E5-58BF-802528CE86D0}"/>
              </a:ext>
            </a:extLst>
          </p:cNvPr>
          <p:cNvSpPr txBox="1"/>
          <p:nvPr/>
        </p:nvSpPr>
        <p:spPr>
          <a:xfrm>
            <a:off x="6630116" y="5179360"/>
            <a:ext cx="693456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defTabSz="76194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rgbClr val="051243"/>
                </a:solidFill>
                <a:latin typeface="IBM Plex Sans" panose="020B0503050203000203" pitchFamily="34" charset="0"/>
              </a:defRPr>
            </a:lvl1pPr>
          </a:lstStyle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Log Agent</a:t>
            </a:r>
          </a:p>
        </p:txBody>
      </p:sp>
      <p:sp>
        <p:nvSpPr>
          <p:cNvPr id="103" name="Doughnut 102">
            <a:extLst>
              <a:ext uri="{FF2B5EF4-FFF2-40B4-BE49-F238E27FC236}">
                <a16:creationId xmlns:a16="http://schemas.microsoft.com/office/drawing/2014/main" id="{7A282C6C-A496-6BCE-2D50-75CB879E88CC}"/>
              </a:ext>
            </a:extLst>
          </p:cNvPr>
          <p:cNvSpPr/>
          <p:nvPr/>
        </p:nvSpPr>
        <p:spPr>
          <a:xfrm>
            <a:off x="5965892" y="5040492"/>
            <a:ext cx="165985" cy="144327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3D70327-241F-D57B-8583-DD9EC5B30522}"/>
              </a:ext>
            </a:extLst>
          </p:cNvPr>
          <p:cNvSpPr/>
          <p:nvPr/>
        </p:nvSpPr>
        <p:spPr>
          <a:xfrm>
            <a:off x="5209271" y="5224011"/>
            <a:ext cx="253097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Istio</a:t>
            </a:r>
          </a:p>
        </p:txBody>
      </p:sp>
      <p:pic>
        <p:nvPicPr>
          <p:cNvPr id="126" name="Graphic 125">
            <a:extLst>
              <a:ext uri="{FF2B5EF4-FFF2-40B4-BE49-F238E27FC236}">
                <a16:creationId xmlns:a16="http://schemas.microsoft.com/office/drawing/2014/main" id="{39EBF602-9E3A-7268-AD05-440C45EC0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3913" y="2975464"/>
            <a:ext cx="303957" cy="303957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34636064-8F2F-DA37-DE13-CD91A161D1B3}"/>
              </a:ext>
            </a:extLst>
          </p:cNvPr>
          <p:cNvSpPr/>
          <p:nvPr/>
        </p:nvSpPr>
        <p:spPr>
          <a:xfrm>
            <a:off x="3505746" y="6311014"/>
            <a:ext cx="448797" cy="138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RDBMS 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B8D0859-DBEB-FAEB-FE90-8B4FA8ADE0E9}"/>
              </a:ext>
            </a:extLst>
          </p:cNvPr>
          <p:cNvSpPr/>
          <p:nvPr/>
        </p:nvSpPr>
        <p:spPr>
          <a:xfrm>
            <a:off x="4437800" y="6074598"/>
            <a:ext cx="375411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NoSQL </a:t>
            </a:r>
          </a:p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(Logs)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661174-7FE3-CA48-4266-437EA793A8F6}"/>
              </a:ext>
            </a:extLst>
          </p:cNvPr>
          <p:cNvCxnSpPr>
            <a:cxnSpLocks/>
            <a:stCxn id="110" idx="3"/>
          </p:cNvCxnSpPr>
          <p:nvPr/>
        </p:nvCxnSpPr>
        <p:spPr>
          <a:xfrm>
            <a:off x="3991060" y="4492226"/>
            <a:ext cx="44674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E7A2BBA1-AC84-238B-71D0-897DE321B6C5}"/>
              </a:ext>
            </a:extLst>
          </p:cNvPr>
          <p:cNvCxnSpPr>
            <a:cxnSpLocks/>
          </p:cNvCxnSpPr>
          <p:nvPr/>
        </p:nvCxnSpPr>
        <p:spPr>
          <a:xfrm flipH="1">
            <a:off x="8198281" y="2668760"/>
            <a:ext cx="1095621" cy="618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921F47F-BC7F-8FAB-EB5D-3B2507D3B16D}"/>
              </a:ext>
            </a:extLst>
          </p:cNvPr>
          <p:cNvSpPr/>
          <p:nvPr/>
        </p:nvSpPr>
        <p:spPr bwMode="auto">
          <a:xfrm>
            <a:off x="2707428" y="566287"/>
            <a:ext cx="5490853" cy="41288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lumMod val="50000"/>
              </a:srgbClr>
            </a:solidFill>
          </a:ln>
        </p:spPr>
        <p:txBody>
          <a:bodyPr wrap="square" lIns="69211" tIns="69211" rIns="69211" bIns="69211" rtlCol="0" anchor="t" anchorCtr="0">
            <a:noAutofit/>
          </a:bodyPr>
          <a:lstStyle/>
          <a:p>
            <a:pPr marL="0" marR="0" lvl="0" indent="0" algn="l" defTabSz="1097914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568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/>
            </a:endParaRP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289406A3-5CA2-5B75-E56B-2CCF8FE64A23}"/>
              </a:ext>
            </a:extLst>
          </p:cNvPr>
          <p:cNvSpPr/>
          <p:nvPr/>
        </p:nvSpPr>
        <p:spPr>
          <a:xfrm>
            <a:off x="2785689" y="662380"/>
            <a:ext cx="873125" cy="27721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Critical Controllers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5BCAEA60-6026-4006-86CE-5645C22C4866}"/>
              </a:ext>
            </a:extLst>
          </p:cNvPr>
          <p:cNvSpPr/>
          <p:nvPr/>
        </p:nvSpPr>
        <p:spPr>
          <a:xfrm>
            <a:off x="3725621" y="654932"/>
            <a:ext cx="1019437" cy="27721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Operational Orchestrators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613AF812-A027-1FC0-17FD-4D9C0742B0EA}"/>
              </a:ext>
            </a:extLst>
          </p:cNvPr>
          <p:cNvSpPr/>
          <p:nvPr/>
        </p:nvSpPr>
        <p:spPr>
          <a:xfrm>
            <a:off x="4878669" y="646631"/>
            <a:ext cx="1019437" cy="27721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Transactional Users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707221-6066-A9DD-1393-DAB84B724B28}"/>
              </a:ext>
            </a:extLst>
          </p:cNvPr>
          <p:cNvSpPr txBox="1"/>
          <p:nvPr/>
        </p:nvSpPr>
        <p:spPr>
          <a:xfrm>
            <a:off x="2121303" y="622695"/>
            <a:ext cx="497781" cy="337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761970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rgbClr val="051243"/>
                </a:solidFill>
                <a:latin typeface="Arial" panose="020B060402020202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Users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51243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7BC3A837-5158-ECBE-C03D-CB4323069723}"/>
              </a:ext>
            </a:extLst>
          </p:cNvPr>
          <p:cNvSpPr/>
          <p:nvPr/>
        </p:nvSpPr>
        <p:spPr>
          <a:xfrm>
            <a:off x="6047436" y="649832"/>
            <a:ext cx="1019437" cy="27721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Specialized Owners</a:t>
            </a: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4BCEB5D0-138C-F580-96D5-07054B47F22D}"/>
              </a:ext>
            </a:extLst>
          </p:cNvPr>
          <p:cNvSpPr/>
          <p:nvPr/>
        </p:nvSpPr>
        <p:spPr>
          <a:xfrm>
            <a:off x="7204378" y="644575"/>
            <a:ext cx="896246" cy="27721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External Users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D35E366-143C-9CED-BF9D-465DDFA353C1}"/>
              </a:ext>
            </a:extLst>
          </p:cNvPr>
          <p:cNvCxnSpPr>
            <a:cxnSpLocks/>
          </p:cNvCxnSpPr>
          <p:nvPr/>
        </p:nvCxnSpPr>
        <p:spPr>
          <a:xfrm>
            <a:off x="4485389" y="976132"/>
            <a:ext cx="5327" cy="237143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70526532-7352-8963-1B22-CFBD51D68045}"/>
              </a:ext>
            </a:extLst>
          </p:cNvPr>
          <p:cNvCxnSpPr>
            <a:cxnSpLocks/>
          </p:cNvCxnSpPr>
          <p:nvPr/>
        </p:nvCxnSpPr>
        <p:spPr>
          <a:xfrm>
            <a:off x="6548547" y="983848"/>
            <a:ext cx="4516" cy="205274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8" name="Graphic 187" descr="Sort outline">
            <a:extLst>
              <a:ext uri="{FF2B5EF4-FFF2-40B4-BE49-F238E27FC236}">
                <a16:creationId xmlns:a16="http://schemas.microsoft.com/office/drawing/2014/main" id="{713513EF-FDBC-C87F-5394-6AEDF4597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3471068" y="4566241"/>
            <a:ext cx="231247" cy="231247"/>
          </a:xfrm>
          <a:prstGeom prst="rect">
            <a:avLst/>
          </a:prstGeom>
        </p:spPr>
      </p:pic>
      <p:pic>
        <p:nvPicPr>
          <p:cNvPr id="1026" name="Picture 2" descr="Artificial Intelligence AI Icon in SVG, PNG formats">
            <a:extLst>
              <a:ext uri="{FF2B5EF4-FFF2-40B4-BE49-F238E27FC236}">
                <a16:creationId xmlns:a16="http://schemas.microsoft.com/office/drawing/2014/main" id="{D8D2D740-8195-AE64-F073-9607D8894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804" y="6135339"/>
            <a:ext cx="185378" cy="18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E24980F2-0A5E-599A-3BCB-BCC2FDA2F0A0}"/>
              </a:ext>
            </a:extLst>
          </p:cNvPr>
          <p:cNvCxnSpPr>
            <a:cxnSpLocks/>
            <a:stCxn id="24" idx="0"/>
            <a:endCxn id="57" idx="2"/>
          </p:cNvCxnSpPr>
          <p:nvPr/>
        </p:nvCxnSpPr>
        <p:spPr>
          <a:xfrm flipH="1" flipV="1">
            <a:off x="11218523" y="3458244"/>
            <a:ext cx="13611" cy="668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itle 1">
            <a:extLst>
              <a:ext uri="{FF2B5EF4-FFF2-40B4-BE49-F238E27FC236}">
                <a16:creationId xmlns:a16="http://schemas.microsoft.com/office/drawing/2014/main" id="{EBD73599-B34A-B49B-750B-7FB5701F0956}"/>
              </a:ext>
            </a:extLst>
          </p:cNvPr>
          <p:cNvSpPr txBox="1">
            <a:spLocks/>
          </p:cNvSpPr>
          <p:nvPr/>
        </p:nvSpPr>
        <p:spPr>
          <a:xfrm>
            <a:off x="166869" y="133631"/>
            <a:ext cx="4745100" cy="388883"/>
          </a:xfrm>
          <a:prstGeom prst="rect">
            <a:avLst/>
          </a:prstGeom>
          <a:ln w="12700">
            <a:miter lim="400000"/>
          </a:ln>
        </p:spPr>
        <p:txBody>
          <a:bodyPr vert="horz" lIns="0" tIns="0" rIns="0" bIns="0" rtlCol="0" anchor="ctr">
            <a:normAutofit/>
          </a:bodyPr>
          <a:lstStyle>
            <a:lvl1pPr defTabSz="1218956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IBM Plex Sans Light" panose="020B040305020300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IBM Plex Sans Light" panose="020B0403050203000203" pitchFamily="34" charset="0"/>
                <a:ea typeface="+mj-ea"/>
                <a:cs typeface="+mj-cs"/>
              </a:rPr>
              <a:t>EPMP Architecture</a:t>
            </a:r>
          </a:p>
        </p:txBody>
      </p:sp>
      <p:sp>
        <p:nvSpPr>
          <p:cNvPr id="1038" name="Hexagon 1037">
            <a:extLst>
              <a:ext uri="{FF2B5EF4-FFF2-40B4-BE49-F238E27FC236}">
                <a16:creationId xmlns:a16="http://schemas.microsoft.com/office/drawing/2014/main" id="{43018C32-5DF4-27CD-AE0E-9B38800383CD}"/>
              </a:ext>
            </a:extLst>
          </p:cNvPr>
          <p:cNvSpPr/>
          <p:nvPr/>
        </p:nvSpPr>
        <p:spPr>
          <a:xfrm>
            <a:off x="6615116" y="2983140"/>
            <a:ext cx="193008" cy="177522"/>
          </a:xfrm>
          <a:prstGeom prst="hexagon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EEB572FF-470D-50AA-75EE-B9F8DF8CEC2F}"/>
              </a:ext>
            </a:extLst>
          </p:cNvPr>
          <p:cNvCxnSpPr>
            <a:cxnSpLocks/>
          </p:cNvCxnSpPr>
          <p:nvPr/>
        </p:nvCxnSpPr>
        <p:spPr>
          <a:xfrm>
            <a:off x="7323572" y="3212138"/>
            <a:ext cx="0" cy="1758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pic>
        <p:nvPicPr>
          <p:cNvPr id="1045" name="Graphic 1044">
            <a:extLst>
              <a:ext uri="{FF2B5EF4-FFF2-40B4-BE49-F238E27FC236}">
                <a16:creationId xmlns:a16="http://schemas.microsoft.com/office/drawing/2014/main" id="{C9FF2FF9-40B6-E1C2-B985-79DDD76E7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4469" y="5742584"/>
            <a:ext cx="257489" cy="257489"/>
          </a:xfrm>
          <a:prstGeom prst="rect">
            <a:avLst/>
          </a:prstGeom>
        </p:spPr>
      </p:pic>
      <p:pic>
        <p:nvPicPr>
          <p:cNvPr id="1046" name="Graphic 1045">
            <a:extLst>
              <a:ext uri="{FF2B5EF4-FFF2-40B4-BE49-F238E27FC236}">
                <a16:creationId xmlns:a16="http://schemas.microsoft.com/office/drawing/2014/main" id="{E363BA5C-1F15-2051-8F10-782EA3507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6661" y="5745520"/>
            <a:ext cx="267857" cy="267857"/>
          </a:xfrm>
          <a:prstGeom prst="rect">
            <a:avLst/>
          </a:prstGeom>
        </p:spPr>
      </p:pic>
      <p:pic>
        <p:nvPicPr>
          <p:cNvPr id="1048" name="Graphic 1047">
            <a:extLst>
              <a:ext uri="{FF2B5EF4-FFF2-40B4-BE49-F238E27FC236}">
                <a16:creationId xmlns:a16="http://schemas.microsoft.com/office/drawing/2014/main" id="{6479FC1B-0378-5BA9-49CB-52C82136F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68937" y="5740098"/>
            <a:ext cx="313136" cy="313136"/>
          </a:xfrm>
          <a:prstGeom prst="rect">
            <a:avLst/>
          </a:prstGeom>
        </p:spPr>
      </p:pic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9C63E431-5B0A-10C0-55A8-60CA63AEC9CF}"/>
              </a:ext>
            </a:extLst>
          </p:cNvPr>
          <p:cNvSpPr/>
          <p:nvPr/>
        </p:nvSpPr>
        <p:spPr>
          <a:xfrm>
            <a:off x="3185817" y="4911363"/>
            <a:ext cx="825066" cy="575771"/>
          </a:xfrm>
          <a:prstGeom prst="roundRect">
            <a:avLst>
              <a:gd name="adj" fmla="val 9413"/>
            </a:avLst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Arial" pitchFamily="34" charset="0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20BD0D5E-53F3-5600-095F-76B53F5CB35A}"/>
              </a:ext>
            </a:extLst>
          </p:cNvPr>
          <p:cNvSpPr/>
          <p:nvPr/>
        </p:nvSpPr>
        <p:spPr>
          <a:xfrm>
            <a:off x="3197074" y="4931081"/>
            <a:ext cx="80474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Document Repository</a:t>
            </a:r>
          </a:p>
        </p:txBody>
      </p:sp>
      <p:pic>
        <p:nvPicPr>
          <p:cNvPr id="1065" name="Graphic 1064">
            <a:extLst>
              <a:ext uri="{FF2B5EF4-FFF2-40B4-BE49-F238E27FC236}">
                <a16:creationId xmlns:a16="http://schemas.microsoft.com/office/drawing/2014/main" id="{E99CC54B-9215-F58F-81B6-9E762F99E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8775" y="5261472"/>
            <a:ext cx="225662" cy="225662"/>
          </a:xfrm>
          <a:prstGeom prst="rect">
            <a:avLst/>
          </a:prstGeom>
        </p:spPr>
      </p:pic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29C02B32-6650-131D-4548-547CB49EA91E}"/>
              </a:ext>
            </a:extLst>
          </p:cNvPr>
          <p:cNvCxnSpPr>
            <a:cxnSpLocks/>
          </p:cNvCxnSpPr>
          <p:nvPr/>
        </p:nvCxnSpPr>
        <p:spPr>
          <a:xfrm flipH="1">
            <a:off x="4001780" y="5100360"/>
            <a:ext cx="43602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Graphic 1066">
            <a:extLst>
              <a:ext uri="{FF2B5EF4-FFF2-40B4-BE49-F238E27FC236}">
                <a16:creationId xmlns:a16="http://schemas.microsoft.com/office/drawing/2014/main" id="{44D525B2-D1FB-634C-914F-2C1E943FA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57312" y="5262963"/>
            <a:ext cx="201980" cy="201980"/>
          </a:xfrm>
          <a:prstGeom prst="rect">
            <a:avLst/>
          </a:prstGeom>
        </p:spPr>
      </p:pic>
      <p:sp>
        <p:nvSpPr>
          <p:cNvPr id="1068" name="Rectangle 1067">
            <a:extLst>
              <a:ext uri="{FF2B5EF4-FFF2-40B4-BE49-F238E27FC236}">
                <a16:creationId xmlns:a16="http://schemas.microsoft.com/office/drawing/2014/main" id="{953A2952-B7E0-7BE5-A479-21B066B905CB}"/>
              </a:ext>
            </a:extLst>
          </p:cNvPr>
          <p:cNvSpPr/>
          <p:nvPr/>
        </p:nvSpPr>
        <p:spPr>
          <a:xfrm>
            <a:off x="1553903" y="4173173"/>
            <a:ext cx="736731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Rule Configuration</a:t>
            </a:r>
          </a:p>
        </p:txBody>
      </p:sp>
      <p:pic>
        <p:nvPicPr>
          <p:cNvPr id="1069" name="Graphic 1068">
            <a:extLst>
              <a:ext uri="{FF2B5EF4-FFF2-40B4-BE49-F238E27FC236}">
                <a16:creationId xmlns:a16="http://schemas.microsoft.com/office/drawing/2014/main" id="{654E0F3D-BDA8-0D4E-A967-A8D85B1B5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29626" y="5260919"/>
            <a:ext cx="201980" cy="201980"/>
          </a:xfrm>
          <a:prstGeom prst="rect">
            <a:avLst/>
          </a:prstGeom>
        </p:spPr>
      </p:pic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25C97621-16DE-3213-39D9-3F715E5A4640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472045" y="4492226"/>
            <a:ext cx="1693949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947A01AE-4656-516C-4914-E7B25A2CB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50" y="5076800"/>
            <a:ext cx="139174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082" name="Hexagon 1081">
            <a:extLst>
              <a:ext uri="{FF2B5EF4-FFF2-40B4-BE49-F238E27FC236}">
                <a16:creationId xmlns:a16="http://schemas.microsoft.com/office/drawing/2014/main" id="{179C1D07-DD83-D6FF-4DCC-B900A1BDAF26}"/>
              </a:ext>
            </a:extLst>
          </p:cNvPr>
          <p:cNvSpPr/>
          <p:nvPr/>
        </p:nvSpPr>
        <p:spPr>
          <a:xfrm>
            <a:off x="5255903" y="5033406"/>
            <a:ext cx="215459" cy="209505"/>
          </a:xfrm>
          <a:prstGeom prst="hexagon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086" name="Hexagon 1085">
            <a:extLst>
              <a:ext uri="{FF2B5EF4-FFF2-40B4-BE49-F238E27FC236}">
                <a16:creationId xmlns:a16="http://schemas.microsoft.com/office/drawing/2014/main" id="{C46BDF7F-3E1B-434C-A480-5030CB508216}"/>
              </a:ext>
            </a:extLst>
          </p:cNvPr>
          <p:cNvSpPr/>
          <p:nvPr/>
        </p:nvSpPr>
        <p:spPr>
          <a:xfrm>
            <a:off x="7524880" y="5045168"/>
            <a:ext cx="215459" cy="2095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pic>
        <p:nvPicPr>
          <p:cNvPr id="1085" name="Picture 2">
            <a:extLst>
              <a:ext uri="{FF2B5EF4-FFF2-40B4-BE49-F238E27FC236}">
                <a16:creationId xmlns:a16="http://schemas.microsoft.com/office/drawing/2014/main" id="{2F34DCA1-AC52-9C30-7E40-9BD1FEA2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042" y="5092359"/>
            <a:ext cx="121079" cy="107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AED2B74-7F4A-0D67-B690-7A32299FD679}"/>
              </a:ext>
            </a:extLst>
          </p:cNvPr>
          <p:cNvSpPr/>
          <p:nvPr/>
        </p:nvSpPr>
        <p:spPr>
          <a:xfrm>
            <a:off x="7549743" y="5215737"/>
            <a:ext cx="280537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Istio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02ACF-A095-9CAD-55D2-8AA045CC10BE}"/>
              </a:ext>
            </a:extLst>
          </p:cNvPr>
          <p:cNvSpPr txBox="1"/>
          <p:nvPr/>
        </p:nvSpPr>
        <p:spPr>
          <a:xfrm>
            <a:off x="8430811" y="6700912"/>
            <a:ext cx="36506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*Indicative Personas reference are Mentioned in the later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73000-5480-0A1E-BE94-A26E36C765C6}"/>
              </a:ext>
            </a:extLst>
          </p:cNvPr>
          <p:cNvSpPr txBox="1"/>
          <p:nvPr/>
        </p:nvSpPr>
        <p:spPr>
          <a:xfrm>
            <a:off x="8120533" y="511421"/>
            <a:ext cx="5956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953AF570-EAE0-4EB7-4C1D-26FB6A709C3F}"/>
              </a:ext>
            </a:extLst>
          </p:cNvPr>
          <p:cNvSpPr/>
          <p:nvPr/>
        </p:nvSpPr>
        <p:spPr>
          <a:xfrm>
            <a:off x="3227408" y="2098454"/>
            <a:ext cx="4976668" cy="20888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Rev Proxy , LB Layer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0BE3B9-EAF4-2FEB-68FF-91DBA9CD954E}"/>
              </a:ext>
            </a:extLst>
          </p:cNvPr>
          <p:cNvCxnSpPr>
            <a:cxnSpLocks/>
          </p:cNvCxnSpPr>
          <p:nvPr/>
        </p:nvCxnSpPr>
        <p:spPr>
          <a:xfrm>
            <a:off x="4531213" y="1977020"/>
            <a:ext cx="0" cy="1208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598BD3A-DF27-1D16-8442-3EF3B895CAF4}"/>
              </a:ext>
            </a:extLst>
          </p:cNvPr>
          <p:cNvSpPr/>
          <p:nvPr/>
        </p:nvSpPr>
        <p:spPr>
          <a:xfrm>
            <a:off x="4756578" y="4154390"/>
            <a:ext cx="791170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Project Initiate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40E6FA4-6077-846B-521C-07384ECE7762}"/>
              </a:ext>
            </a:extLst>
          </p:cNvPr>
          <p:cNvSpPr/>
          <p:nvPr/>
        </p:nvSpPr>
        <p:spPr>
          <a:xfrm>
            <a:off x="4759610" y="4370813"/>
            <a:ext cx="3286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WBS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C54E3EF-21FD-6CD0-A7A0-12DD18CD3A3B}"/>
              </a:ext>
            </a:extLst>
          </p:cNvPr>
          <p:cNvSpPr/>
          <p:nvPr/>
        </p:nvSpPr>
        <p:spPr>
          <a:xfrm>
            <a:off x="5761120" y="4591269"/>
            <a:ext cx="5405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Closure</a:t>
            </a: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8289435E-6582-47EB-F010-2DAD4B89D7E1}"/>
              </a:ext>
            </a:extLst>
          </p:cNvPr>
          <p:cNvSpPr/>
          <p:nvPr/>
        </p:nvSpPr>
        <p:spPr>
          <a:xfrm>
            <a:off x="3247335" y="3615712"/>
            <a:ext cx="574905" cy="215444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Integration Microservices</a:t>
            </a:r>
          </a:p>
        </p:txBody>
      </p:sp>
      <p:sp>
        <p:nvSpPr>
          <p:cNvPr id="1031" name="Hexagon 1030">
            <a:extLst>
              <a:ext uri="{FF2B5EF4-FFF2-40B4-BE49-F238E27FC236}">
                <a16:creationId xmlns:a16="http://schemas.microsoft.com/office/drawing/2014/main" id="{138287CB-004B-8895-504C-842E7B2A67C0}"/>
              </a:ext>
            </a:extLst>
          </p:cNvPr>
          <p:cNvSpPr/>
          <p:nvPr/>
        </p:nvSpPr>
        <p:spPr>
          <a:xfrm>
            <a:off x="3294791" y="3881432"/>
            <a:ext cx="172395" cy="158082"/>
          </a:xfrm>
          <a:prstGeom prst="hexagon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480B2ED1-918D-ADBE-2A5B-9E787A5BA3CD}"/>
              </a:ext>
            </a:extLst>
          </p:cNvPr>
          <p:cNvCxnSpPr>
            <a:cxnSpLocks/>
          </p:cNvCxnSpPr>
          <p:nvPr/>
        </p:nvCxnSpPr>
        <p:spPr>
          <a:xfrm>
            <a:off x="5766053" y="3206001"/>
            <a:ext cx="0" cy="19016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0A5B4E76-2205-1F7A-E95D-4F9A31CA61B1}"/>
              </a:ext>
            </a:extLst>
          </p:cNvPr>
          <p:cNvCxnSpPr>
            <a:cxnSpLocks/>
            <a:endCxn id="1033" idx="3"/>
          </p:cNvCxnSpPr>
          <p:nvPr/>
        </p:nvCxnSpPr>
        <p:spPr>
          <a:xfrm flipH="1">
            <a:off x="3968687" y="3857502"/>
            <a:ext cx="469113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Hexagon 1054">
            <a:extLst>
              <a:ext uri="{FF2B5EF4-FFF2-40B4-BE49-F238E27FC236}">
                <a16:creationId xmlns:a16="http://schemas.microsoft.com/office/drawing/2014/main" id="{8189969C-38EC-4092-E59B-DB09D50804A0}"/>
              </a:ext>
            </a:extLst>
          </p:cNvPr>
          <p:cNvSpPr/>
          <p:nvPr/>
        </p:nvSpPr>
        <p:spPr>
          <a:xfrm>
            <a:off x="3512303" y="3879626"/>
            <a:ext cx="172395" cy="158082"/>
          </a:xfrm>
          <a:prstGeom prst="hexagon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4230DFA-6465-02F7-52E6-AC32FA52E4CF}"/>
              </a:ext>
            </a:extLst>
          </p:cNvPr>
          <p:cNvSpPr/>
          <p:nvPr/>
        </p:nvSpPr>
        <p:spPr>
          <a:xfrm>
            <a:off x="6755408" y="4513200"/>
            <a:ext cx="288952" cy="138499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…</a:t>
            </a:r>
          </a:p>
        </p:txBody>
      </p:sp>
      <p:sp>
        <p:nvSpPr>
          <p:cNvPr id="134" name="Hexagon 133">
            <a:extLst>
              <a:ext uri="{FF2B5EF4-FFF2-40B4-BE49-F238E27FC236}">
                <a16:creationId xmlns:a16="http://schemas.microsoft.com/office/drawing/2014/main" id="{976B24DA-88A7-4F6D-CCAC-BE872405CF2B}"/>
              </a:ext>
            </a:extLst>
          </p:cNvPr>
          <p:cNvSpPr/>
          <p:nvPr/>
        </p:nvSpPr>
        <p:spPr>
          <a:xfrm>
            <a:off x="6612305" y="4026056"/>
            <a:ext cx="93684" cy="94984"/>
          </a:xfrm>
          <a:prstGeom prst="hexagon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1" name="Hexagon 140">
            <a:extLst>
              <a:ext uri="{FF2B5EF4-FFF2-40B4-BE49-F238E27FC236}">
                <a16:creationId xmlns:a16="http://schemas.microsoft.com/office/drawing/2014/main" id="{2C69183B-0E36-8BFF-D509-744D8160C41D}"/>
              </a:ext>
            </a:extLst>
          </p:cNvPr>
          <p:cNvSpPr/>
          <p:nvPr/>
        </p:nvSpPr>
        <p:spPr>
          <a:xfrm>
            <a:off x="5581373" y="3918755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3" name="Hexagon 142">
            <a:extLst>
              <a:ext uri="{FF2B5EF4-FFF2-40B4-BE49-F238E27FC236}">
                <a16:creationId xmlns:a16="http://schemas.microsoft.com/office/drawing/2014/main" id="{D7E9A9A8-B8B9-0C3C-421B-0862C39F7C11}"/>
              </a:ext>
            </a:extLst>
          </p:cNvPr>
          <p:cNvSpPr/>
          <p:nvPr/>
        </p:nvSpPr>
        <p:spPr>
          <a:xfrm>
            <a:off x="4603836" y="4149905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5" name="Hexagon 144">
            <a:extLst>
              <a:ext uri="{FF2B5EF4-FFF2-40B4-BE49-F238E27FC236}">
                <a16:creationId xmlns:a16="http://schemas.microsoft.com/office/drawing/2014/main" id="{7B771CF0-F984-78C9-3A8B-DABA8A7BBF35}"/>
              </a:ext>
            </a:extLst>
          </p:cNvPr>
          <p:cNvSpPr/>
          <p:nvPr/>
        </p:nvSpPr>
        <p:spPr>
          <a:xfrm>
            <a:off x="4598320" y="4362933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6" name="Hexagon 145">
            <a:extLst>
              <a:ext uri="{FF2B5EF4-FFF2-40B4-BE49-F238E27FC236}">
                <a16:creationId xmlns:a16="http://schemas.microsoft.com/office/drawing/2014/main" id="{78D2A770-AC3A-E286-2F1D-36EE550092CF}"/>
              </a:ext>
            </a:extLst>
          </p:cNvPr>
          <p:cNvSpPr/>
          <p:nvPr/>
        </p:nvSpPr>
        <p:spPr>
          <a:xfrm>
            <a:off x="4602495" y="4579378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7" name="Hexagon 146">
            <a:extLst>
              <a:ext uri="{FF2B5EF4-FFF2-40B4-BE49-F238E27FC236}">
                <a16:creationId xmlns:a16="http://schemas.microsoft.com/office/drawing/2014/main" id="{79D971C2-F18D-84D2-A7A2-DAA0CD74B111}"/>
              </a:ext>
            </a:extLst>
          </p:cNvPr>
          <p:cNvSpPr/>
          <p:nvPr/>
        </p:nvSpPr>
        <p:spPr>
          <a:xfrm>
            <a:off x="5577820" y="4353278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8" name="Hexagon 147">
            <a:extLst>
              <a:ext uri="{FF2B5EF4-FFF2-40B4-BE49-F238E27FC236}">
                <a16:creationId xmlns:a16="http://schemas.microsoft.com/office/drawing/2014/main" id="{CA1BFE38-09A4-2ED8-58D5-A059E43660E4}"/>
              </a:ext>
            </a:extLst>
          </p:cNvPr>
          <p:cNvSpPr/>
          <p:nvPr/>
        </p:nvSpPr>
        <p:spPr>
          <a:xfrm>
            <a:off x="6612305" y="4163884"/>
            <a:ext cx="93684" cy="94984"/>
          </a:xfrm>
          <a:prstGeom prst="hexagon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49" name="Hexagon 148">
            <a:extLst>
              <a:ext uri="{FF2B5EF4-FFF2-40B4-BE49-F238E27FC236}">
                <a16:creationId xmlns:a16="http://schemas.microsoft.com/office/drawing/2014/main" id="{A6EDF624-8AEC-9D36-D301-C5CC36EEC7D2}"/>
              </a:ext>
            </a:extLst>
          </p:cNvPr>
          <p:cNvSpPr/>
          <p:nvPr/>
        </p:nvSpPr>
        <p:spPr>
          <a:xfrm>
            <a:off x="6612305" y="4301712"/>
            <a:ext cx="93684" cy="94984"/>
          </a:xfrm>
          <a:prstGeom prst="hexagon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1" name="Hexagon 150">
            <a:extLst>
              <a:ext uri="{FF2B5EF4-FFF2-40B4-BE49-F238E27FC236}">
                <a16:creationId xmlns:a16="http://schemas.microsoft.com/office/drawing/2014/main" id="{2E192FE7-59C1-F440-2780-6FC7632571F2}"/>
              </a:ext>
            </a:extLst>
          </p:cNvPr>
          <p:cNvSpPr/>
          <p:nvPr/>
        </p:nvSpPr>
        <p:spPr>
          <a:xfrm>
            <a:off x="6622322" y="4439540"/>
            <a:ext cx="93684" cy="94984"/>
          </a:xfrm>
          <a:prstGeom prst="hexagon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53" name="Hexagon 152">
            <a:extLst>
              <a:ext uri="{FF2B5EF4-FFF2-40B4-BE49-F238E27FC236}">
                <a16:creationId xmlns:a16="http://schemas.microsoft.com/office/drawing/2014/main" id="{E34F2196-3885-A864-EE26-B5C9DC6253DC}"/>
              </a:ext>
            </a:extLst>
          </p:cNvPr>
          <p:cNvSpPr/>
          <p:nvPr/>
        </p:nvSpPr>
        <p:spPr>
          <a:xfrm>
            <a:off x="6621948" y="4577369"/>
            <a:ext cx="93684" cy="94984"/>
          </a:xfrm>
          <a:prstGeom prst="hexagon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D5D0C1-33FD-0E7E-2656-4AAEA8323E1F}"/>
              </a:ext>
            </a:extLst>
          </p:cNvPr>
          <p:cNvCxnSpPr>
            <a:cxnSpLocks/>
            <a:stCxn id="34" idx="2"/>
            <a:endCxn id="1033" idx="1"/>
          </p:cNvCxnSpPr>
          <p:nvPr/>
        </p:nvCxnSpPr>
        <p:spPr>
          <a:xfrm rot="16200000" flipH="1">
            <a:off x="2138559" y="2815262"/>
            <a:ext cx="241790" cy="1842689"/>
          </a:xfrm>
          <a:prstGeom prst="bentConnector2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A708674-4CBA-3683-24DA-BFF0C6104919}"/>
              </a:ext>
            </a:extLst>
          </p:cNvPr>
          <p:cNvCxnSpPr>
            <a:cxnSpLocks/>
          </p:cNvCxnSpPr>
          <p:nvPr/>
        </p:nvCxnSpPr>
        <p:spPr>
          <a:xfrm>
            <a:off x="6591965" y="1933300"/>
            <a:ext cx="0" cy="1545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ABC5687-8437-D4A1-2C56-5F5533748EF5}"/>
              </a:ext>
            </a:extLst>
          </p:cNvPr>
          <p:cNvCxnSpPr>
            <a:cxnSpLocks/>
          </p:cNvCxnSpPr>
          <p:nvPr/>
        </p:nvCxnSpPr>
        <p:spPr>
          <a:xfrm>
            <a:off x="6591965" y="2306343"/>
            <a:ext cx="0" cy="1208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8C062BC-4CA4-C2DF-8012-103D1DEB00EA}"/>
              </a:ext>
            </a:extLst>
          </p:cNvPr>
          <p:cNvCxnSpPr>
            <a:cxnSpLocks/>
          </p:cNvCxnSpPr>
          <p:nvPr/>
        </p:nvCxnSpPr>
        <p:spPr>
          <a:xfrm>
            <a:off x="6590279" y="2727382"/>
            <a:ext cx="0" cy="157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C701EF9-FFC6-2F34-EEBB-1C5FDE5D4C7E}"/>
              </a:ext>
            </a:extLst>
          </p:cNvPr>
          <p:cNvSpPr txBox="1"/>
          <p:nvPr/>
        </p:nvSpPr>
        <p:spPr>
          <a:xfrm>
            <a:off x="6655215" y="2768815"/>
            <a:ext cx="1070826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Request with JWT</a:t>
            </a: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4DFF2632-88A8-990E-A5F3-2FC43F2744C8}"/>
              </a:ext>
            </a:extLst>
          </p:cNvPr>
          <p:cNvCxnSpPr>
            <a:cxnSpLocks/>
          </p:cNvCxnSpPr>
          <p:nvPr/>
        </p:nvCxnSpPr>
        <p:spPr>
          <a:xfrm>
            <a:off x="1472045" y="5248609"/>
            <a:ext cx="658481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A44060D-018A-64A9-D841-7B3F13009EEE}"/>
              </a:ext>
            </a:extLst>
          </p:cNvPr>
          <p:cNvSpPr txBox="1"/>
          <p:nvPr/>
        </p:nvSpPr>
        <p:spPr>
          <a:xfrm>
            <a:off x="4601417" y="2884097"/>
            <a:ext cx="537818" cy="1632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Session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76FB8-A0D7-4817-757B-85C083A0561B}"/>
              </a:ext>
            </a:extLst>
          </p:cNvPr>
          <p:cNvSpPr/>
          <p:nvPr/>
        </p:nvSpPr>
        <p:spPr>
          <a:xfrm>
            <a:off x="6244407" y="2522613"/>
            <a:ext cx="508237" cy="138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sx="0" sy="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C2A62-7241-A3F7-103E-676B76AF5373}"/>
              </a:ext>
            </a:extLst>
          </p:cNvPr>
          <p:cNvSpPr/>
          <p:nvPr/>
        </p:nvSpPr>
        <p:spPr>
          <a:xfrm>
            <a:off x="6830282" y="2522613"/>
            <a:ext cx="515441" cy="138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sx="0" sy="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Policy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5AFB5-F4C4-8835-819A-B3FE4BEFD9BE}"/>
              </a:ext>
            </a:extLst>
          </p:cNvPr>
          <p:cNvSpPr/>
          <p:nvPr/>
        </p:nvSpPr>
        <p:spPr>
          <a:xfrm>
            <a:off x="7435766" y="2522613"/>
            <a:ext cx="653211" cy="138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sx="0" sy="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Rate Limit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089C99-CB48-0DAF-A1AF-D3EA6B3CD5E7}"/>
              </a:ext>
            </a:extLst>
          </p:cNvPr>
          <p:cNvSpPr/>
          <p:nvPr/>
        </p:nvSpPr>
        <p:spPr>
          <a:xfrm>
            <a:off x="5122568" y="5698827"/>
            <a:ext cx="693568" cy="78986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Search Service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6C3E44-85AF-C976-C7C9-5D108B536746}"/>
              </a:ext>
            </a:extLst>
          </p:cNvPr>
          <p:cNvCxnSpPr>
            <a:cxnSpLocks/>
          </p:cNvCxnSpPr>
          <p:nvPr/>
        </p:nvCxnSpPr>
        <p:spPr>
          <a:xfrm>
            <a:off x="5462368" y="5424824"/>
            <a:ext cx="0" cy="27583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9F5C0EC-D2E2-7A0A-40E3-CA9A0BF566C7}"/>
              </a:ext>
            </a:extLst>
          </p:cNvPr>
          <p:cNvCxnSpPr>
            <a:cxnSpLocks/>
          </p:cNvCxnSpPr>
          <p:nvPr/>
        </p:nvCxnSpPr>
        <p:spPr>
          <a:xfrm flipH="1">
            <a:off x="4888074" y="6051352"/>
            <a:ext cx="249198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927071E-D6A1-5C1F-02A6-4FC959EF60F4}"/>
              </a:ext>
            </a:extLst>
          </p:cNvPr>
          <p:cNvSpPr/>
          <p:nvPr/>
        </p:nvSpPr>
        <p:spPr>
          <a:xfrm>
            <a:off x="8232564" y="3615712"/>
            <a:ext cx="736930" cy="306467"/>
          </a:xfrm>
          <a:prstGeom prst="round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AI Orchestrator </a:t>
            </a:r>
          </a:p>
        </p:txBody>
      </p:sp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F9C25CA-D5FF-16D1-DF09-24E52FC855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3762" y="4326831"/>
            <a:ext cx="273247" cy="273247"/>
          </a:xfrm>
          <a:prstGeom prst="rect">
            <a:avLst/>
          </a:prstGeom>
        </p:spPr>
      </p:pic>
      <p:pic>
        <p:nvPicPr>
          <p:cNvPr id="45" name="Picture 4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A14197F-B9CF-2C07-23C7-2B7C9A2AE4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0422" y="4324402"/>
            <a:ext cx="273247" cy="27324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5609C10-BE92-5428-3CCB-B93162F04384}"/>
              </a:ext>
            </a:extLst>
          </p:cNvPr>
          <p:cNvSpPr/>
          <p:nvPr/>
        </p:nvSpPr>
        <p:spPr>
          <a:xfrm>
            <a:off x="8341256" y="4641370"/>
            <a:ext cx="576286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AI Agents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32BED78C-7DCE-F7CD-0337-9E2193C70A5E}"/>
              </a:ext>
            </a:extLst>
          </p:cNvPr>
          <p:cNvCxnSpPr>
            <a:cxnSpLocks/>
            <a:stCxn id="83" idx="3"/>
            <a:endCxn id="21" idx="0"/>
          </p:cNvCxnSpPr>
          <p:nvPr/>
        </p:nvCxnSpPr>
        <p:spPr>
          <a:xfrm>
            <a:off x="8179222" y="3067603"/>
            <a:ext cx="421807" cy="37548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90B0852-1530-D6C1-A699-4F5AD722259B}"/>
              </a:ext>
            </a:extLst>
          </p:cNvPr>
          <p:cNvCxnSpPr>
            <a:cxnSpLocks/>
            <a:stCxn id="21" idx="2"/>
            <a:endCxn id="150" idx="3"/>
          </p:cNvCxnSpPr>
          <p:nvPr/>
        </p:nvCxnSpPr>
        <p:spPr>
          <a:xfrm rot="5400000">
            <a:off x="7956006" y="5423511"/>
            <a:ext cx="706698" cy="58334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19B4CBB-77DB-967B-BC9F-D30308E78792}"/>
              </a:ext>
            </a:extLst>
          </p:cNvPr>
          <p:cNvSpPr/>
          <p:nvPr/>
        </p:nvSpPr>
        <p:spPr>
          <a:xfrm>
            <a:off x="8413086" y="6147842"/>
            <a:ext cx="622754" cy="2139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LLM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2819C8D-4380-CE79-B837-C55AB7229FDD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8017680" y="6254811"/>
            <a:ext cx="395406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0382AFF-306D-B988-9342-80ED6614BDB0}"/>
              </a:ext>
            </a:extLst>
          </p:cNvPr>
          <p:cNvCxnSpPr>
            <a:cxnSpLocks/>
          </p:cNvCxnSpPr>
          <p:nvPr/>
        </p:nvCxnSpPr>
        <p:spPr>
          <a:xfrm>
            <a:off x="7997414" y="4420585"/>
            <a:ext cx="158322" cy="389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7C7F0541-D560-FBE1-57A0-B1AE24E743D9}"/>
              </a:ext>
            </a:extLst>
          </p:cNvPr>
          <p:cNvSpPr/>
          <p:nvPr/>
        </p:nvSpPr>
        <p:spPr>
          <a:xfrm>
            <a:off x="9310548" y="1696672"/>
            <a:ext cx="1046152" cy="45734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MSIL Common Services</a:t>
            </a:r>
          </a:p>
        </p:txBody>
      </p: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EBBA61F6-8D65-A755-A7E7-F3FE805DF690}"/>
              </a:ext>
            </a:extLst>
          </p:cNvPr>
          <p:cNvCxnSpPr>
            <a:endCxn id="115" idx="1"/>
          </p:cNvCxnSpPr>
          <p:nvPr/>
        </p:nvCxnSpPr>
        <p:spPr>
          <a:xfrm flipV="1">
            <a:off x="8179222" y="1925344"/>
            <a:ext cx="1131326" cy="501879"/>
          </a:xfrm>
          <a:prstGeom prst="bentConnector3">
            <a:avLst>
              <a:gd name="adj1" fmla="val 42868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2" name="Elbow Connector 1041">
            <a:extLst>
              <a:ext uri="{FF2B5EF4-FFF2-40B4-BE49-F238E27FC236}">
                <a16:creationId xmlns:a16="http://schemas.microsoft.com/office/drawing/2014/main" id="{327C9CA7-5F1A-FCC4-D15E-215E6D05A3A2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6648951" y="1287315"/>
            <a:ext cx="874168" cy="455497"/>
          </a:xfrm>
          <a:prstGeom prst="bentConnector3">
            <a:avLst>
              <a:gd name="adj1" fmla="val 99619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6E549A6E-92FA-8B00-E304-44C7E973A6B9}"/>
              </a:ext>
            </a:extLst>
          </p:cNvPr>
          <p:cNvCxnSpPr>
            <a:cxnSpLocks/>
          </p:cNvCxnSpPr>
          <p:nvPr/>
        </p:nvCxnSpPr>
        <p:spPr>
          <a:xfrm>
            <a:off x="7524880" y="1933300"/>
            <a:ext cx="0" cy="1644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2" name="Rounded Rectangle 1051">
            <a:extLst>
              <a:ext uri="{FF2B5EF4-FFF2-40B4-BE49-F238E27FC236}">
                <a16:creationId xmlns:a16="http://schemas.microsoft.com/office/drawing/2014/main" id="{6B3766C0-A25F-9B0E-B9FC-9E9AB986536D}"/>
              </a:ext>
            </a:extLst>
          </p:cNvPr>
          <p:cNvSpPr/>
          <p:nvPr/>
        </p:nvSpPr>
        <p:spPr>
          <a:xfrm>
            <a:off x="7547769" y="1301533"/>
            <a:ext cx="1787505" cy="22694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External Users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7C3A77B7-078E-45F5-F5F6-8C48E782024C}"/>
              </a:ext>
            </a:extLst>
          </p:cNvPr>
          <p:cNvSpPr txBox="1"/>
          <p:nvPr/>
        </p:nvSpPr>
        <p:spPr>
          <a:xfrm>
            <a:off x="8806406" y="1969406"/>
            <a:ext cx="310974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JWT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0DF77186-01B9-DD95-005A-EDDD1BB4C177}"/>
              </a:ext>
            </a:extLst>
          </p:cNvPr>
          <p:cNvSpPr txBox="1"/>
          <p:nvPr/>
        </p:nvSpPr>
        <p:spPr>
          <a:xfrm>
            <a:off x="8491310" y="1780686"/>
            <a:ext cx="712651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Authentication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F0E61-8637-DBAE-4F7F-7C8BB9EFF567}"/>
              </a:ext>
            </a:extLst>
          </p:cNvPr>
          <p:cNvSpPr txBox="1"/>
          <p:nvPr/>
        </p:nvSpPr>
        <p:spPr>
          <a:xfrm>
            <a:off x="2124106" y="5839674"/>
            <a:ext cx="861341" cy="4679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>
              <a:defRPr kern="0">
                <a:solidFill>
                  <a:prstClr val="black"/>
                </a:solidFill>
                <a:latin typeface="Aptos" panose="02110004020202020204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Enterprise Data Lake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056B85-C2AA-1FE2-88FA-D2EEDB8BEAC3}"/>
              </a:ext>
            </a:extLst>
          </p:cNvPr>
          <p:cNvSpPr txBox="1"/>
          <p:nvPr/>
        </p:nvSpPr>
        <p:spPr>
          <a:xfrm>
            <a:off x="2130526" y="5014653"/>
            <a:ext cx="861341" cy="4679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>
            <a:defPPr>
              <a:defRPr lang="en-US"/>
            </a:defPPr>
            <a:lvl1pPr algn="ctr">
              <a:defRPr kern="0">
                <a:solidFill>
                  <a:prstClr val="black"/>
                </a:solidFill>
                <a:latin typeface="Aptos" panose="02110004020202020204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Reports &amp; Dashboards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32DE14-6300-8972-3B93-886ABB1EDE8F}"/>
              </a:ext>
            </a:extLst>
          </p:cNvPr>
          <p:cNvCxnSpPr>
            <a:cxnSpLocks/>
            <a:stCxn id="16" idx="0"/>
            <a:endCxn id="31" idx="2"/>
          </p:cNvCxnSpPr>
          <p:nvPr/>
        </p:nvCxnSpPr>
        <p:spPr>
          <a:xfrm flipV="1">
            <a:off x="2554777" y="5482564"/>
            <a:ext cx="6420" cy="35711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2A5CD0F-1C5B-6C75-708F-A96054652326}"/>
              </a:ext>
            </a:extLst>
          </p:cNvPr>
          <p:cNvCxnSpPr>
            <a:cxnSpLocks/>
            <a:stCxn id="3" idx="1"/>
            <a:endCxn id="16" idx="3"/>
          </p:cNvCxnSpPr>
          <p:nvPr/>
        </p:nvCxnSpPr>
        <p:spPr>
          <a:xfrm flipH="1" flipV="1">
            <a:off x="2985447" y="6073630"/>
            <a:ext cx="232782" cy="96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sm"/>
          </a:ln>
          <a:effectLst/>
        </p:spPr>
      </p:cxnSp>
      <p:pic>
        <p:nvPicPr>
          <p:cNvPr id="105" name="Graphic 104" descr="Gears outline">
            <a:extLst>
              <a:ext uri="{FF2B5EF4-FFF2-40B4-BE49-F238E27FC236}">
                <a16:creationId xmlns:a16="http://schemas.microsoft.com/office/drawing/2014/main" id="{27B7844F-4290-8051-96CE-7B189D213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3415071">
            <a:off x="2406506" y="4086999"/>
            <a:ext cx="430885" cy="430885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48853EDF-0B67-41D7-D145-ADA98B7D9956}"/>
              </a:ext>
            </a:extLst>
          </p:cNvPr>
          <p:cNvSpPr/>
          <p:nvPr/>
        </p:nvSpPr>
        <p:spPr>
          <a:xfrm>
            <a:off x="3317864" y="6022495"/>
            <a:ext cx="448797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Primary</a:t>
            </a:r>
          </a:p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Replica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C2C5479F-8F14-7870-B9FF-A5414BB424B8}"/>
              </a:ext>
            </a:extLst>
          </p:cNvPr>
          <p:cNvSpPr/>
          <p:nvPr/>
        </p:nvSpPr>
        <p:spPr>
          <a:xfrm>
            <a:off x="3758329" y="6041724"/>
            <a:ext cx="448797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Read </a:t>
            </a:r>
          </a:p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Replica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4F3C703D-1E37-CC0E-83FC-FB52E440D935}"/>
              </a:ext>
            </a:extLst>
          </p:cNvPr>
          <p:cNvSpPr txBox="1"/>
          <p:nvPr/>
        </p:nvSpPr>
        <p:spPr>
          <a:xfrm>
            <a:off x="6144266" y="3266111"/>
            <a:ext cx="1070826" cy="131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Request with JWT</a:t>
            </a:r>
          </a:p>
        </p:txBody>
      </p: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F657F8EB-B9AD-8513-1936-FF2631692FF9}"/>
              </a:ext>
            </a:extLst>
          </p:cNvPr>
          <p:cNvCxnSpPr>
            <a:stCxn id="112" idx="3"/>
            <a:endCxn id="83" idx="1"/>
          </p:cNvCxnSpPr>
          <p:nvPr/>
        </p:nvCxnSpPr>
        <p:spPr>
          <a:xfrm>
            <a:off x="3992584" y="3056660"/>
            <a:ext cx="1585237" cy="10943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F03DC9E3-6D57-632B-1189-7D15D588A295}"/>
              </a:ext>
            </a:extLst>
          </p:cNvPr>
          <p:cNvCxnSpPr>
            <a:cxnSpLocks/>
          </p:cNvCxnSpPr>
          <p:nvPr/>
        </p:nvCxnSpPr>
        <p:spPr>
          <a:xfrm>
            <a:off x="3545892" y="3209184"/>
            <a:ext cx="877245" cy="320668"/>
          </a:xfrm>
          <a:prstGeom prst="bentConnector3">
            <a:avLst>
              <a:gd name="adj1" fmla="val 500"/>
            </a:avLst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D4733E6-E603-A963-1A55-4E5EDBC9F4A6}"/>
              </a:ext>
            </a:extLst>
          </p:cNvPr>
          <p:cNvGrpSpPr/>
          <p:nvPr/>
        </p:nvGrpSpPr>
        <p:grpSpPr>
          <a:xfrm>
            <a:off x="3107643" y="446646"/>
            <a:ext cx="292480" cy="226520"/>
            <a:chOff x="3114839" y="460107"/>
            <a:chExt cx="292480" cy="226520"/>
          </a:xfrm>
        </p:grpSpPr>
        <p:pic>
          <p:nvPicPr>
            <p:cNvPr id="182" name="Graphic 181" descr="Man with solid fill">
              <a:extLst>
                <a:ext uri="{FF2B5EF4-FFF2-40B4-BE49-F238E27FC236}">
                  <a16:creationId xmlns:a16="http://schemas.microsoft.com/office/drawing/2014/main" id="{D67AF9E8-E7A3-11F7-8B15-3E504DBE6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87" name="Graphic 186" descr="Man with solid fill">
              <a:extLst>
                <a:ext uri="{FF2B5EF4-FFF2-40B4-BE49-F238E27FC236}">
                  <a16:creationId xmlns:a16="http://schemas.microsoft.com/office/drawing/2014/main" id="{0689D2D7-5FCE-3285-2341-D254D41075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F0522AC-C09D-5F60-EF60-B4BBA528B05D}"/>
              </a:ext>
            </a:extLst>
          </p:cNvPr>
          <p:cNvGrpSpPr/>
          <p:nvPr/>
        </p:nvGrpSpPr>
        <p:grpSpPr>
          <a:xfrm>
            <a:off x="4062891" y="434645"/>
            <a:ext cx="292480" cy="226520"/>
            <a:chOff x="3114839" y="460107"/>
            <a:chExt cx="292480" cy="226520"/>
          </a:xfrm>
          <a:solidFill>
            <a:schemeClr val="accent2">
              <a:lumMod val="75000"/>
            </a:schemeClr>
          </a:solidFill>
        </p:grpSpPr>
        <p:pic>
          <p:nvPicPr>
            <p:cNvPr id="191" name="Graphic 190" descr="Man with solid fill">
              <a:extLst>
                <a:ext uri="{FF2B5EF4-FFF2-40B4-BE49-F238E27FC236}">
                  <a16:creationId xmlns:a16="http://schemas.microsoft.com/office/drawing/2014/main" id="{6039554B-A2A6-BB47-4BD4-B6E7F2D02B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088" name="Graphic 1087" descr="Man with solid fill">
              <a:extLst>
                <a:ext uri="{FF2B5EF4-FFF2-40B4-BE49-F238E27FC236}">
                  <a16:creationId xmlns:a16="http://schemas.microsoft.com/office/drawing/2014/main" id="{6C19D558-EBE3-F21F-2CD8-020A4108F2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C1BE21A1-EA3A-32D8-4B27-E85122C210AF}"/>
              </a:ext>
            </a:extLst>
          </p:cNvPr>
          <p:cNvGrpSpPr/>
          <p:nvPr/>
        </p:nvGrpSpPr>
        <p:grpSpPr>
          <a:xfrm>
            <a:off x="5233113" y="415001"/>
            <a:ext cx="292480" cy="226520"/>
            <a:chOff x="3114839" y="460107"/>
            <a:chExt cx="292480" cy="226520"/>
          </a:xfrm>
          <a:solidFill>
            <a:schemeClr val="accent1">
              <a:lumMod val="75000"/>
            </a:schemeClr>
          </a:solidFill>
        </p:grpSpPr>
        <p:pic>
          <p:nvPicPr>
            <p:cNvPr id="1090" name="Graphic 1089" descr="Man with solid fill">
              <a:extLst>
                <a:ext uri="{FF2B5EF4-FFF2-40B4-BE49-F238E27FC236}">
                  <a16:creationId xmlns:a16="http://schemas.microsoft.com/office/drawing/2014/main" id="{E2041F81-D819-82BE-B6D1-BA2C5EBEE9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091" name="Graphic 1090" descr="Man with solid fill">
              <a:extLst>
                <a:ext uri="{FF2B5EF4-FFF2-40B4-BE49-F238E27FC236}">
                  <a16:creationId xmlns:a16="http://schemas.microsoft.com/office/drawing/2014/main" id="{9C8BCD63-10AD-E914-44C4-920CFB844F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092" name="Group 1091">
            <a:extLst>
              <a:ext uri="{FF2B5EF4-FFF2-40B4-BE49-F238E27FC236}">
                <a16:creationId xmlns:a16="http://schemas.microsoft.com/office/drawing/2014/main" id="{D4B8960C-6D04-DAF9-546C-B181565424EA}"/>
              </a:ext>
            </a:extLst>
          </p:cNvPr>
          <p:cNvGrpSpPr/>
          <p:nvPr/>
        </p:nvGrpSpPr>
        <p:grpSpPr>
          <a:xfrm>
            <a:off x="6402307" y="420651"/>
            <a:ext cx="292480" cy="226520"/>
            <a:chOff x="3114839" y="460107"/>
            <a:chExt cx="292480" cy="226520"/>
          </a:xfrm>
          <a:solidFill>
            <a:schemeClr val="accent4">
              <a:lumMod val="75000"/>
            </a:schemeClr>
          </a:solidFill>
        </p:grpSpPr>
        <p:pic>
          <p:nvPicPr>
            <p:cNvPr id="1093" name="Graphic 1092" descr="Man with solid fill">
              <a:extLst>
                <a:ext uri="{FF2B5EF4-FFF2-40B4-BE49-F238E27FC236}">
                  <a16:creationId xmlns:a16="http://schemas.microsoft.com/office/drawing/2014/main" id="{0FA5F9D8-350B-2EA3-A40D-85135F5AE3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094" name="Graphic 1093" descr="Man with solid fill">
              <a:extLst>
                <a:ext uri="{FF2B5EF4-FFF2-40B4-BE49-F238E27FC236}">
                  <a16:creationId xmlns:a16="http://schemas.microsoft.com/office/drawing/2014/main" id="{318B0422-36DC-6C0A-5D2A-4C63481A72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9BB8CF86-7F17-A1D8-91A0-F050C682C2D6}"/>
              </a:ext>
            </a:extLst>
          </p:cNvPr>
          <p:cNvGrpSpPr/>
          <p:nvPr/>
        </p:nvGrpSpPr>
        <p:grpSpPr>
          <a:xfrm>
            <a:off x="7469810" y="415001"/>
            <a:ext cx="292480" cy="226520"/>
            <a:chOff x="3114839" y="460107"/>
            <a:chExt cx="292480" cy="226520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1096" name="Graphic 1095" descr="Man with solid fill">
              <a:extLst>
                <a:ext uri="{FF2B5EF4-FFF2-40B4-BE49-F238E27FC236}">
                  <a16:creationId xmlns:a16="http://schemas.microsoft.com/office/drawing/2014/main" id="{2145E444-3C51-6451-9FFC-EFF06EBBB8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097" name="Graphic 1096" descr="Man with solid fill">
              <a:extLst>
                <a:ext uri="{FF2B5EF4-FFF2-40B4-BE49-F238E27FC236}">
                  <a16:creationId xmlns:a16="http://schemas.microsoft.com/office/drawing/2014/main" id="{B95BA5E1-29C1-AD98-D53A-00E7588171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102" name="Group 1101">
            <a:extLst>
              <a:ext uri="{FF2B5EF4-FFF2-40B4-BE49-F238E27FC236}">
                <a16:creationId xmlns:a16="http://schemas.microsoft.com/office/drawing/2014/main" id="{C2D10022-0158-B584-A34D-108AE7C632EB}"/>
              </a:ext>
            </a:extLst>
          </p:cNvPr>
          <p:cNvGrpSpPr/>
          <p:nvPr/>
        </p:nvGrpSpPr>
        <p:grpSpPr>
          <a:xfrm>
            <a:off x="1120180" y="5094322"/>
            <a:ext cx="292480" cy="226520"/>
            <a:chOff x="3114839" y="460107"/>
            <a:chExt cx="292480" cy="226520"/>
          </a:xfrm>
        </p:grpSpPr>
        <p:pic>
          <p:nvPicPr>
            <p:cNvPr id="1103" name="Graphic 1102" descr="Man with solid fill">
              <a:extLst>
                <a:ext uri="{FF2B5EF4-FFF2-40B4-BE49-F238E27FC236}">
                  <a16:creationId xmlns:a16="http://schemas.microsoft.com/office/drawing/2014/main" id="{E31851E4-7564-B314-73A5-34D9033C32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104" name="Graphic 1103" descr="Man with solid fill">
              <a:extLst>
                <a:ext uri="{FF2B5EF4-FFF2-40B4-BE49-F238E27FC236}">
                  <a16:creationId xmlns:a16="http://schemas.microsoft.com/office/drawing/2014/main" id="{2943D845-EE2B-001E-AC6F-A122138DE2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0F83FF0A-86AD-7BF2-8694-65898BB7FA34}"/>
              </a:ext>
            </a:extLst>
          </p:cNvPr>
          <p:cNvGrpSpPr/>
          <p:nvPr/>
        </p:nvGrpSpPr>
        <p:grpSpPr>
          <a:xfrm>
            <a:off x="1114532" y="4291565"/>
            <a:ext cx="292480" cy="226520"/>
            <a:chOff x="3114839" y="460107"/>
            <a:chExt cx="292480" cy="226520"/>
          </a:xfrm>
          <a:solidFill>
            <a:schemeClr val="accent2">
              <a:lumMod val="75000"/>
            </a:schemeClr>
          </a:solidFill>
        </p:grpSpPr>
        <p:pic>
          <p:nvPicPr>
            <p:cNvPr id="1106" name="Graphic 1105" descr="Man with solid fill">
              <a:extLst>
                <a:ext uri="{FF2B5EF4-FFF2-40B4-BE49-F238E27FC236}">
                  <a16:creationId xmlns:a16="http://schemas.microsoft.com/office/drawing/2014/main" id="{D8DD6F74-38EA-1DB1-05E8-76191382C2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1107" name="Graphic 1106" descr="Man with solid fill">
              <a:extLst>
                <a:ext uri="{FF2B5EF4-FFF2-40B4-BE49-F238E27FC236}">
                  <a16:creationId xmlns:a16="http://schemas.microsoft.com/office/drawing/2014/main" id="{7F94092A-49A5-353C-F46B-DDE9A3D594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sp>
        <p:nvSpPr>
          <p:cNvPr id="1108" name="Rounded Rectangle 1107">
            <a:extLst>
              <a:ext uri="{FF2B5EF4-FFF2-40B4-BE49-F238E27FC236}">
                <a16:creationId xmlns:a16="http://schemas.microsoft.com/office/drawing/2014/main" id="{B944927C-8AEF-F256-E8BE-4A4AA2A2609E}"/>
              </a:ext>
            </a:extLst>
          </p:cNvPr>
          <p:cNvSpPr/>
          <p:nvPr/>
        </p:nvSpPr>
        <p:spPr>
          <a:xfrm>
            <a:off x="782384" y="5346081"/>
            <a:ext cx="940274" cy="27721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Critical Controllers</a:t>
            </a:r>
          </a:p>
        </p:txBody>
      </p:sp>
      <p:sp>
        <p:nvSpPr>
          <p:cNvPr id="1109" name="Rounded Rectangle 1108">
            <a:extLst>
              <a:ext uri="{FF2B5EF4-FFF2-40B4-BE49-F238E27FC236}">
                <a16:creationId xmlns:a16="http://schemas.microsoft.com/office/drawing/2014/main" id="{3744D95C-C335-FB94-6D21-52F4FDD8B872}"/>
              </a:ext>
            </a:extLst>
          </p:cNvPr>
          <p:cNvSpPr/>
          <p:nvPr/>
        </p:nvSpPr>
        <p:spPr>
          <a:xfrm>
            <a:off x="792824" y="4514341"/>
            <a:ext cx="929834" cy="27721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Operational Orchestrators</a:t>
            </a:r>
          </a:p>
        </p:txBody>
      </p: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3A8DAE09-CDB8-6B8E-62E6-3C4F49573417}"/>
              </a:ext>
            </a:extLst>
          </p:cNvPr>
          <p:cNvGrpSpPr/>
          <p:nvPr/>
        </p:nvGrpSpPr>
        <p:grpSpPr>
          <a:xfrm>
            <a:off x="4053153" y="5406411"/>
            <a:ext cx="999877" cy="285563"/>
            <a:chOff x="4053153" y="5406411"/>
            <a:chExt cx="999877" cy="285563"/>
          </a:xfrm>
        </p:grpSpPr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82E9E305-51B3-CC79-EC8F-ACB043F90266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 rot="10800000" flipV="1">
              <a:off x="4053153" y="5514663"/>
              <a:ext cx="999877" cy="177311"/>
            </a:xfrm>
            <a:prstGeom prst="bentConnector2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sm"/>
            </a:ln>
            <a:effectLst/>
          </p:spPr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1DC828D6-649D-020A-06A6-364532BCE655}"/>
                </a:ext>
              </a:extLst>
            </p:cNvPr>
            <p:cNvCxnSpPr/>
            <p:nvPr/>
          </p:nvCxnSpPr>
          <p:spPr>
            <a:xfrm flipV="1">
              <a:off x="5046547" y="5406411"/>
              <a:ext cx="0" cy="10825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4D617DA5-5AAD-4698-3C38-F503F7CA19FB}"/>
              </a:ext>
            </a:extLst>
          </p:cNvPr>
          <p:cNvSpPr/>
          <p:nvPr/>
        </p:nvSpPr>
        <p:spPr>
          <a:xfrm>
            <a:off x="5756978" y="4345740"/>
            <a:ext cx="5405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Demand</a:t>
            </a: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50EDCF5-6DD3-351B-7758-C7FC16531687}"/>
              </a:ext>
            </a:extLst>
          </p:cNvPr>
          <p:cNvSpPr/>
          <p:nvPr/>
        </p:nvSpPr>
        <p:spPr>
          <a:xfrm>
            <a:off x="4756578" y="4580120"/>
            <a:ext cx="540591" cy="123111"/>
          </a:xfrm>
          <a:prstGeom prst="rect">
            <a:avLst/>
          </a:prstGeom>
          <a:solidFill>
            <a:srgbClr val="DDF3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51243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Arial" pitchFamily="34" charset="0"/>
              </a:rPr>
              <a:t>Innovation</a:t>
            </a:r>
          </a:p>
        </p:txBody>
      </p:sp>
      <p:sp>
        <p:nvSpPr>
          <p:cNvPr id="1140" name="Hexagon 1139">
            <a:extLst>
              <a:ext uri="{FF2B5EF4-FFF2-40B4-BE49-F238E27FC236}">
                <a16:creationId xmlns:a16="http://schemas.microsoft.com/office/drawing/2014/main" id="{A3653FF2-1253-C844-7538-D21F703A51AC}"/>
              </a:ext>
            </a:extLst>
          </p:cNvPr>
          <p:cNvSpPr/>
          <p:nvPr/>
        </p:nvSpPr>
        <p:spPr>
          <a:xfrm>
            <a:off x="5577820" y="4591269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141" name="Hexagon 1140">
            <a:extLst>
              <a:ext uri="{FF2B5EF4-FFF2-40B4-BE49-F238E27FC236}">
                <a16:creationId xmlns:a16="http://schemas.microsoft.com/office/drawing/2014/main" id="{DFF7BA77-65CC-9268-D204-BC2C7FE6B8F2}"/>
              </a:ext>
            </a:extLst>
          </p:cNvPr>
          <p:cNvSpPr/>
          <p:nvPr/>
        </p:nvSpPr>
        <p:spPr>
          <a:xfrm>
            <a:off x="4603835" y="4788663"/>
            <a:ext cx="104765" cy="123111"/>
          </a:xfrm>
          <a:prstGeom prst="hexagon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26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F948-E388-0D97-8CE6-F8B6F9AA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7122"/>
          </a:xfrm>
        </p:spPr>
        <p:txBody>
          <a:bodyPr/>
          <a:lstStyle/>
          <a:p>
            <a:r>
              <a:rPr lang="en-US" dirty="0"/>
              <a:t>WBS Item With JIRA Integration Blueprint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11B00-5F35-3BDD-C4D8-B2605A23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53DEA9-8E1D-4F84-86D3-D29702EC14F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71A1D-7CCB-9D2F-C44B-42C20D1F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3371"/>
            <a:ext cx="10325100" cy="622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4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3F486887-E035-6654-E075-A55959A72BA6}"/>
              </a:ext>
            </a:extLst>
          </p:cNvPr>
          <p:cNvSpPr/>
          <p:nvPr/>
        </p:nvSpPr>
        <p:spPr>
          <a:xfrm>
            <a:off x="3682003" y="2136796"/>
            <a:ext cx="3304755" cy="23897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Core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F5DAB-F328-16C1-9DA8-D41EE402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505B4-2D88-5790-63CD-D5E3E1A9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53DEA9-8E1D-4F84-86D3-D29702EC14F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41B742-17B3-62E5-81FB-BCE21B1CD19A}"/>
              </a:ext>
            </a:extLst>
          </p:cNvPr>
          <p:cNvSpPr/>
          <p:nvPr/>
        </p:nvSpPr>
        <p:spPr>
          <a:xfrm>
            <a:off x="3893121" y="2503863"/>
            <a:ext cx="758669" cy="174539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0000" tIns="46800" rIns="90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Integration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Adapter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24A702F-5739-5BE9-D999-EC906D5823E3}"/>
              </a:ext>
            </a:extLst>
          </p:cNvPr>
          <p:cNvSpPr/>
          <p:nvPr/>
        </p:nvSpPr>
        <p:spPr>
          <a:xfrm>
            <a:off x="932502" y="3919611"/>
            <a:ext cx="913916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JIRA</a:t>
            </a:r>
          </a:p>
        </p:txBody>
      </p:sp>
      <p:sp>
        <p:nvSpPr>
          <p:cNvPr id="29" name="Can 28">
            <a:extLst>
              <a:ext uri="{FF2B5EF4-FFF2-40B4-BE49-F238E27FC236}">
                <a16:creationId xmlns:a16="http://schemas.microsoft.com/office/drawing/2014/main" id="{16BDDBC8-4624-A931-79C1-0A2397C65EFC}"/>
              </a:ext>
            </a:extLst>
          </p:cNvPr>
          <p:cNvSpPr/>
          <p:nvPr/>
        </p:nvSpPr>
        <p:spPr>
          <a:xfrm rot="5400000">
            <a:off x="4090693" y="5166730"/>
            <a:ext cx="459355" cy="980817"/>
          </a:xfrm>
          <a:prstGeom prst="can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9676E80-E7F2-1FC6-5BB6-C978C20ACEC7}"/>
              </a:ext>
            </a:extLst>
          </p:cNvPr>
          <p:cNvSpPr/>
          <p:nvPr/>
        </p:nvSpPr>
        <p:spPr>
          <a:xfrm>
            <a:off x="946418" y="3220303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Zendesk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1881453-4475-F8ED-FF45-A32D3B754F81}"/>
              </a:ext>
            </a:extLst>
          </p:cNvPr>
          <p:cNvSpPr/>
          <p:nvPr/>
        </p:nvSpPr>
        <p:spPr>
          <a:xfrm>
            <a:off x="4535591" y="1242942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IServ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341C07D-715C-1836-6E27-8448FB408644}"/>
              </a:ext>
            </a:extLst>
          </p:cNvPr>
          <p:cNvSpPr/>
          <p:nvPr/>
        </p:nvSpPr>
        <p:spPr>
          <a:xfrm>
            <a:off x="959909" y="2655512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SAP HRMS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AD0F134-ABB7-3EC3-767A-A9EF8C041E9C}"/>
              </a:ext>
            </a:extLst>
          </p:cNvPr>
          <p:cNvSpPr/>
          <p:nvPr/>
        </p:nvSpPr>
        <p:spPr>
          <a:xfrm>
            <a:off x="2555684" y="1259345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DX Team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FE6FE8E-AAE1-DA1C-7AF2-EEFAC1BF4FC0}"/>
              </a:ext>
            </a:extLst>
          </p:cNvPr>
          <p:cNvGrpSpPr/>
          <p:nvPr/>
        </p:nvGrpSpPr>
        <p:grpSpPr>
          <a:xfrm>
            <a:off x="4022913" y="5553788"/>
            <a:ext cx="457938" cy="166252"/>
            <a:chOff x="2946400" y="1460650"/>
            <a:chExt cx="508000" cy="235362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E8B4EA0-0FB4-9716-CFCD-C781398B4D17}"/>
                </a:ext>
              </a:extLst>
            </p:cNvPr>
            <p:cNvSpPr/>
            <p:nvPr/>
          </p:nvSpPr>
          <p:spPr>
            <a:xfrm>
              <a:off x="2946400" y="1460650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6A7BFA3-C2A4-A12D-C7D1-D9F5D5062EEA}"/>
                </a:ext>
              </a:extLst>
            </p:cNvPr>
            <p:cNvSpPr/>
            <p:nvPr/>
          </p:nvSpPr>
          <p:spPr>
            <a:xfrm>
              <a:off x="3073400" y="1460650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B079B04-3F4C-A6A3-028F-019435D81D2C}"/>
                </a:ext>
              </a:extLst>
            </p:cNvPr>
            <p:cNvSpPr/>
            <p:nvPr/>
          </p:nvSpPr>
          <p:spPr>
            <a:xfrm>
              <a:off x="3200400" y="1460650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E333017-8F10-579D-F463-E8AE2411F25E}"/>
                </a:ext>
              </a:extLst>
            </p:cNvPr>
            <p:cNvSpPr/>
            <p:nvPr/>
          </p:nvSpPr>
          <p:spPr>
            <a:xfrm>
              <a:off x="3327400" y="1460650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180FEAD-3D37-8B71-989F-A4902F0A2CCC}"/>
                </a:ext>
              </a:extLst>
            </p:cNvPr>
            <p:cNvSpPr/>
            <p:nvPr/>
          </p:nvSpPr>
          <p:spPr>
            <a:xfrm>
              <a:off x="2946400" y="1578331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6557DA8-3B79-07D8-7C19-8B69CCE0D02F}"/>
                </a:ext>
              </a:extLst>
            </p:cNvPr>
            <p:cNvSpPr/>
            <p:nvPr/>
          </p:nvSpPr>
          <p:spPr>
            <a:xfrm>
              <a:off x="3073400" y="1578331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4EE5AC7-D27B-6657-7FBC-24EAEA382E7F}"/>
                </a:ext>
              </a:extLst>
            </p:cNvPr>
            <p:cNvSpPr/>
            <p:nvPr/>
          </p:nvSpPr>
          <p:spPr>
            <a:xfrm>
              <a:off x="3200400" y="1578331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44A7058F-B279-B6AA-020F-E25F294BF684}"/>
                </a:ext>
              </a:extLst>
            </p:cNvPr>
            <p:cNvSpPr/>
            <p:nvPr/>
          </p:nvSpPr>
          <p:spPr>
            <a:xfrm>
              <a:off x="3327400" y="1578331"/>
              <a:ext cx="127000" cy="11768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A08BD6CB-AD75-E5B8-8C19-29E8E8D3C8EB}"/>
              </a:ext>
            </a:extLst>
          </p:cNvPr>
          <p:cNvSpPr txBox="1"/>
          <p:nvPr/>
        </p:nvSpPr>
        <p:spPr>
          <a:xfrm>
            <a:off x="4034398" y="5702455"/>
            <a:ext cx="350544" cy="125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Topics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6C4DB0D-D2EE-B9C5-8DBB-FB84E3E8AF20}"/>
              </a:ext>
            </a:extLst>
          </p:cNvPr>
          <p:cNvSpPr txBox="1"/>
          <p:nvPr/>
        </p:nvSpPr>
        <p:spPr>
          <a:xfrm>
            <a:off x="3872101" y="5428353"/>
            <a:ext cx="843889" cy="125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Message Broker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E17159EE-310E-4785-EFE5-DD3FDF6CA839}"/>
              </a:ext>
            </a:extLst>
          </p:cNvPr>
          <p:cNvSpPr/>
          <p:nvPr/>
        </p:nvSpPr>
        <p:spPr>
          <a:xfrm>
            <a:off x="5043373" y="3674143"/>
            <a:ext cx="835049" cy="629347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Buz Services</a:t>
            </a: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E5411957-000C-1F5F-05B4-15AAE42C315B}"/>
              </a:ext>
            </a:extLst>
          </p:cNvPr>
          <p:cNvSpPr/>
          <p:nvPr/>
        </p:nvSpPr>
        <p:spPr>
          <a:xfrm>
            <a:off x="7638708" y="2542866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API Gateway</a:t>
            </a:r>
          </a:p>
        </p:txBody>
      </p:sp>
      <p:sp>
        <p:nvSpPr>
          <p:cNvPr id="290" name="Rounded Rectangle 289">
            <a:extLst>
              <a:ext uri="{FF2B5EF4-FFF2-40B4-BE49-F238E27FC236}">
                <a16:creationId xmlns:a16="http://schemas.microsoft.com/office/drawing/2014/main" id="{A717C8B9-EB23-6DDC-ADBC-6AE1407CC423}"/>
              </a:ext>
            </a:extLst>
          </p:cNvPr>
          <p:cNvSpPr/>
          <p:nvPr/>
        </p:nvSpPr>
        <p:spPr>
          <a:xfrm>
            <a:off x="3549841" y="1250995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OpenText</a:t>
            </a:r>
          </a:p>
        </p:txBody>
      </p: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9B906075-F478-46E2-F68E-628F271AC4BE}"/>
              </a:ext>
            </a:extLst>
          </p:cNvPr>
          <p:cNvCxnSpPr>
            <a:cxnSpLocks/>
            <a:stCxn id="672" idx="1"/>
            <a:endCxn id="216" idx="3"/>
          </p:cNvCxnSpPr>
          <p:nvPr/>
        </p:nvCxnSpPr>
        <p:spPr>
          <a:xfrm flipH="1">
            <a:off x="8538708" y="2722866"/>
            <a:ext cx="65195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27CD3280-942F-2797-CD95-6AE94E3E052D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5895771" y="2722866"/>
            <a:ext cx="174293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021E5129-F47A-929D-0035-07A9CC81E98F}"/>
              </a:ext>
            </a:extLst>
          </p:cNvPr>
          <p:cNvCxnSpPr>
            <a:cxnSpLocks/>
            <a:stCxn id="345" idx="1"/>
            <a:endCxn id="507" idx="3"/>
          </p:cNvCxnSpPr>
          <p:nvPr/>
        </p:nvCxnSpPr>
        <p:spPr>
          <a:xfrm flipH="1" flipV="1">
            <a:off x="8538708" y="5608300"/>
            <a:ext cx="633969" cy="315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ounded Rectangle 344">
            <a:extLst>
              <a:ext uri="{FF2B5EF4-FFF2-40B4-BE49-F238E27FC236}">
                <a16:creationId xmlns:a16="http://schemas.microsoft.com/office/drawing/2014/main" id="{B556A814-515A-AD28-8E2D-234D0B665546}"/>
              </a:ext>
            </a:extLst>
          </p:cNvPr>
          <p:cNvSpPr/>
          <p:nvPr/>
        </p:nvSpPr>
        <p:spPr>
          <a:xfrm>
            <a:off x="9172677" y="5378418"/>
            <a:ext cx="900000" cy="466076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Power BI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4339B3CA-ABB7-5BDA-D8F6-55B59AA6EAD3}"/>
              </a:ext>
            </a:extLst>
          </p:cNvPr>
          <p:cNvSpPr/>
          <p:nvPr/>
        </p:nvSpPr>
        <p:spPr>
          <a:xfrm>
            <a:off x="747247" y="922066"/>
            <a:ext cx="1334670" cy="532037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6C1EB6A0-669A-A1C8-414A-143DD4EBC687}"/>
              </a:ext>
            </a:extLst>
          </p:cNvPr>
          <p:cNvCxnSpPr>
            <a:cxnSpLocks/>
            <a:endCxn id="38" idx="3"/>
          </p:cNvCxnSpPr>
          <p:nvPr/>
        </p:nvCxnSpPr>
        <p:spPr>
          <a:xfrm flipH="1" flipV="1">
            <a:off x="1859909" y="2835512"/>
            <a:ext cx="2025683" cy="245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B0589CE0-3074-5BD7-12D3-5B3255378D2A}"/>
              </a:ext>
            </a:extLst>
          </p:cNvPr>
          <p:cNvCxnSpPr>
            <a:cxnSpLocks/>
          </p:cNvCxnSpPr>
          <p:nvPr/>
        </p:nvCxnSpPr>
        <p:spPr>
          <a:xfrm flipH="1">
            <a:off x="1830389" y="3368196"/>
            <a:ext cx="206273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C5FECE86-C7AC-F8C8-A140-8F9CDC2A0E26}"/>
              </a:ext>
            </a:extLst>
          </p:cNvPr>
          <p:cNvCxnSpPr>
            <a:cxnSpLocks/>
            <a:stCxn id="345" idx="3"/>
          </p:cNvCxnSpPr>
          <p:nvPr/>
        </p:nvCxnSpPr>
        <p:spPr>
          <a:xfrm>
            <a:off x="10072677" y="5611456"/>
            <a:ext cx="51529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6A4D9D2D-B112-30A9-8360-9C456CCF3D78}"/>
              </a:ext>
            </a:extLst>
          </p:cNvPr>
          <p:cNvSpPr/>
          <p:nvPr/>
        </p:nvSpPr>
        <p:spPr>
          <a:xfrm>
            <a:off x="5895771" y="5407236"/>
            <a:ext cx="900000" cy="45935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Search Service</a:t>
            </a:r>
          </a:p>
        </p:txBody>
      </p:sp>
      <p:cxnSp>
        <p:nvCxnSpPr>
          <p:cNvPr id="498" name="Elbow Connector 497">
            <a:extLst>
              <a:ext uri="{FF2B5EF4-FFF2-40B4-BE49-F238E27FC236}">
                <a16:creationId xmlns:a16="http://schemas.microsoft.com/office/drawing/2014/main" id="{45AA7206-4875-834E-6E0B-0AEF0B0005E1}"/>
              </a:ext>
            </a:extLst>
          </p:cNvPr>
          <p:cNvCxnSpPr>
            <a:cxnSpLocks/>
          </p:cNvCxnSpPr>
          <p:nvPr/>
        </p:nvCxnSpPr>
        <p:spPr>
          <a:xfrm rot="5400000" flipH="1">
            <a:off x="5314291" y="4835977"/>
            <a:ext cx="38701" cy="2136101"/>
          </a:xfrm>
          <a:prstGeom prst="bentConnector3">
            <a:avLst>
              <a:gd name="adj1" fmla="val -590682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Can 502">
            <a:extLst>
              <a:ext uri="{FF2B5EF4-FFF2-40B4-BE49-F238E27FC236}">
                <a16:creationId xmlns:a16="http://schemas.microsoft.com/office/drawing/2014/main" id="{3D0BF5CF-C7F3-27D1-4FAD-A222D1A267C3}"/>
              </a:ext>
            </a:extLst>
          </p:cNvPr>
          <p:cNvSpPr/>
          <p:nvPr/>
        </p:nvSpPr>
        <p:spPr>
          <a:xfrm>
            <a:off x="6089742" y="3742670"/>
            <a:ext cx="566500" cy="562233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EPMP Data -Primary</a:t>
            </a:r>
          </a:p>
        </p:txBody>
      </p:sp>
      <p:sp>
        <p:nvSpPr>
          <p:cNvPr id="504" name="Rounded Rectangle 503">
            <a:extLst>
              <a:ext uri="{FF2B5EF4-FFF2-40B4-BE49-F238E27FC236}">
                <a16:creationId xmlns:a16="http://schemas.microsoft.com/office/drawing/2014/main" id="{C73C716A-9715-A193-B25A-C05953D78670}"/>
              </a:ext>
            </a:extLst>
          </p:cNvPr>
          <p:cNvSpPr/>
          <p:nvPr/>
        </p:nvSpPr>
        <p:spPr>
          <a:xfrm>
            <a:off x="7635684" y="3793744"/>
            <a:ext cx="900000" cy="466081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Data Ingestion Qlik</a:t>
            </a:r>
          </a:p>
        </p:txBody>
      </p:sp>
      <p:sp>
        <p:nvSpPr>
          <p:cNvPr id="506" name="Rounded Rectangle 505">
            <a:extLst>
              <a:ext uri="{FF2B5EF4-FFF2-40B4-BE49-F238E27FC236}">
                <a16:creationId xmlns:a16="http://schemas.microsoft.com/office/drawing/2014/main" id="{E91BC86B-EEB4-B0F0-EAB1-2053BDBDC95F}"/>
              </a:ext>
            </a:extLst>
          </p:cNvPr>
          <p:cNvSpPr/>
          <p:nvPr/>
        </p:nvSpPr>
        <p:spPr>
          <a:xfrm>
            <a:off x="7635684" y="4603474"/>
            <a:ext cx="900000" cy="466081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Data Lake</a:t>
            </a:r>
          </a:p>
        </p:txBody>
      </p:sp>
      <p:sp>
        <p:nvSpPr>
          <p:cNvPr id="507" name="Rounded Rectangle 506">
            <a:extLst>
              <a:ext uri="{FF2B5EF4-FFF2-40B4-BE49-F238E27FC236}">
                <a16:creationId xmlns:a16="http://schemas.microsoft.com/office/drawing/2014/main" id="{9B15F99B-DB35-6DEC-DF7A-9D583609C45B}"/>
              </a:ext>
            </a:extLst>
          </p:cNvPr>
          <p:cNvSpPr/>
          <p:nvPr/>
        </p:nvSpPr>
        <p:spPr>
          <a:xfrm>
            <a:off x="7638708" y="5375259"/>
            <a:ext cx="900000" cy="466081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Data Access Layer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C3FC0146-2D91-CC26-1583-5F76BD313901}"/>
              </a:ext>
            </a:extLst>
          </p:cNvPr>
          <p:cNvSpPr/>
          <p:nvPr/>
        </p:nvSpPr>
        <p:spPr>
          <a:xfrm>
            <a:off x="2400351" y="908803"/>
            <a:ext cx="8039049" cy="532037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FF7D63DD-2E77-2600-6C6C-6205877808C8}"/>
              </a:ext>
            </a:extLst>
          </p:cNvPr>
          <p:cNvCxnSpPr>
            <a:cxnSpLocks/>
            <a:stCxn id="503" idx="4"/>
            <a:endCxn id="504" idx="1"/>
          </p:cNvCxnSpPr>
          <p:nvPr/>
        </p:nvCxnSpPr>
        <p:spPr>
          <a:xfrm>
            <a:off x="6656242" y="4023787"/>
            <a:ext cx="979442" cy="299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Arrow Connector 516">
            <a:extLst>
              <a:ext uri="{FF2B5EF4-FFF2-40B4-BE49-F238E27FC236}">
                <a16:creationId xmlns:a16="http://schemas.microsoft.com/office/drawing/2014/main" id="{D7A58745-D4D4-E109-9FB6-BB4D9B19E87D}"/>
              </a:ext>
            </a:extLst>
          </p:cNvPr>
          <p:cNvCxnSpPr>
            <a:cxnSpLocks/>
            <a:stCxn id="504" idx="2"/>
            <a:endCxn id="506" idx="0"/>
          </p:cNvCxnSpPr>
          <p:nvPr/>
        </p:nvCxnSpPr>
        <p:spPr>
          <a:xfrm>
            <a:off x="8085684" y="4259825"/>
            <a:ext cx="0" cy="34364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Arrow Connector 520">
            <a:extLst>
              <a:ext uri="{FF2B5EF4-FFF2-40B4-BE49-F238E27FC236}">
                <a16:creationId xmlns:a16="http://schemas.microsoft.com/office/drawing/2014/main" id="{899C5C69-CD58-0177-85DF-08D6A4556674}"/>
              </a:ext>
            </a:extLst>
          </p:cNvPr>
          <p:cNvCxnSpPr>
            <a:cxnSpLocks/>
            <a:stCxn id="506" idx="2"/>
            <a:endCxn id="507" idx="0"/>
          </p:cNvCxnSpPr>
          <p:nvPr/>
        </p:nvCxnSpPr>
        <p:spPr>
          <a:xfrm>
            <a:off x="8085684" y="5069555"/>
            <a:ext cx="3024" cy="3057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ounded Rectangle 541">
            <a:extLst>
              <a:ext uri="{FF2B5EF4-FFF2-40B4-BE49-F238E27FC236}">
                <a16:creationId xmlns:a16="http://schemas.microsoft.com/office/drawing/2014/main" id="{1C4B0CC1-5AD5-58A9-19FC-90706E0CBCA7}"/>
              </a:ext>
            </a:extLst>
          </p:cNvPr>
          <p:cNvSpPr/>
          <p:nvPr/>
        </p:nvSpPr>
        <p:spPr>
          <a:xfrm>
            <a:off x="5043373" y="2555413"/>
            <a:ext cx="835049" cy="43876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BFF Services</a:t>
            </a:r>
          </a:p>
        </p:txBody>
      </p:sp>
      <p:sp>
        <p:nvSpPr>
          <p:cNvPr id="544" name="Rounded Rectangle 543">
            <a:extLst>
              <a:ext uri="{FF2B5EF4-FFF2-40B4-BE49-F238E27FC236}">
                <a16:creationId xmlns:a16="http://schemas.microsoft.com/office/drawing/2014/main" id="{E7CAAEF0-F353-8CE1-8AA4-404DD6C81BBD}"/>
              </a:ext>
            </a:extLst>
          </p:cNvPr>
          <p:cNvSpPr/>
          <p:nvPr/>
        </p:nvSpPr>
        <p:spPr>
          <a:xfrm>
            <a:off x="5043373" y="3082207"/>
            <a:ext cx="823840" cy="46598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Orchestrator  Services</a:t>
            </a:r>
          </a:p>
        </p:txBody>
      </p:sp>
      <p:cxnSp>
        <p:nvCxnSpPr>
          <p:cNvPr id="551" name="Elbow Connector 550">
            <a:extLst>
              <a:ext uri="{FF2B5EF4-FFF2-40B4-BE49-F238E27FC236}">
                <a16:creationId xmlns:a16="http://schemas.microsoft.com/office/drawing/2014/main" id="{13098DC4-D4ED-A9B0-A902-8B916BFCD6F1}"/>
              </a:ext>
            </a:extLst>
          </p:cNvPr>
          <p:cNvCxnSpPr>
            <a:cxnSpLocks/>
            <a:stCxn id="544" idx="1"/>
            <a:endCxn id="29" idx="0"/>
          </p:cNvCxnSpPr>
          <p:nvPr/>
        </p:nvCxnSpPr>
        <p:spPr>
          <a:xfrm rot="10800000" flipV="1">
            <a:off x="4695941" y="3315201"/>
            <a:ext cx="347433" cy="234193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Rounded Rectangle 553">
            <a:extLst>
              <a:ext uri="{FF2B5EF4-FFF2-40B4-BE49-F238E27FC236}">
                <a16:creationId xmlns:a16="http://schemas.microsoft.com/office/drawing/2014/main" id="{5B5BF095-F2DE-7215-27A1-F57DF9BE33E9}"/>
              </a:ext>
            </a:extLst>
          </p:cNvPr>
          <p:cNvSpPr/>
          <p:nvPr/>
        </p:nvSpPr>
        <p:spPr>
          <a:xfrm>
            <a:off x="5971931" y="3096718"/>
            <a:ext cx="823840" cy="46598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Services</a:t>
            </a:r>
          </a:p>
        </p:txBody>
      </p:sp>
      <p:sp>
        <p:nvSpPr>
          <p:cNvPr id="559" name="Rounded Rectangle 558">
            <a:extLst>
              <a:ext uri="{FF2B5EF4-FFF2-40B4-BE49-F238E27FC236}">
                <a16:creationId xmlns:a16="http://schemas.microsoft.com/office/drawing/2014/main" id="{280F38DD-DCA8-A306-F27D-68517DD53957}"/>
              </a:ext>
            </a:extLst>
          </p:cNvPr>
          <p:cNvSpPr/>
          <p:nvPr/>
        </p:nvSpPr>
        <p:spPr>
          <a:xfrm>
            <a:off x="7632752" y="3096626"/>
            <a:ext cx="900000" cy="466081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LLM</a:t>
            </a: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BE04D91A-D34D-32DF-7704-EDF0235C3134}"/>
              </a:ext>
            </a:extLst>
          </p:cNvPr>
          <p:cNvSpPr txBox="1"/>
          <p:nvPr/>
        </p:nvSpPr>
        <p:spPr>
          <a:xfrm>
            <a:off x="2495525" y="3918392"/>
            <a:ext cx="1416149" cy="2474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Webhook/Push/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REST API /Https</a:t>
            </a:r>
          </a:p>
        </p:txBody>
      </p:sp>
      <p:cxnSp>
        <p:nvCxnSpPr>
          <p:cNvPr id="598" name="Straight Arrow Connector 597">
            <a:extLst>
              <a:ext uri="{FF2B5EF4-FFF2-40B4-BE49-F238E27FC236}">
                <a16:creationId xmlns:a16="http://schemas.microsoft.com/office/drawing/2014/main" id="{95AC54E0-9B8F-799E-83A9-DF6395FAE6C3}"/>
              </a:ext>
            </a:extLst>
          </p:cNvPr>
          <p:cNvCxnSpPr/>
          <p:nvPr/>
        </p:nvCxnSpPr>
        <p:spPr>
          <a:xfrm>
            <a:off x="4320369" y="4269024"/>
            <a:ext cx="0" cy="1147628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Elbow Connector 599">
            <a:extLst>
              <a:ext uri="{FF2B5EF4-FFF2-40B4-BE49-F238E27FC236}">
                <a16:creationId xmlns:a16="http://schemas.microsoft.com/office/drawing/2014/main" id="{E228FCB9-F11B-68F8-4024-964AC2512D3E}"/>
              </a:ext>
            </a:extLst>
          </p:cNvPr>
          <p:cNvCxnSpPr>
            <a:cxnSpLocks/>
            <a:stCxn id="197" idx="2"/>
          </p:cNvCxnSpPr>
          <p:nvPr/>
        </p:nvCxnSpPr>
        <p:spPr>
          <a:xfrm rot="5400000">
            <a:off x="4386829" y="4709019"/>
            <a:ext cx="1479598" cy="668541"/>
          </a:xfrm>
          <a:prstGeom prst="bentConnector3">
            <a:avLst>
              <a:gd name="adj1" fmla="val 98925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TextBox 603">
            <a:extLst>
              <a:ext uri="{FF2B5EF4-FFF2-40B4-BE49-F238E27FC236}">
                <a16:creationId xmlns:a16="http://schemas.microsoft.com/office/drawing/2014/main" id="{BD622C3A-947E-AC03-1B5B-64D7F16A48E2}"/>
              </a:ext>
            </a:extLst>
          </p:cNvPr>
          <p:cNvSpPr txBox="1"/>
          <p:nvPr/>
        </p:nvSpPr>
        <p:spPr>
          <a:xfrm rot="19317062">
            <a:off x="3919808" y="4870137"/>
            <a:ext cx="691567" cy="147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Published JIRA Events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24749BD0-E9D6-853A-479D-235EEE85FBDC}"/>
              </a:ext>
            </a:extLst>
          </p:cNvPr>
          <p:cNvSpPr txBox="1"/>
          <p:nvPr/>
        </p:nvSpPr>
        <p:spPr>
          <a:xfrm rot="19291555">
            <a:off x="5054819" y="4823146"/>
            <a:ext cx="777159" cy="2613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Consumer for JIRA Events</a:t>
            </a: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53B408E5-6703-8772-9F4E-0123EC65B0E5}"/>
              </a:ext>
            </a:extLst>
          </p:cNvPr>
          <p:cNvSpPr txBox="1"/>
          <p:nvPr/>
        </p:nvSpPr>
        <p:spPr>
          <a:xfrm rot="19193510">
            <a:off x="4551165" y="4882399"/>
            <a:ext cx="528025" cy="1970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Business Events</a:t>
            </a:r>
          </a:p>
        </p:txBody>
      </p:sp>
      <p:cxnSp>
        <p:nvCxnSpPr>
          <p:cNvPr id="613" name="Straight Arrow Connector 612">
            <a:extLst>
              <a:ext uri="{FF2B5EF4-FFF2-40B4-BE49-F238E27FC236}">
                <a16:creationId xmlns:a16="http://schemas.microsoft.com/office/drawing/2014/main" id="{B3D3ABF4-4A8C-9BB9-7B24-C600D8E0E266}"/>
              </a:ext>
            </a:extLst>
          </p:cNvPr>
          <p:cNvCxnSpPr>
            <a:cxnSpLocks/>
          </p:cNvCxnSpPr>
          <p:nvPr/>
        </p:nvCxnSpPr>
        <p:spPr>
          <a:xfrm>
            <a:off x="4641042" y="3200400"/>
            <a:ext cx="382281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6" name="TextBox 615">
            <a:extLst>
              <a:ext uri="{FF2B5EF4-FFF2-40B4-BE49-F238E27FC236}">
                <a16:creationId xmlns:a16="http://schemas.microsoft.com/office/drawing/2014/main" id="{013F4484-A0B8-2BE4-68FF-DDE593F7C1C8}"/>
              </a:ext>
            </a:extLst>
          </p:cNvPr>
          <p:cNvSpPr txBox="1"/>
          <p:nvPr/>
        </p:nvSpPr>
        <p:spPr>
          <a:xfrm>
            <a:off x="2541260" y="2701920"/>
            <a:ext cx="1285214" cy="1658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Pull/REST API /Https</a:t>
            </a: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BCABB0D1-3146-77FB-EE0F-62DDF59B838B}"/>
              </a:ext>
            </a:extLst>
          </p:cNvPr>
          <p:cNvSpPr txBox="1"/>
          <p:nvPr/>
        </p:nvSpPr>
        <p:spPr>
          <a:xfrm>
            <a:off x="2471471" y="3246436"/>
            <a:ext cx="1285214" cy="1658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Pull/REST API /Https</a:t>
            </a: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618C8A6C-D7FB-A425-E422-E3AAB3311E4A}"/>
              </a:ext>
            </a:extLst>
          </p:cNvPr>
          <p:cNvSpPr txBox="1"/>
          <p:nvPr/>
        </p:nvSpPr>
        <p:spPr>
          <a:xfrm>
            <a:off x="2714829" y="1829998"/>
            <a:ext cx="891252" cy="191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Pull/REST API /Https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7CF59556-F64A-1644-5807-69BF0FA761E3}"/>
              </a:ext>
            </a:extLst>
          </p:cNvPr>
          <p:cNvSpPr txBox="1"/>
          <p:nvPr/>
        </p:nvSpPr>
        <p:spPr>
          <a:xfrm>
            <a:off x="3607443" y="1805663"/>
            <a:ext cx="900000" cy="153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Push/Pull REST API /Https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94A42298-2EF9-CB5A-EF21-0BFF89DC05D1}"/>
              </a:ext>
            </a:extLst>
          </p:cNvPr>
          <p:cNvSpPr txBox="1"/>
          <p:nvPr/>
        </p:nvSpPr>
        <p:spPr>
          <a:xfrm>
            <a:off x="4985591" y="5912071"/>
            <a:ext cx="1040015" cy="259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 Events Consumer</a:t>
            </a: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C0DCDA78-E2C3-C587-17DB-0C2F447451C6}"/>
              </a:ext>
            </a:extLst>
          </p:cNvPr>
          <p:cNvSpPr txBox="1"/>
          <p:nvPr/>
        </p:nvSpPr>
        <p:spPr>
          <a:xfrm>
            <a:off x="796703" y="967240"/>
            <a:ext cx="1285214" cy="1658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SaaS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7A4F94E0-7DED-55B5-82E0-7E787C5E5981}"/>
              </a:ext>
            </a:extLst>
          </p:cNvPr>
          <p:cNvSpPr txBox="1"/>
          <p:nvPr/>
        </p:nvSpPr>
        <p:spPr>
          <a:xfrm>
            <a:off x="2571434" y="967240"/>
            <a:ext cx="1285214" cy="1658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</a:t>
            </a:r>
          </a:p>
        </p:txBody>
      </p: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38342177-7BFD-2960-09F1-77F28280EA21}"/>
              </a:ext>
            </a:extLst>
          </p:cNvPr>
          <p:cNvCxnSpPr>
            <a:cxnSpLocks/>
          </p:cNvCxnSpPr>
          <p:nvPr/>
        </p:nvCxnSpPr>
        <p:spPr>
          <a:xfrm flipV="1">
            <a:off x="4137398" y="1602942"/>
            <a:ext cx="0" cy="900921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107C9C7-D5FE-2BA6-ED13-53072D812ADB}"/>
              </a:ext>
            </a:extLst>
          </p:cNvPr>
          <p:cNvCxnSpPr>
            <a:cxnSpLocks/>
            <a:endCxn id="37" idx="2"/>
          </p:cNvCxnSpPr>
          <p:nvPr/>
        </p:nvCxnSpPr>
        <p:spPr>
          <a:xfrm rot="5400000" flipH="1" flipV="1">
            <a:off x="4259900" y="1753631"/>
            <a:ext cx="876380" cy="575002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B294BCCF-E64C-FC85-1D29-EA207AA7A054}"/>
              </a:ext>
            </a:extLst>
          </p:cNvPr>
          <p:cNvCxnSpPr>
            <a:cxnSpLocks/>
          </p:cNvCxnSpPr>
          <p:nvPr/>
        </p:nvCxnSpPr>
        <p:spPr>
          <a:xfrm>
            <a:off x="1870251" y="4093624"/>
            <a:ext cx="2044956" cy="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Rounded Rectangle 643">
            <a:extLst>
              <a:ext uri="{FF2B5EF4-FFF2-40B4-BE49-F238E27FC236}">
                <a16:creationId xmlns:a16="http://schemas.microsoft.com/office/drawing/2014/main" id="{405C566F-8AAF-E922-72EE-4FAECE615BE5}"/>
              </a:ext>
            </a:extLst>
          </p:cNvPr>
          <p:cNvSpPr/>
          <p:nvPr/>
        </p:nvSpPr>
        <p:spPr>
          <a:xfrm>
            <a:off x="2555684" y="5407236"/>
            <a:ext cx="1017227" cy="45935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Key/Secret Management </a:t>
            </a:r>
          </a:p>
        </p:txBody>
      </p:sp>
      <p:cxnSp>
        <p:nvCxnSpPr>
          <p:cNvPr id="651" name="Straight Arrow Connector 650">
            <a:extLst>
              <a:ext uri="{FF2B5EF4-FFF2-40B4-BE49-F238E27FC236}">
                <a16:creationId xmlns:a16="http://schemas.microsoft.com/office/drawing/2014/main" id="{6F220D09-F6A5-601F-4BE6-3825BF99D74B}"/>
              </a:ext>
            </a:extLst>
          </p:cNvPr>
          <p:cNvCxnSpPr>
            <a:endCxn id="644" idx="0"/>
          </p:cNvCxnSpPr>
          <p:nvPr/>
        </p:nvCxnSpPr>
        <p:spPr>
          <a:xfrm flipH="1">
            <a:off x="3064298" y="4249259"/>
            <a:ext cx="935543" cy="1157977"/>
          </a:xfrm>
          <a:prstGeom prst="straightConnector1">
            <a:avLst/>
          </a:prstGeom>
          <a:ln w="9525">
            <a:solidFill>
              <a:schemeClr val="bg2">
                <a:lumMod val="7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Elbow Connector 656">
            <a:extLst>
              <a:ext uri="{FF2B5EF4-FFF2-40B4-BE49-F238E27FC236}">
                <a16:creationId xmlns:a16="http://schemas.microsoft.com/office/drawing/2014/main" id="{2486AE42-910C-E5D5-97C5-D661CD0C16E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64439" y="1642721"/>
            <a:ext cx="1039542" cy="959993"/>
          </a:xfrm>
          <a:prstGeom prst="bentConnector3">
            <a:avLst>
              <a:gd name="adj1" fmla="val -131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97E17F47-2AA1-5921-F7E6-EADFEC4B6822}"/>
              </a:ext>
            </a:extLst>
          </p:cNvPr>
          <p:cNvSpPr txBox="1"/>
          <p:nvPr/>
        </p:nvSpPr>
        <p:spPr>
          <a:xfrm>
            <a:off x="5023323" y="1805176"/>
            <a:ext cx="891252" cy="191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 / REST API /Https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5D324B90-DB03-1E6D-4D3D-AAB14E442957}"/>
              </a:ext>
            </a:extLst>
          </p:cNvPr>
          <p:cNvSpPr txBox="1"/>
          <p:nvPr/>
        </p:nvSpPr>
        <p:spPr>
          <a:xfrm>
            <a:off x="6549807" y="2529332"/>
            <a:ext cx="891252" cy="191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REST API /Https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D062BB07-C2AD-AEAD-87C1-F0CED0188587}"/>
              </a:ext>
            </a:extLst>
          </p:cNvPr>
          <p:cNvSpPr txBox="1"/>
          <p:nvPr/>
        </p:nvSpPr>
        <p:spPr>
          <a:xfrm>
            <a:off x="8645473" y="2542866"/>
            <a:ext cx="891252" cy="191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REST API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 /Https</a:t>
            </a:r>
          </a:p>
        </p:txBody>
      </p:sp>
      <p:sp>
        <p:nvSpPr>
          <p:cNvPr id="672" name="Rounded Rectangle 671">
            <a:extLst>
              <a:ext uri="{FF2B5EF4-FFF2-40B4-BE49-F238E27FC236}">
                <a16:creationId xmlns:a16="http://schemas.microsoft.com/office/drawing/2014/main" id="{FBFA40B7-404D-A082-DC47-C8E2E05854A8}"/>
              </a:ext>
            </a:extLst>
          </p:cNvPr>
          <p:cNvSpPr/>
          <p:nvPr/>
        </p:nvSpPr>
        <p:spPr>
          <a:xfrm>
            <a:off x="9190658" y="2542866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UI</a:t>
            </a:r>
          </a:p>
        </p:txBody>
      </p: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04B22489-40D4-FBBC-002F-298CDDD7BEBB}"/>
              </a:ext>
            </a:extLst>
          </p:cNvPr>
          <p:cNvCxnSpPr>
            <a:cxnSpLocks/>
          </p:cNvCxnSpPr>
          <p:nvPr/>
        </p:nvCxnSpPr>
        <p:spPr>
          <a:xfrm>
            <a:off x="10090658" y="2734008"/>
            <a:ext cx="51529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8" name="Group 677">
            <a:extLst>
              <a:ext uri="{FF2B5EF4-FFF2-40B4-BE49-F238E27FC236}">
                <a16:creationId xmlns:a16="http://schemas.microsoft.com/office/drawing/2014/main" id="{7FD4DD5E-0A6C-77D5-459C-58494E2316B9}"/>
              </a:ext>
            </a:extLst>
          </p:cNvPr>
          <p:cNvGrpSpPr/>
          <p:nvPr/>
        </p:nvGrpSpPr>
        <p:grpSpPr>
          <a:xfrm>
            <a:off x="10766864" y="2613550"/>
            <a:ext cx="292480" cy="226520"/>
            <a:chOff x="3114839" y="460107"/>
            <a:chExt cx="292480" cy="226520"/>
          </a:xfrm>
        </p:grpSpPr>
        <p:pic>
          <p:nvPicPr>
            <p:cNvPr id="679" name="Graphic 678" descr="Man with solid fill">
              <a:extLst>
                <a:ext uri="{FF2B5EF4-FFF2-40B4-BE49-F238E27FC236}">
                  <a16:creationId xmlns:a16="http://schemas.microsoft.com/office/drawing/2014/main" id="{DD458C37-E235-72F9-D41E-73C61847A7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680" name="Graphic 679" descr="Man with solid fill">
              <a:extLst>
                <a:ext uri="{FF2B5EF4-FFF2-40B4-BE49-F238E27FC236}">
                  <a16:creationId xmlns:a16="http://schemas.microsoft.com/office/drawing/2014/main" id="{C3B139A9-8570-04D5-EE60-1B91DED235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4C01E455-BBA2-EE96-B7D4-480B0529306F}"/>
              </a:ext>
            </a:extLst>
          </p:cNvPr>
          <p:cNvGrpSpPr/>
          <p:nvPr/>
        </p:nvGrpSpPr>
        <p:grpSpPr>
          <a:xfrm>
            <a:off x="10580309" y="2613550"/>
            <a:ext cx="292480" cy="226520"/>
            <a:chOff x="3114839" y="460107"/>
            <a:chExt cx="292480" cy="226520"/>
          </a:xfrm>
          <a:solidFill>
            <a:schemeClr val="accent2">
              <a:lumMod val="75000"/>
            </a:schemeClr>
          </a:solidFill>
        </p:grpSpPr>
        <p:pic>
          <p:nvPicPr>
            <p:cNvPr id="682" name="Graphic 681" descr="Man with solid fill">
              <a:extLst>
                <a:ext uri="{FF2B5EF4-FFF2-40B4-BE49-F238E27FC236}">
                  <a16:creationId xmlns:a16="http://schemas.microsoft.com/office/drawing/2014/main" id="{6FB855EF-B1AD-1DF1-379E-E729660AA4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683" name="Graphic 682" descr="Man with solid fill">
              <a:extLst>
                <a:ext uri="{FF2B5EF4-FFF2-40B4-BE49-F238E27FC236}">
                  <a16:creationId xmlns:a16="http://schemas.microsoft.com/office/drawing/2014/main" id="{9829844A-4E6E-715E-EEBA-F29416D79C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15187ABE-9C9E-2F45-823E-291CA0563EC1}"/>
              </a:ext>
            </a:extLst>
          </p:cNvPr>
          <p:cNvGrpSpPr/>
          <p:nvPr/>
        </p:nvGrpSpPr>
        <p:grpSpPr>
          <a:xfrm>
            <a:off x="10766864" y="5484614"/>
            <a:ext cx="292480" cy="226520"/>
            <a:chOff x="3114839" y="460107"/>
            <a:chExt cx="292480" cy="226520"/>
          </a:xfrm>
        </p:grpSpPr>
        <p:pic>
          <p:nvPicPr>
            <p:cNvPr id="685" name="Graphic 684" descr="Man with solid fill">
              <a:extLst>
                <a:ext uri="{FF2B5EF4-FFF2-40B4-BE49-F238E27FC236}">
                  <a16:creationId xmlns:a16="http://schemas.microsoft.com/office/drawing/2014/main" id="{7C9972C0-0F1E-63B7-D672-D843815CBB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686" name="Graphic 685" descr="Man with solid fill">
              <a:extLst>
                <a:ext uri="{FF2B5EF4-FFF2-40B4-BE49-F238E27FC236}">
                  <a16:creationId xmlns:a16="http://schemas.microsoft.com/office/drawing/2014/main" id="{2D0DA8B5-2140-8E11-444B-8579CCFBA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47E552D8-CA9D-2D92-E9A5-6E119F55F13D}"/>
              </a:ext>
            </a:extLst>
          </p:cNvPr>
          <p:cNvGrpSpPr/>
          <p:nvPr/>
        </p:nvGrpSpPr>
        <p:grpSpPr>
          <a:xfrm>
            <a:off x="10580309" y="5484614"/>
            <a:ext cx="292480" cy="226520"/>
            <a:chOff x="3114839" y="460107"/>
            <a:chExt cx="292480" cy="226520"/>
          </a:xfrm>
          <a:solidFill>
            <a:schemeClr val="accent2">
              <a:lumMod val="75000"/>
            </a:schemeClr>
          </a:solidFill>
        </p:grpSpPr>
        <p:pic>
          <p:nvPicPr>
            <p:cNvPr id="688" name="Graphic 687" descr="Man with solid fill">
              <a:extLst>
                <a:ext uri="{FF2B5EF4-FFF2-40B4-BE49-F238E27FC236}">
                  <a16:creationId xmlns:a16="http://schemas.microsoft.com/office/drawing/2014/main" id="{92FE9B21-3871-8585-0E42-531DE01DE1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14839" y="460107"/>
              <a:ext cx="226520" cy="226520"/>
            </a:xfrm>
            <a:prstGeom prst="rect">
              <a:avLst/>
            </a:prstGeom>
          </p:spPr>
        </p:pic>
        <p:pic>
          <p:nvPicPr>
            <p:cNvPr id="689" name="Graphic 688" descr="Man with solid fill">
              <a:extLst>
                <a:ext uri="{FF2B5EF4-FFF2-40B4-BE49-F238E27FC236}">
                  <a16:creationId xmlns:a16="http://schemas.microsoft.com/office/drawing/2014/main" id="{062D7AAC-68B5-284B-ACE4-B32C5DE503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80799" y="460107"/>
              <a:ext cx="226520" cy="226520"/>
            </a:xfrm>
            <a:prstGeom prst="rect">
              <a:avLst/>
            </a:prstGeom>
          </p:spPr>
        </p:pic>
      </p:grp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FDCA27DA-231A-AAAE-BB6F-7A90415CE265}"/>
              </a:ext>
            </a:extLst>
          </p:cNvPr>
          <p:cNvCxnSpPr>
            <a:cxnSpLocks/>
            <a:endCxn id="559" idx="1"/>
          </p:cNvCxnSpPr>
          <p:nvPr/>
        </p:nvCxnSpPr>
        <p:spPr>
          <a:xfrm>
            <a:off x="6795242" y="3329667"/>
            <a:ext cx="837510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>
            <a:extLst>
              <a:ext uri="{FF2B5EF4-FFF2-40B4-BE49-F238E27FC236}">
                <a16:creationId xmlns:a16="http://schemas.microsoft.com/office/drawing/2014/main" id="{B53468BF-24A3-9D43-D8F1-483325305D95}"/>
              </a:ext>
            </a:extLst>
          </p:cNvPr>
          <p:cNvSpPr txBox="1"/>
          <p:nvPr/>
        </p:nvSpPr>
        <p:spPr>
          <a:xfrm>
            <a:off x="7054741" y="3837969"/>
            <a:ext cx="549722" cy="182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Push/CDC</a:t>
            </a:r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91A91F1F-BC27-CB0E-1F4A-D1E19C93A0AB}"/>
              </a:ext>
            </a:extLst>
          </p:cNvPr>
          <p:cNvSpPr txBox="1"/>
          <p:nvPr/>
        </p:nvSpPr>
        <p:spPr>
          <a:xfrm>
            <a:off x="8129258" y="4383110"/>
            <a:ext cx="549722" cy="182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Push</a:t>
            </a: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AF60AEDB-101D-50EC-DE49-787CD55F9C9F}"/>
              </a:ext>
            </a:extLst>
          </p:cNvPr>
          <p:cNvSpPr txBox="1"/>
          <p:nvPr/>
        </p:nvSpPr>
        <p:spPr>
          <a:xfrm>
            <a:off x="8749243" y="5412217"/>
            <a:ext cx="549722" cy="182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</a:t>
            </a: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621DCD14-8F4C-5214-5B5D-9DC7618FAE19}"/>
              </a:ext>
            </a:extLst>
          </p:cNvPr>
          <p:cNvSpPr txBox="1"/>
          <p:nvPr/>
        </p:nvSpPr>
        <p:spPr>
          <a:xfrm>
            <a:off x="2752556" y="4731331"/>
            <a:ext cx="1416149" cy="36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Keys (ClientID/Secret)/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JIRA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CloudID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B89AB310-CFAE-16AF-A3C5-3D3B65C6A266}"/>
              </a:ext>
            </a:extLst>
          </p:cNvPr>
          <p:cNvSpPr txBox="1"/>
          <p:nvPr/>
        </p:nvSpPr>
        <p:spPr>
          <a:xfrm>
            <a:off x="6830727" y="3113010"/>
            <a:ext cx="891252" cy="191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REST API/Https</a:t>
            </a:r>
          </a:p>
        </p:txBody>
      </p:sp>
      <p:sp>
        <p:nvSpPr>
          <p:cNvPr id="719" name="Rounded Rectangle 718">
            <a:extLst>
              <a:ext uri="{FF2B5EF4-FFF2-40B4-BE49-F238E27FC236}">
                <a16:creationId xmlns:a16="http://schemas.microsoft.com/office/drawing/2014/main" id="{F4FE886E-AD61-31FC-0D8E-E894041250EC}"/>
              </a:ext>
            </a:extLst>
          </p:cNvPr>
          <p:cNvSpPr/>
          <p:nvPr/>
        </p:nvSpPr>
        <p:spPr>
          <a:xfrm>
            <a:off x="7632752" y="1259345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Entra ID</a:t>
            </a: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3D8E36A-26F3-A78A-E30B-26F363D7EB52}"/>
              </a:ext>
            </a:extLst>
          </p:cNvPr>
          <p:cNvCxnSpPr>
            <a:cxnSpLocks/>
            <a:stCxn id="719" idx="2"/>
            <a:endCxn id="216" idx="0"/>
          </p:cNvCxnSpPr>
          <p:nvPr/>
        </p:nvCxnSpPr>
        <p:spPr>
          <a:xfrm>
            <a:off x="8082752" y="1619345"/>
            <a:ext cx="5956" cy="923521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>
            <a:extLst>
              <a:ext uri="{FF2B5EF4-FFF2-40B4-BE49-F238E27FC236}">
                <a16:creationId xmlns:a16="http://schemas.microsoft.com/office/drawing/2014/main" id="{C87B072A-6C5B-B1BD-4E14-C1E4C8EFB57E}"/>
              </a:ext>
            </a:extLst>
          </p:cNvPr>
          <p:cNvSpPr txBox="1"/>
          <p:nvPr/>
        </p:nvSpPr>
        <p:spPr>
          <a:xfrm>
            <a:off x="8127156" y="1769139"/>
            <a:ext cx="1057545" cy="2080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REST API/Https</a:t>
            </a:r>
          </a:p>
        </p:txBody>
      </p:sp>
      <p:sp>
        <p:nvSpPr>
          <p:cNvPr id="727" name="Rounded Rectangle 726">
            <a:extLst>
              <a:ext uri="{FF2B5EF4-FFF2-40B4-BE49-F238E27FC236}">
                <a16:creationId xmlns:a16="http://schemas.microsoft.com/office/drawing/2014/main" id="{7626EDE9-3934-B766-6D9F-83B5BBFF78D9}"/>
              </a:ext>
            </a:extLst>
          </p:cNvPr>
          <p:cNvSpPr/>
          <p:nvPr/>
        </p:nvSpPr>
        <p:spPr>
          <a:xfrm>
            <a:off x="5922992" y="4839877"/>
            <a:ext cx="900000" cy="45935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App Dynamics</a:t>
            </a:r>
          </a:p>
        </p:txBody>
      </p:sp>
      <p:cxnSp>
        <p:nvCxnSpPr>
          <p:cNvPr id="731" name="Straight Arrow Connector 730">
            <a:extLst>
              <a:ext uri="{FF2B5EF4-FFF2-40B4-BE49-F238E27FC236}">
                <a16:creationId xmlns:a16="http://schemas.microsoft.com/office/drawing/2014/main" id="{C218F261-DCF2-7430-3F42-9C2118E485E5}"/>
              </a:ext>
            </a:extLst>
          </p:cNvPr>
          <p:cNvCxnSpPr>
            <a:cxnSpLocks/>
          </p:cNvCxnSpPr>
          <p:nvPr/>
        </p:nvCxnSpPr>
        <p:spPr>
          <a:xfrm>
            <a:off x="6372992" y="4564943"/>
            <a:ext cx="0" cy="2868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>
            <a:extLst>
              <a:ext uri="{FF2B5EF4-FFF2-40B4-BE49-F238E27FC236}">
                <a16:creationId xmlns:a16="http://schemas.microsoft.com/office/drawing/2014/main" id="{5023D1EA-2377-0B6F-7543-E8E9A2E4726D}"/>
              </a:ext>
            </a:extLst>
          </p:cNvPr>
          <p:cNvSpPr txBox="1"/>
          <p:nvPr/>
        </p:nvSpPr>
        <p:spPr>
          <a:xfrm>
            <a:off x="10575836" y="2888600"/>
            <a:ext cx="739535" cy="208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Users</a:t>
            </a:r>
          </a:p>
        </p:txBody>
      </p:sp>
      <p:sp>
        <p:nvSpPr>
          <p:cNvPr id="734" name="TextBox 733">
            <a:extLst>
              <a:ext uri="{FF2B5EF4-FFF2-40B4-BE49-F238E27FC236}">
                <a16:creationId xmlns:a16="http://schemas.microsoft.com/office/drawing/2014/main" id="{F7F432E4-99DE-9E22-9423-F36796FEA91D}"/>
              </a:ext>
            </a:extLst>
          </p:cNvPr>
          <p:cNvSpPr txBox="1"/>
          <p:nvPr/>
        </p:nvSpPr>
        <p:spPr>
          <a:xfrm>
            <a:off x="10562494" y="5772690"/>
            <a:ext cx="739535" cy="208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MSIL Users</a:t>
            </a:r>
          </a:p>
        </p:txBody>
      </p:sp>
      <p:cxnSp>
        <p:nvCxnSpPr>
          <p:cNvPr id="735" name="Straight Arrow Connector 734">
            <a:extLst>
              <a:ext uri="{FF2B5EF4-FFF2-40B4-BE49-F238E27FC236}">
                <a16:creationId xmlns:a16="http://schemas.microsoft.com/office/drawing/2014/main" id="{663D9C0A-6646-48F3-7FAF-BDBCB8D93EC2}"/>
              </a:ext>
            </a:extLst>
          </p:cNvPr>
          <p:cNvCxnSpPr>
            <a:cxnSpLocks/>
          </p:cNvCxnSpPr>
          <p:nvPr/>
        </p:nvCxnSpPr>
        <p:spPr>
          <a:xfrm flipH="1" flipV="1">
            <a:off x="1834114" y="2960097"/>
            <a:ext cx="2025683" cy="245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>
            <a:extLst>
              <a:ext uri="{FF2B5EF4-FFF2-40B4-BE49-F238E27FC236}">
                <a16:creationId xmlns:a16="http://schemas.microsoft.com/office/drawing/2014/main" id="{9736ED4E-391F-7833-1DDC-78985022231C}"/>
              </a:ext>
            </a:extLst>
          </p:cNvPr>
          <p:cNvSpPr txBox="1"/>
          <p:nvPr/>
        </p:nvSpPr>
        <p:spPr>
          <a:xfrm>
            <a:off x="2541260" y="2965181"/>
            <a:ext cx="680476" cy="147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Pull/Batch</a:t>
            </a:r>
          </a:p>
        </p:txBody>
      </p:sp>
    </p:spTree>
    <p:extLst>
      <p:ext uri="{BB962C8B-B14F-4D97-AF65-F5344CB8AC3E}">
        <p14:creationId xmlns:p14="http://schemas.microsoft.com/office/powerpoint/2010/main" val="323479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A931-14FB-EBD8-4152-780A775C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842EFD50-1306-6857-8A94-24FB37603E8D}"/>
              </a:ext>
            </a:extLst>
          </p:cNvPr>
          <p:cNvSpPr/>
          <p:nvPr/>
        </p:nvSpPr>
        <p:spPr>
          <a:xfrm>
            <a:off x="3002960" y="1004034"/>
            <a:ext cx="7759482" cy="5485975"/>
          </a:xfrm>
          <a:prstGeom prst="roundRect">
            <a:avLst>
              <a:gd name="adj" fmla="val 483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B3A23-6A21-15D2-E95C-A8F8D36E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 AI Architecture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9EAB6BA3-E301-07E0-B967-7F21ECEE5EEF}"/>
              </a:ext>
            </a:extLst>
          </p:cNvPr>
          <p:cNvSpPr/>
          <p:nvPr/>
        </p:nvSpPr>
        <p:spPr>
          <a:xfrm>
            <a:off x="1429558" y="908802"/>
            <a:ext cx="1334670" cy="537701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4AD1332-FFF4-1FA3-2622-42F06073D9D9}"/>
              </a:ext>
            </a:extLst>
          </p:cNvPr>
          <p:cNvSpPr/>
          <p:nvPr/>
        </p:nvSpPr>
        <p:spPr>
          <a:xfrm>
            <a:off x="2943921" y="908802"/>
            <a:ext cx="8358107" cy="55812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7E2135A-6C6F-9B3D-BF5B-83370347C588}"/>
              </a:ext>
            </a:extLst>
          </p:cNvPr>
          <p:cNvSpPr/>
          <p:nvPr/>
        </p:nvSpPr>
        <p:spPr>
          <a:xfrm>
            <a:off x="5153551" y="1125962"/>
            <a:ext cx="2787926" cy="69070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0000" tIns="46800" rIns="90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Orchestrator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255C060E-6B4E-AC95-8CDA-C5FD08818358}"/>
              </a:ext>
            </a:extLst>
          </p:cNvPr>
          <p:cNvSpPr/>
          <p:nvPr/>
        </p:nvSpPr>
        <p:spPr>
          <a:xfrm>
            <a:off x="5116203" y="4534994"/>
            <a:ext cx="2803013" cy="84280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EPMP Biz Micro services</a:t>
            </a:r>
          </a:p>
        </p:txBody>
      </p:sp>
      <p:sp>
        <p:nvSpPr>
          <p:cNvPr id="503" name="Can 502">
            <a:extLst>
              <a:ext uri="{FF2B5EF4-FFF2-40B4-BE49-F238E27FC236}">
                <a16:creationId xmlns:a16="http://schemas.microsoft.com/office/drawing/2014/main" id="{AE123787-9170-72F9-636B-3A28FEADA62A}"/>
              </a:ext>
            </a:extLst>
          </p:cNvPr>
          <p:cNvSpPr/>
          <p:nvPr/>
        </p:nvSpPr>
        <p:spPr>
          <a:xfrm>
            <a:off x="7062872" y="5769879"/>
            <a:ext cx="540000" cy="576000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Vector Data base</a:t>
            </a:r>
          </a:p>
        </p:txBody>
      </p:sp>
      <p:sp>
        <p:nvSpPr>
          <p:cNvPr id="542" name="Rounded Rectangle 541">
            <a:extLst>
              <a:ext uri="{FF2B5EF4-FFF2-40B4-BE49-F238E27FC236}">
                <a16:creationId xmlns:a16="http://schemas.microsoft.com/office/drawing/2014/main" id="{439E812A-61E8-1BFD-4011-E0450597F24A}"/>
              </a:ext>
            </a:extLst>
          </p:cNvPr>
          <p:cNvSpPr/>
          <p:nvPr/>
        </p:nvSpPr>
        <p:spPr>
          <a:xfrm>
            <a:off x="3146171" y="3441267"/>
            <a:ext cx="1383134" cy="90867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Integration Services </a:t>
            </a:r>
          </a:p>
        </p:txBody>
      </p:sp>
      <p:sp>
        <p:nvSpPr>
          <p:cNvPr id="544" name="Rounded Rectangle 543">
            <a:extLst>
              <a:ext uri="{FF2B5EF4-FFF2-40B4-BE49-F238E27FC236}">
                <a16:creationId xmlns:a16="http://schemas.microsoft.com/office/drawing/2014/main" id="{3CD95E52-FF80-B100-E1CF-83D9AB6099B6}"/>
              </a:ext>
            </a:extLst>
          </p:cNvPr>
          <p:cNvSpPr/>
          <p:nvPr/>
        </p:nvSpPr>
        <p:spPr>
          <a:xfrm>
            <a:off x="4713832" y="3446204"/>
            <a:ext cx="1199121" cy="88098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Orchestrator  Services</a:t>
            </a:r>
          </a:p>
        </p:txBody>
      </p:sp>
      <p:sp>
        <p:nvSpPr>
          <p:cNvPr id="554" name="Rounded Rectangle 553">
            <a:extLst>
              <a:ext uri="{FF2B5EF4-FFF2-40B4-BE49-F238E27FC236}">
                <a16:creationId xmlns:a16="http://schemas.microsoft.com/office/drawing/2014/main" id="{F8082313-B570-57AE-0533-ED387B805972}"/>
              </a:ext>
            </a:extLst>
          </p:cNvPr>
          <p:cNvSpPr/>
          <p:nvPr/>
        </p:nvSpPr>
        <p:spPr>
          <a:xfrm>
            <a:off x="5144566" y="2226971"/>
            <a:ext cx="2803014" cy="93239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Agents ( Persona Agent Layer)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B6B3AC-F4E5-8573-12B4-9CE150848F77}"/>
              </a:ext>
            </a:extLst>
          </p:cNvPr>
          <p:cNvSpPr/>
          <p:nvPr/>
        </p:nvSpPr>
        <p:spPr>
          <a:xfrm>
            <a:off x="5192772" y="1432517"/>
            <a:ext cx="828000" cy="3492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Prompt Management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AC0534-1680-252C-601B-6924E8D64205}"/>
              </a:ext>
            </a:extLst>
          </p:cNvPr>
          <p:cNvSpPr/>
          <p:nvPr/>
        </p:nvSpPr>
        <p:spPr>
          <a:xfrm>
            <a:off x="6105304" y="1432517"/>
            <a:ext cx="828000" cy="3492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Model Routing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18D441-D81C-A0F3-4A05-21E443AD5E6D}"/>
              </a:ext>
            </a:extLst>
          </p:cNvPr>
          <p:cNvSpPr/>
          <p:nvPr/>
        </p:nvSpPr>
        <p:spPr>
          <a:xfrm>
            <a:off x="7017836" y="1439192"/>
            <a:ext cx="828000" cy="3492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Guardrails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C98A07-A1C0-8E07-2524-E25B8E33604C}"/>
              </a:ext>
            </a:extLst>
          </p:cNvPr>
          <p:cNvSpPr/>
          <p:nvPr/>
        </p:nvSpPr>
        <p:spPr>
          <a:xfrm>
            <a:off x="5221208" y="2569831"/>
            <a:ext cx="828000" cy="5087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Project Manager Agent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947543-7097-2DD1-9D4F-1ACE21B3A4E2}"/>
              </a:ext>
            </a:extLst>
          </p:cNvPr>
          <p:cNvSpPr/>
          <p:nvPr/>
        </p:nvSpPr>
        <p:spPr>
          <a:xfrm>
            <a:off x="6125850" y="2591140"/>
            <a:ext cx="828000" cy="5087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Evaluator Agent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D18B20-1B88-E1BC-CB86-77C73670AC3F}"/>
              </a:ext>
            </a:extLst>
          </p:cNvPr>
          <p:cNvSpPr/>
          <p:nvPr/>
        </p:nvSpPr>
        <p:spPr>
          <a:xfrm>
            <a:off x="7030492" y="2591140"/>
            <a:ext cx="828000" cy="5162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Program Governance Agent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0249D6-352D-6C5A-16F2-D99205ECCE55}"/>
              </a:ext>
            </a:extLst>
          </p:cNvPr>
          <p:cNvSpPr/>
          <p:nvPr/>
        </p:nvSpPr>
        <p:spPr>
          <a:xfrm>
            <a:off x="5259376" y="4875653"/>
            <a:ext cx="828000" cy="2230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Ideation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0C3630-93F8-392B-2D86-A8E2D8F5B648}"/>
              </a:ext>
            </a:extLst>
          </p:cNvPr>
          <p:cNvSpPr/>
          <p:nvPr/>
        </p:nvSpPr>
        <p:spPr>
          <a:xfrm>
            <a:off x="6103711" y="4875594"/>
            <a:ext cx="828000" cy="2230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Planning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DB542F-53FF-1DF9-5CF7-7578F7D9898B}"/>
              </a:ext>
            </a:extLst>
          </p:cNvPr>
          <p:cNvSpPr/>
          <p:nvPr/>
        </p:nvSpPr>
        <p:spPr>
          <a:xfrm>
            <a:off x="6949943" y="4877762"/>
            <a:ext cx="828000" cy="23208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Execution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57883751-2DAC-14A2-8F73-9B46F5A1FFA4}"/>
              </a:ext>
            </a:extLst>
          </p:cNvPr>
          <p:cNvSpPr/>
          <p:nvPr/>
        </p:nvSpPr>
        <p:spPr>
          <a:xfrm>
            <a:off x="6249785" y="5769879"/>
            <a:ext cx="540000" cy="576000"/>
          </a:xfrm>
          <a:prstGeom prst="can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EPMP Data -Primary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92A510C-2B54-7F45-4565-BA7438120FE4}"/>
              </a:ext>
            </a:extLst>
          </p:cNvPr>
          <p:cNvSpPr/>
          <p:nvPr/>
        </p:nvSpPr>
        <p:spPr>
          <a:xfrm>
            <a:off x="5259376" y="5109900"/>
            <a:ext cx="828000" cy="2230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Demand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6D5B5B-0D27-0A03-DD26-CE1DEC5916CB}"/>
              </a:ext>
            </a:extLst>
          </p:cNvPr>
          <p:cNvSpPr/>
          <p:nvPr/>
        </p:nvSpPr>
        <p:spPr>
          <a:xfrm>
            <a:off x="6103710" y="5109900"/>
            <a:ext cx="828000" cy="2230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Initiation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B098ABD-1225-BBC7-2F65-6B7B4815B2A5}"/>
              </a:ext>
            </a:extLst>
          </p:cNvPr>
          <p:cNvSpPr/>
          <p:nvPr/>
        </p:nvSpPr>
        <p:spPr>
          <a:xfrm>
            <a:off x="6949943" y="5120116"/>
            <a:ext cx="828000" cy="2230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WBS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1FA998-93A5-CB9A-C6E2-A0D0FE9E5B52}"/>
              </a:ext>
            </a:extLst>
          </p:cNvPr>
          <p:cNvGrpSpPr/>
          <p:nvPr/>
        </p:nvGrpSpPr>
        <p:grpSpPr>
          <a:xfrm>
            <a:off x="4999161" y="5765569"/>
            <a:ext cx="1003435" cy="539413"/>
            <a:chOff x="5128724" y="5418501"/>
            <a:chExt cx="1003435" cy="53941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0269EF2-F5DB-2348-7ED5-D4B4FB50FFC4}"/>
                </a:ext>
              </a:extLst>
            </p:cNvPr>
            <p:cNvSpPr/>
            <p:nvPr/>
          </p:nvSpPr>
          <p:spPr>
            <a:xfrm>
              <a:off x="5128724" y="5418501"/>
              <a:ext cx="900000" cy="4660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FF822073-3C21-AF25-5400-2A8BBA5DA6DD}"/>
                </a:ext>
              </a:extLst>
            </p:cNvPr>
            <p:cNvSpPr/>
            <p:nvPr/>
          </p:nvSpPr>
          <p:spPr>
            <a:xfrm>
              <a:off x="5175229" y="5455167"/>
              <a:ext cx="900000" cy="4660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FC023448-CA87-1E9E-D707-9D5779FEC79D}"/>
                </a:ext>
              </a:extLst>
            </p:cNvPr>
            <p:cNvSpPr/>
            <p:nvPr/>
          </p:nvSpPr>
          <p:spPr>
            <a:xfrm>
              <a:off x="5232159" y="5491833"/>
              <a:ext cx="900000" cy="4660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</a:rPr>
                <a:t>Document Storage</a:t>
              </a:r>
            </a:p>
          </p:txBody>
        </p:sp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6D97A07-6288-8D0A-AA84-92BD033DEC00}"/>
              </a:ext>
            </a:extLst>
          </p:cNvPr>
          <p:cNvSpPr/>
          <p:nvPr/>
        </p:nvSpPr>
        <p:spPr>
          <a:xfrm>
            <a:off x="6153160" y="3411748"/>
            <a:ext cx="4397957" cy="9381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0000" tIns="46800" rIns="90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Platform Layer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1B4F231-A3A8-1F8A-818D-4A5C915218DB}"/>
              </a:ext>
            </a:extLst>
          </p:cNvPr>
          <p:cNvSpPr/>
          <p:nvPr/>
        </p:nvSpPr>
        <p:spPr>
          <a:xfrm>
            <a:off x="6208448" y="3798745"/>
            <a:ext cx="1099986" cy="50343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LLM Model ( Bedrock/OpenAI/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4389B2E-15C8-BE51-28B7-CBD46C34789E}"/>
              </a:ext>
            </a:extLst>
          </p:cNvPr>
          <p:cNvSpPr/>
          <p:nvPr/>
        </p:nvSpPr>
        <p:spPr>
          <a:xfrm>
            <a:off x="7403758" y="3787908"/>
            <a:ext cx="1099985" cy="50343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RAG Layer (Vector DB + Knowledge Base)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8536658-99BC-5A82-116A-630CBA5B2CD6}"/>
              </a:ext>
            </a:extLst>
          </p:cNvPr>
          <p:cNvSpPr/>
          <p:nvPr/>
        </p:nvSpPr>
        <p:spPr>
          <a:xfrm>
            <a:off x="8634631" y="3778862"/>
            <a:ext cx="828000" cy="4897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Guardrails ( PII Guardrails, Prompt Injection, Validation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D3EADF7-844E-546D-A0EF-13EBC4FE1D43}"/>
              </a:ext>
            </a:extLst>
          </p:cNvPr>
          <p:cNvSpPr/>
          <p:nvPr/>
        </p:nvSpPr>
        <p:spPr>
          <a:xfrm>
            <a:off x="9593519" y="3787908"/>
            <a:ext cx="828000" cy="4897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Prompt Registry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EC2DA5A-9D14-04EE-ACDA-B156515E19EA}"/>
              </a:ext>
            </a:extLst>
          </p:cNvPr>
          <p:cNvSpPr/>
          <p:nvPr/>
        </p:nvSpPr>
        <p:spPr>
          <a:xfrm>
            <a:off x="1640883" y="4302175"/>
            <a:ext cx="913916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JIRA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35594D7-EF26-5F11-F56B-A5853980F5CC}"/>
              </a:ext>
            </a:extLst>
          </p:cNvPr>
          <p:cNvSpPr/>
          <p:nvPr/>
        </p:nvSpPr>
        <p:spPr>
          <a:xfrm>
            <a:off x="1640883" y="3663731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Zendesk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783CAF0-93B6-D586-118B-237F511A72F5}"/>
              </a:ext>
            </a:extLst>
          </p:cNvPr>
          <p:cNvSpPr/>
          <p:nvPr/>
        </p:nvSpPr>
        <p:spPr>
          <a:xfrm>
            <a:off x="1668290" y="3038076"/>
            <a:ext cx="900000" cy="3600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SAP HRMS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4C7DBCA-EA85-F063-4106-D1A5D9C0C8F8}"/>
              </a:ext>
            </a:extLst>
          </p:cNvPr>
          <p:cNvCxnSpPr>
            <a:cxnSpLocks/>
            <a:stCxn id="26" idx="2"/>
            <a:endCxn id="554" idx="0"/>
          </p:cNvCxnSpPr>
          <p:nvPr/>
        </p:nvCxnSpPr>
        <p:spPr>
          <a:xfrm flipH="1">
            <a:off x="6546073" y="1816664"/>
            <a:ext cx="1441" cy="41030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7D60DBBB-D875-D83A-1A34-563A10F3EF30}"/>
              </a:ext>
            </a:extLst>
          </p:cNvPr>
          <p:cNvCxnSpPr>
            <a:cxnSpLocks/>
            <a:stCxn id="554" idx="2"/>
            <a:endCxn id="544" idx="0"/>
          </p:cNvCxnSpPr>
          <p:nvPr/>
        </p:nvCxnSpPr>
        <p:spPr>
          <a:xfrm rot="5400000">
            <a:off x="5786316" y="2686447"/>
            <a:ext cx="286834" cy="123268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00FF23-3BF2-BCB0-B65B-5285C18E05D6}"/>
              </a:ext>
            </a:extLst>
          </p:cNvPr>
          <p:cNvCxnSpPr>
            <a:cxnSpLocks/>
            <a:stCxn id="544" idx="3"/>
            <a:endCxn id="40" idx="1"/>
          </p:cNvCxnSpPr>
          <p:nvPr/>
        </p:nvCxnSpPr>
        <p:spPr>
          <a:xfrm flipV="1">
            <a:off x="5912953" y="3880846"/>
            <a:ext cx="240207" cy="585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AD33A3F-B021-2C8D-EF7C-A7FC7E7E9B63}"/>
              </a:ext>
            </a:extLst>
          </p:cNvPr>
          <p:cNvCxnSpPr>
            <a:cxnSpLocks/>
          </p:cNvCxnSpPr>
          <p:nvPr/>
        </p:nvCxnSpPr>
        <p:spPr>
          <a:xfrm>
            <a:off x="5360240" y="4336388"/>
            <a:ext cx="0" cy="24223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77E80BC-10E9-8FD8-DC5E-0E4C4924E68E}"/>
              </a:ext>
            </a:extLst>
          </p:cNvPr>
          <p:cNvCxnSpPr>
            <a:cxnSpLocks/>
          </p:cNvCxnSpPr>
          <p:nvPr/>
        </p:nvCxnSpPr>
        <p:spPr>
          <a:xfrm>
            <a:off x="5768667" y="4307387"/>
            <a:ext cx="0" cy="24223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685DA60F-2732-2252-F545-C36A1D9EE579}"/>
              </a:ext>
            </a:extLst>
          </p:cNvPr>
          <p:cNvCxnSpPr>
            <a:cxnSpLocks/>
          </p:cNvCxnSpPr>
          <p:nvPr/>
        </p:nvCxnSpPr>
        <p:spPr>
          <a:xfrm>
            <a:off x="6525539" y="5351522"/>
            <a:ext cx="4406" cy="4927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Elbow Connector 451">
            <a:extLst>
              <a:ext uri="{FF2B5EF4-FFF2-40B4-BE49-F238E27FC236}">
                <a16:creationId xmlns:a16="http://schemas.microsoft.com/office/drawing/2014/main" id="{37E87653-BB34-0E28-1D69-8722F75151AE}"/>
              </a:ext>
            </a:extLst>
          </p:cNvPr>
          <p:cNvCxnSpPr>
            <a:cxnSpLocks/>
            <a:endCxn id="503" idx="0"/>
          </p:cNvCxnSpPr>
          <p:nvPr/>
        </p:nvCxnSpPr>
        <p:spPr>
          <a:xfrm rot="5400000">
            <a:off x="7226980" y="4389380"/>
            <a:ext cx="1621391" cy="1409606"/>
          </a:xfrm>
          <a:prstGeom prst="bentConnector3">
            <a:avLst>
              <a:gd name="adj1" fmla="val 84388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Microsoft Macintosh PowerPoint</Application>
  <PresentationFormat>Widescreen</PresentationFormat>
  <Paragraphs>218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 Unicode MS</vt:lpstr>
      <vt:lpstr>Aptos</vt:lpstr>
      <vt:lpstr>Aptos Display</vt:lpstr>
      <vt:lpstr>Aptos Narrow</vt:lpstr>
      <vt:lpstr>Arial</vt:lpstr>
      <vt:lpstr>Arial Black</vt:lpstr>
      <vt:lpstr>IBM Plex Sans</vt:lpstr>
      <vt:lpstr>IBM Plex Sans Light</vt:lpstr>
      <vt:lpstr>Office Theme</vt:lpstr>
      <vt:lpstr>1_Office Theme</vt:lpstr>
      <vt:lpstr>PowerPoint Presentation</vt:lpstr>
      <vt:lpstr>Architecture Considerations</vt:lpstr>
      <vt:lpstr>PowerPoint Presentation</vt:lpstr>
      <vt:lpstr>WBS Item With JIRA Integration Blueprint</vt:lpstr>
      <vt:lpstr>Integration Architecture</vt:lpstr>
      <vt:lpstr>Gen AI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Sougata Bagchi</dc:creator>
  <cp:lastModifiedBy>Sougata Bagchi</cp:lastModifiedBy>
  <cp:revision>1</cp:revision>
  <dcterms:created xsi:type="dcterms:W3CDTF">2026-03-23T08:28:57Z</dcterms:created>
  <dcterms:modified xsi:type="dcterms:W3CDTF">2026-03-23T08:29:25Z</dcterms:modified>
</cp:coreProperties>
</file>