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43"/>
  </p:normalViewPr>
  <p:slideViewPr>
    <p:cSldViewPr snapToGrid="0">
      <p:cViewPr varScale="1">
        <p:scale>
          <a:sx n="115" d="100"/>
          <a:sy n="115" d="100"/>
        </p:scale>
        <p:origin x="5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32BE9-42B4-E6EE-F36B-7A546A500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D8394-A0CE-17C9-2396-062049FFE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BB52B-D4B1-CAB5-394A-9F54AC2A4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E3CB-B840-E848-9992-BF40FAAEE625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B4E2D-ACA1-1F5F-5EA4-FD89300F2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E7ABF-601D-6694-48C3-7CF8300A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CA0B3-199C-444F-BE7B-700918459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88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D936-D3DC-A7F0-6413-F2D6A654A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80F56-8B8F-A17D-C1D2-63F4A8E28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48484-D619-F597-9A1B-EF4E86A3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E3CB-B840-E848-9992-BF40FAAEE625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E6F75-F5BA-9A4F-4F2C-158D07D4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31F57-F9CF-F852-7A64-B372E6F6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CA0B3-199C-444F-BE7B-700918459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07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ABD4E-80B0-92C3-AD6C-8FBEC34FE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3B40B-ECC8-E5C6-2831-A112B73AB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8E6C0-7E1F-95D3-7ED1-FEB67663F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E3CB-B840-E848-9992-BF40FAAEE625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F1830-72ED-407E-E658-175B89B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5A021-21F9-7165-0C04-CF54C1A9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CA0B3-199C-444F-BE7B-700918459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1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9AC63-BB2A-0510-6A13-D6585F621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F6816-62CC-4C48-07FB-BFAA4DF13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4EF164-AD03-B64F-60A9-C33ABAE44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309E8-B5E1-E4C5-2627-E45A1170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E3CB-B840-E848-9992-BF40FAAEE625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A9A2E-C52D-8611-951E-49F6622CF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92307-ECD3-6E07-5939-9291C5FE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CA0B3-199C-444F-BE7B-700918459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77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42D9D-935B-94C4-F9DF-EAB1FFBD4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AFA2C-D21E-0CA4-2A6A-8E994C90A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72DD5-B0C3-ADD9-96AF-7E985DE78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07EB26-7E3C-1A2F-7F10-CF91445FFE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039EAA-D45B-D422-1C0F-340EBE785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B5DB75-87AB-8C5C-B099-F9D93CC6C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E3CB-B840-E848-9992-BF40FAAEE625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D79243-09DC-E8D9-981D-8BE008D5E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519FC-A4AF-DABE-8D74-5882386C2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CA0B3-199C-444F-BE7B-700918459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50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0E4-A63F-9110-83A7-89215AC76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922025-61A1-680D-8727-8696D6FC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E3CB-B840-E848-9992-BF40FAAEE625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8BA00-036B-28BF-E5D2-3C7D247C4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637466-D814-39AE-D103-CD484EE8D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CA0B3-199C-444F-BE7B-700918459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13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D5444E-0D40-DEB4-D7C2-1DBAB3C3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E3CB-B840-E848-9992-BF40FAAEE625}" type="datetimeFigureOut">
              <a:rPr lang="en-US" smtClean="0"/>
              <a:t>2/5/26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F2288-6BC8-FF5E-9115-D6703CD9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3B552-CB2F-FE85-C0BD-F7461EA63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CA0B3-199C-444F-BE7B-700918459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02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6AED-2217-81DE-AD48-835963E2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F537F-EA04-B981-F231-A316A9E2F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64D13-C657-4E79-22A7-43CDA89B2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D3909-45E6-23C5-0AA7-9171B03BF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E3CB-B840-E848-9992-BF40FAAEE625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1A3E5-1DF2-13D5-002E-623DA488F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2BACD-E187-76BA-182B-B036BB71F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CA0B3-199C-444F-BE7B-700918459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83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F987-9DE4-7E02-B6D6-EDBAAAFF8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AF53D4-CC5B-7B89-A787-FAB2083C6D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1196F-09DD-50B9-39D5-5195F27A9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8B432-CDD1-2708-8A5F-C3F965CFB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E3CB-B840-E848-9992-BF40FAAEE625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4567A-08F1-BE83-6508-F6A0471B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68D9A-065D-3145-0971-7F28E6767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CA0B3-199C-444F-BE7B-700918459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96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CC497-FE1D-8AA2-D6E3-C645F283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1B4FD-5D32-E98B-EBF4-60095599C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550C5-05D7-4E1D-CB5A-A70841C49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E3CB-B840-E848-9992-BF40FAAEE625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2F487-36C7-8375-CD79-905A0A924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F5CD2-040A-A2C4-F10C-3046E520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CA0B3-199C-444F-BE7B-700918459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7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CF159D-0E0D-924B-F965-698F44E1CA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04F6CE-34BB-E17A-1917-5B0EE489C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ED9A1-447B-C652-1175-D01042E3C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BE3CB-B840-E848-9992-BF40FAAEE625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9398-39D7-A071-3CDF-BA4B13A9C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19DA4-A2E6-440B-6D92-07BD69283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CA0B3-199C-444F-BE7B-700918459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35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D751C6-2C9D-DA6F-5F53-AD78F00D5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F7A91-9E24-0173-3EA5-EC9BF5025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7B510-D1E3-DE83-5DF2-56B42DB0C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BE3CB-B840-E848-9992-BF40FAAEE625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1A853-1D3D-5D2F-83B3-87860A1D93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0D1CA-556D-210A-BE43-79BBA8535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5CA0B3-199C-444F-BE7B-7009184594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16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0ECF52-0A14-C38D-0B4C-78B749BC7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781"/>
            <a:ext cx="12254355" cy="4804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609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2018A3-E0E1-64B7-8285-058B51BE8FE2}"/>
              </a:ext>
            </a:extLst>
          </p:cNvPr>
          <p:cNvSpPr/>
          <p:nvPr/>
        </p:nvSpPr>
        <p:spPr>
          <a:xfrm>
            <a:off x="854893" y="1636439"/>
            <a:ext cx="7783551" cy="42040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C234C9BD-E642-5CF8-6ED5-1C3C44E09F4E}"/>
              </a:ext>
            </a:extLst>
          </p:cNvPr>
          <p:cNvSpPr/>
          <p:nvPr/>
        </p:nvSpPr>
        <p:spPr>
          <a:xfrm>
            <a:off x="1429677" y="686656"/>
            <a:ext cx="1620000" cy="40144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Analyze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553B0C4A-B079-CF1C-9DF9-8D975B0033C7}"/>
              </a:ext>
            </a:extLst>
          </p:cNvPr>
          <p:cNvSpPr/>
          <p:nvPr/>
        </p:nvSpPr>
        <p:spPr>
          <a:xfrm>
            <a:off x="4204328" y="686656"/>
            <a:ext cx="1620000" cy="40144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Design</a:t>
            </a:r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0196270D-9037-0EB4-B65B-F0036DE10961}"/>
              </a:ext>
            </a:extLst>
          </p:cNvPr>
          <p:cNvSpPr/>
          <p:nvPr/>
        </p:nvSpPr>
        <p:spPr>
          <a:xfrm>
            <a:off x="6450960" y="686656"/>
            <a:ext cx="1620000" cy="40144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</a:t>
            </a:r>
          </a:p>
        </p:txBody>
      </p:sp>
      <p:sp>
        <p:nvSpPr>
          <p:cNvPr id="7" name="Left-right Arrow 6">
            <a:extLst>
              <a:ext uri="{FF2B5EF4-FFF2-40B4-BE49-F238E27FC236}">
                <a16:creationId xmlns:a16="http://schemas.microsoft.com/office/drawing/2014/main" id="{3757E43B-BC9C-0CF2-1C3E-4106EC7AF5FC}"/>
              </a:ext>
            </a:extLst>
          </p:cNvPr>
          <p:cNvSpPr/>
          <p:nvPr/>
        </p:nvSpPr>
        <p:spPr>
          <a:xfrm>
            <a:off x="1193644" y="1208046"/>
            <a:ext cx="2340000" cy="2520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 Weeks</a:t>
            </a:r>
          </a:p>
        </p:txBody>
      </p:sp>
      <p:sp>
        <p:nvSpPr>
          <p:cNvPr id="9" name="Left-right Arrow 8">
            <a:extLst>
              <a:ext uri="{FF2B5EF4-FFF2-40B4-BE49-F238E27FC236}">
                <a16:creationId xmlns:a16="http://schemas.microsoft.com/office/drawing/2014/main" id="{62F1BFC1-3FB7-7B03-DB30-B56ABF2F119D}"/>
              </a:ext>
            </a:extLst>
          </p:cNvPr>
          <p:cNvSpPr/>
          <p:nvPr/>
        </p:nvSpPr>
        <p:spPr>
          <a:xfrm>
            <a:off x="3788088" y="1208046"/>
            <a:ext cx="2340000" cy="2520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 Weeks </a:t>
            </a:r>
          </a:p>
        </p:txBody>
      </p:sp>
      <p:sp>
        <p:nvSpPr>
          <p:cNvPr id="10" name="Left-right Arrow 9">
            <a:extLst>
              <a:ext uri="{FF2B5EF4-FFF2-40B4-BE49-F238E27FC236}">
                <a16:creationId xmlns:a16="http://schemas.microsoft.com/office/drawing/2014/main" id="{E54D254A-9C03-68FF-B0F7-0A9ACD54BCB7}"/>
              </a:ext>
            </a:extLst>
          </p:cNvPr>
          <p:cNvSpPr/>
          <p:nvPr/>
        </p:nvSpPr>
        <p:spPr>
          <a:xfrm>
            <a:off x="6284462" y="1208046"/>
            <a:ext cx="2340000" cy="2520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 Week</a:t>
            </a:r>
          </a:p>
        </p:txBody>
      </p:sp>
      <p:sp>
        <p:nvSpPr>
          <p:cNvPr id="11" name="Off-page Connector 10">
            <a:extLst>
              <a:ext uri="{FF2B5EF4-FFF2-40B4-BE49-F238E27FC236}">
                <a16:creationId xmlns:a16="http://schemas.microsoft.com/office/drawing/2014/main" id="{AE8286A7-55D7-E426-3A3D-1C888E76323D}"/>
              </a:ext>
            </a:extLst>
          </p:cNvPr>
          <p:cNvSpPr/>
          <p:nvPr/>
        </p:nvSpPr>
        <p:spPr>
          <a:xfrm>
            <a:off x="1795346" y="1761893"/>
            <a:ext cx="1360449" cy="657922"/>
          </a:xfrm>
          <a:prstGeom prst="flowChartOffpageConnector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Current IT Situation</a:t>
            </a:r>
          </a:p>
        </p:txBody>
      </p:sp>
      <p:sp>
        <p:nvSpPr>
          <p:cNvPr id="12" name="Off-page Connector 11">
            <a:extLst>
              <a:ext uri="{FF2B5EF4-FFF2-40B4-BE49-F238E27FC236}">
                <a16:creationId xmlns:a16="http://schemas.microsoft.com/office/drawing/2014/main" id="{EBA410B3-FF25-5AEF-178E-D56B53A0E286}"/>
              </a:ext>
            </a:extLst>
          </p:cNvPr>
          <p:cNvSpPr/>
          <p:nvPr/>
        </p:nvSpPr>
        <p:spPr>
          <a:xfrm>
            <a:off x="4240094" y="1761893"/>
            <a:ext cx="1360449" cy="657922"/>
          </a:xfrm>
          <a:prstGeom prst="flowChartOffpageConnector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Industry Practices</a:t>
            </a:r>
          </a:p>
        </p:txBody>
      </p:sp>
      <p:sp>
        <p:nvSpPr>
          <p:cNvPr id="13" name="Off-page Connector 12">
            <a:extLst>
              <a:ext uri="{FF2B5EF4-FFF2-40B4-BE49-F238E27FC236}">
                <a16:creationId xmlns:a16="http://schemas.microsoft.com/office/drawing/2014/main" id="{97157CA9-103C-3A27-C4D1-E1304ED6FED6}"/>
              </a:ext>
            </a:extLst>
          </p:cNvPr>
          <p:cNvSpPr/>
          <p:nvPr/>
        </p:nvSpPr>
        <p:spPr>
          <a:xfrm rot="16200000">
            <a:off x="93438" y="3469372"/>
            <a:ext cx="2220950" cy="540000"/>
          </a:xfrm>
          <a:prstGeom prst="flowChartOffpageConnector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Business Visions /Strategy &amp; Program</a:t>
            </a:r>
          </a:p>
        </p:txBody>
      </p:sp>
      <p:sp>
        <p:nvSpPr>
          <p:cNvPr id="14" name="Off-page Connector 13">
            <a:extLst>
              <a:ext uri="{FF2B5EF4-FFF2-40B4-BE49-F238E27FC236}">
                <a16:creationId xmlns:a16="http://schemas.microsoft.com/office/drawing/2014/main" id="{E3872087-1FDA-E4B5-E62F-54339D501DA7}"/>
              </a:ext>
            </a:extLst>
          </p:cNvPr>
          <p:cNvSpPr/>
          <p:nvPr/>
        </p:nvSpPr>
        <p:spPr>
          <a:xfrm rot="16200000">
            <a:off x="2677614" y="3433500"/>
            <a:ext cx="2220950" cy="540000"/>
          </a:xfrm>
          <a:prstGeom prst="flowChartOffpageConnector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Business Priorities and IT Capabilities</a:t>
            </a:r>
          </a:p>
        </p:txBody>
      </p:sp>
      <p:sp>
        <p:nvSpPr>
          <p:cNvPr id="15" name="Off-page Connector 14">
            <a:extLst>
              <a:ext uri="{FF2B5EF4-FFF2-40B4-BE49-F238E27FC236}">
                <a16:creationId xmlns:a16="http://schemas.microsoft.com/office/drawing/2014/main" id="{0CA50B75-62FB-3973-AFE4-91737EA8822C}"/>
              </a:ext>
            </a:extLst>
          </p:cNvPr>
          <p:cNvSpPr/>
          <p:nvPr/>
        </p:nvSpPr>
        <p:spPr>
          <a:xfrm rot="16200000">
            <a:off x="4835814" y="3450455"/>
            <a:ext cx="2220950" cy="540000"/>
          </a:xfrm>
          <a:prstGeom prst="flowChartOffpageConnector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Future State Capabilities</a:t>
            </a:r>
          </a:p>
        </p:txBody>
      </p:sp>
      <p:sp>
        <p:nvSpPr>
          <p:cNvPr id="16" name="Off-page Connector 15">
            <a:extLst>
              <a:ext uri="{FF2B5EF4-FFF2-40B4-BE49-F238E27FC236}">
                <a16:creationId xmlns:a16="http://schemas.microsoft.com/office/drawing/2014/main" id="{C2F798B1-54B9-325B-3703-4A7309B50891}"/>
              </a:ext>
            </a:extLst>
          </p:cNvPr>
          <p:cNvSpPr/>
          <p:nvPr/>
        </p:nvSpPr>
        <p:spPr>
          <a:xfrm rot="10800000">
            <a:off x="1429678" y="5121566"/>
            <a:ext cx="2220950" cy="467460"/>
          </a:xfrm>
          <a:prstGeom prst="flowChartOffpageConnector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sz="1200" dirty="0"/>
          </a:p>
        </p:txBody>
      </p:sp>
      <p:sp>
        <p:nvSpPr>
          <p:cNvPr id="17" name="Off-page Connector 16">
            <a:extLst>
              <a:ext uri="{FF2B5EF4-FFF2-40B4-BE49-F238E27FC236}">
                <a16:creationId xmlns:a16="http://schemas.microsoft.com/office/drawing/2014/main" id="{9A974579-0628-E992-F116-FAEAE3049EB3}"/>
              </a:ext>
            </a:extLst>
          </p:cNvPr>
          <p:cNvSpPr/>
          <p:nvPr/>
        </p:nvSpPr>
        <p:spPr>
          <a:xfrm rot="10800000">
            <a:off x="3948655" y="5043732"/>
            <a:ext cx="2220950" cy="545294"/>
          </a:xfrm>
          <a:prstGeom prst="flowChartOffpageConnector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" name="Off-page Connector 17">
            <a:extLst>
              <a:ext uri="{FF2B5EF4-FFF2-40B4-BE49-F238E27FC236}">
                <a16:creationId xmlns:a16="http://schemas.microsoft.com/office/drawing/2014/main" id="{691AA7E7-784B-B0DB-A458-27F0C8706BB9}"/>
              </a:ext>
            </a:extLst>
          </p:cNvPr>
          <p:cNvSpPr/>
          <p:nvPr/>
        </p:nvSpPr>
        <p:spPr>
          <a:xfrm rot="10800000">
            <a:off x="6350426" y="5099825"/>
            <a:ext cx="2220950" cy="489200"/>
          </a:xfrm>
          <a:prstGeom prst="flowChartOffpageConnector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BBE7AC-380F-FE4D-8680-D6D282F92BD1}"/>
              </a:ext>
            </a:extLst>
          </p:cNvPr>
          <p:cNvSpPr/>
          <p:nvPr/>
        </p:nvSpPr>
        <p:spPr>
          <a:xfrm>
            <a:off x="1678257" y="2794024"/>
            <a:ext cx="1360450" cy="18213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Current State Analysis of Applications, Infrastructure, Data , Support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F78796-1052-98B4-DD9F-2B7973E4903B}"/>
              </a:ext>
            </a:extLst>
          </p:cNvPr>
          <p:cNvSpPr txBox="1"/>
          <p:nvPr/>
        </p:nvSpPr>
        <p:spPr>
          <a:xfrm>
            <a:off x="1801905" y="5178728"/>
            <a:ext cx="14764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Business Priorities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96646C-F8FA-27F6-8909-3D94C870E6F3}"/>
              </a:ext>
            </a:extLst>
          </p:cNvPr>
          <p:cNvSpPr txBox="1"/>
          <p:nvPr/>
        </p:nvSpPr>
        <p:spPr>
          <a:xfrm>
            <a:off x="4102720" y="5127361"/>
            <a:ext cx="2093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Integration and Operating model Implications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EF5514-67B9-18CC-B13B-EDAF82DE4E7E}"/>
              </a:ext>
            </a:extLst>
          </p:cNvPr>
          <p:cNvSpPr txBox="1"/>
          <p:nvPr/>
        </p:nvSpPr>
        <p:spPr>
          <a:xfrm>
            <a:off x="6844063" y="5203216"/>
            <a:ext cx="1541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Priority Framework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D53782-1098-6DC8-8041-B8DA0C01647A}"/>
              </a:ext>
            </a:extLst>
          </p:cNvPr>
          <p:cNvSpPr/>
          <p:nvPr/>
        </p:nvSpPr>
        <p:spPr>
          <a:xfrm>
            <a:off x="3114848" y="2794024"/>
            <a:ext cx="327100" cy="18213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GAP Analysis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D62505-79FB-FEF3-C5BC-5CA2E83343BD}"/>
              </a:ext>
            </a:extLst>
          </p:cNvPr>
          <p:cNvSpPr/>
          <p:nvPr/>
        </p:nvSpPr>
        <p:spPr>
          <a:xfrm>
            <a:off x="4241458" y="2798903"/>
            <a:ext cx="1360450" cy="7210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Conceptual Architecture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30893E-0B35-5747-5EC8-BC62685FDF20}"/>
              </a:ext>
            </a:extLst>
          </p:cNvPr>
          <p:cNvSpPr/>
          <p:nvPr/>
        </p:nvSpPr>
        <p:spPr>
          <a:xfrm>
            <a:off x="4252175" y="3892187"/>
            <a:ext cx="1360450" cy="7210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Initiative Identification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F283EC-5DF8-E758-FC47-4FF60CF80262}"/>
              </a:ext>
            </a:extLst>
          </p:cNvPr>
          <p:cNvSpPr/>
          <p:nvPr/>
        </p:nvSpPr>
        <p:spPr>
          <a:xfrm>
            <a:off x="6337339" y="2794024"/>
            <a:ext cx="890780" cy="18143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 Ways of Working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C5E229-A05B-7936-B242-519F3EF0046E}"/>
              </a:ext>
            </a:extLst>
          </p:cNvPr>
          <p:cNvSpPr/>
          <p:nvPr/>
        </p:nvSpPr>
        <p:spPr>
          <a:xfrm>
            <a:off x="7320596" y="2794024"/>
            <a:ext cx="1065122" cy="18143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Initiative Prioritization and Roadmap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9759E81-FFD0-83DF-743D-FCF5C33376F1}"/>
              </a:ext>
            </a:extLst>
          </p:cNvPr>
          <p:cNvSpPr/>
          <p:nvPr/>
        </p:nvSpPr>
        <p:spPr>
          <a:xfrm>
            <a:off x="235597" y="1636439"/>
            <a:ext cx="579785" cy="4204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dirty="0"/>
              <a:t>Tailored IT Strategy Framework</a:t>
            </a:r>
          </a:p>
        </p:txBody>
      </p:sp>
      <p:sp>
        <p:nvSpPr>
          <p:cNvPr id="32" name="Chevron 31">
            <a:extLst>
              <a:ext uri="{FF2B5EF4-FFF2-40B4-BE49-F238E27FC236}">
                <a16:creationId xmlns:a16="http://schemas.microsoft.com/office/drawing/2014/main" id="{A4034D28-4111-3395-865B-92A64BD5E689}"/>
              </a:ext>
            </a:extLst>
          </p:cNvPr>
          <p:cNvSpPr/>
          <p:nvPr/>
        </p:nvSpPr>
        <p:spPr>
          <a:xfrm>
            <a:off x="8700251" y="1648519"/>
            <a:ext cx="444101" cy="4204011"/>
          </a:xfrm>
          <a:prstGeom prst="chevron">
            <a:avLst>
              <a:gd name="adj" fmla="val 63100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336FA8-BDC1-1002-129C-6DDFC200ED68}"/>
              </a:ext>
            </a:extLst>
          </p:cNvPr>
          <p:cNvSpPr/>
          <p:nvPr/>
        </p:nvSpPr>
        <p:spPr>
          <a:xfrm>
            <a:off x="9900633" y="666354"/>
            <a:ext cx="1360450" cy="4217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600" dirty="0"/>
              <a:t>Deliverables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F41531-8A47-882E-7590-229D8F512C2B}"/>
              </a:ext>
            </a:extLst>
          </p:cNvPr>
          <p:cNvSpPr txBox="1"/>
          <p:nvPr/>
        </p:nvSpPr>
        <p:spPr>
          <a:xfrm>
            <a:off x="9263366" y="1695652"/>
            <a:ext cx="2634985" cy="38933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Key Observations by capability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Alignment of applications to Steel Industry CBM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Application Evaluation and Recommendation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Target Application architecture Landscape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List of Initiatives that JSW to Consider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Overall Initiatives – Roadmap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IT Ways of Working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739611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102</Words>
  <Application>Microsoft Macintosh PowerPoint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Sougata Bagchi</dc:creator>
  <cp:lastModifiedBy>Sougata Bagchi</cp:lastModifiedBy>
  <cp:revision>4</cp:revision>
  <dcterms:created xsi:type="dcterms:W3CDTF">2026-02-05T08:43:29Z</dcterms:created>
  <dcterms:modified xsi:type="dcterms:W3CDTF">2026-02-05T11:46:01Z</dcterms:modified>
</cp:coreProperties>
</file>