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14748290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5"/>
  </p:normalViewPr>
  <p:slideViewPr>
    <p:cSldViewPr snapToGrid="0">
      <p:cViewPr varScale="1">
        <p:scale>
          <a:sx n="108" d="100"/>
          <a:sy n="108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6331C-DB5A-514C-AF2B-7E97CF3EC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83512-8FCC-6D55-EDFD-D43412FD1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4FD95-2A88-2462-46ED-1A32906DF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406-BF87-4048-9075-1B93D00C5EE0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E3ED2-2A0A-9334-0B26-BF596C40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AC4DF-CCF2-ED07-9B7D-1D2E7376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E933-E88A-4644-BE61-5C390F755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7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E70CC-6580-F0B8-E027-5970D5060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FA93F-81F9-7D9B-AFEC-A125FC4E4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C308C-69BE-DE8B-68AF-4CB47B143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406-BF87-4048-9075-1B93D00C5EE0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82ADA-2FBB-341A-293D-99F35FAB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63FC6-5DB0-9579-B480-D0F5B4A5A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E933-E88A-4644-BE61-5C390F755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2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660A-406E-BD9E-45CC-A8392A15D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C92AA-D1A5-F93D-16EA-BAAC913C5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F42BC-4082-5091-91A9-99D9E47B2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406-BF87-4048-9075-1B93D00C5EE0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2388D-22FB-9229-2063-D163488B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14B70-B44F-3B17-E753-04D5B47B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E933-E88A-4644-BE61-5C390F755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9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1B38-0972-AC6D-CD24-B52DCF6BB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FD509-28B1-9BDB-7536-961DF2D042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62EB1-B3A9-4BA7-E81C-65D6038A0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1AC78-312B-B44A-C3C4-98F734F24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406-BF87-4048-9075-1B93D00C5EE0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313DE-CB75-7C09-EB71-42AE9761D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208E5-4803-A191-32B1-8442C305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E933-E88A-4644-BE61-5C390F755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11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EB9B-C76E-5C62-247B-8A365BE39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9969E-FDE1-2DA8-C688-469B09A3C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D1E41-B40E-01E1-A6C5-AA397CBB5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80D572-3903-5185-F43B-062CB51DD3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8CE51-A5DB-C618-AB26-61B354F948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C37C55-E831-B15E-63F3-997B3B1B1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406-BF87-4048-9075-1B93D00C5EE0}" type="datetimeFigureOut">
              <a:rPr lang="en-US" smtClean="0"/>
              <a:t>8/22/25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2624DA-0939-D92B-3A99-1BEC6FDC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73CC48-ECFD-71F9-67A6-C7F85110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E933-E88A-4644-BE61-5C390F755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59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BB90-2265-5D44-BC7D-CE2FBB93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A13D14-97B2-F102-29E1-3667557A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406-BF87-4048-9075-1B93D00C5EE0}" type="datetimeFigureOut">
              <a:rPr lang="en-US" smtClean="0"/>
              <a:t>8/22/25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FC9D3-7B9A-FA1C-F693-FDE7331BC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1BCBF-8114-A9A8-7F4F-126F3D393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E933-E88A-4644-BE61-5C390F755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1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6074D6-1752-0075-4AD8-86634BAE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406-BF87-4048-9075-1B93D00C5EE0}" type="datetimeFigureOut">
              <a:rPr lang="en-US" smtClean="0"/>
              <a:t>8/22/25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86D34-FB3F-3D6D-B2FA-587425CC7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7685E-33A7-CDD8-282D-7803EE9C7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E933-E88A-4644-BE61-5C390F755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33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64BD6-136A-4760-B332-44FE6F617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66B1-DAF2-110A-0B2F-73B1E6FBB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26B7A-AE2A-0149-4D46-78911A73B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93B53-1A41-84D1-C892-3EF37998B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406-BF87-4048-9075-1B93D00C5EE0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6314C-6FD5-3F2D-9D55-12E5DBAA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9EC6A-3DFF-7CC8-A1DC-9BFC7D335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E933-E88A-4644-BE61-5C390F755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8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0D9A4-F079-2EC4-F35E-413ABE684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21E21-27A5-66DD-0963-99AF9F25D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252EA-0BAD-59FA-66A4-062AF5D90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7BBF0-BF4C-4C3F-C3C3-D57741B2C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406-BF87-4048-9075-1B93D00C5EE0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C907A-5EB9-7CE3-DDA1-B9987466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3F648-D626-8581-015B-5C845B6C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E933-E88A-4644-BE61-5C390F755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46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A4CEB-AD9C-5D44-D2BD-8F8CF6E6E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91D80-17EB-1B75-782D-AFC471258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60301-BD33-28A9-70C8-ADA6954B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406-BF87-4048-9075-1B93D00C5EE0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E4A6D-57D2-D41B-8E00-D39DA66D4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A46CD-B5C7-B214-AA80-FDE26278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E933-E88A-4644-BE61-5C390F755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66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BA1EDD-28D7-A791-9CD4-674394878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5A8A86-95A4-DA1C-D1A5-F87DBC8DB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EA4DA-6F36-F1FA-689B-82755FD33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406-BF87-4048-9075-1B93D00C5EE0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6CD66-B949-5FFF-6900-CA5151DAA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E77E3-771D-DBAB-4894-DAAC05F2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CE933-E88A-4644-BE61-5C390F755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54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F05788-633D-7B89-9BE0-E1630D1F0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1CE09-8A63-4B41-AA43-E361E2A8F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BBF7A-DAAE-512B-8C0C-5E9FCD7E3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05D406-BF87-4048-9075-1B93D00C5EE0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0B8ED-5701-1624-DE1C-2887AA25A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4FBAC-D4D8-7704-CFB1-C0258D379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CE933-E88A-4644-BE61-5C390F755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0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224C-9894-7D73-A5BC-5ACEBDA5A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F92C3-D38E-D764-C556-2F5978A31D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62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5EC84-6693-BD9D-01DE-7119F0CDE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A10B-5B04-913B-D921-F60147C53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BM Plex Sans" panose="020B0503050203000203" pitchFamily="34" charset="0"/>
              </a:rPr>
              <a:t>8. Data Privacy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41B8AF-269F-4686-5185-20A1FC3C68BA}"/>
              </a:ext>
            </a:extLst>
          </p:cNvPr>
          <p:cNvSpPr txBox="1"/>
          <p:nvPr/>
        </p:nvSpPr>
        <p:spPr>
          <a:xfrm>
            <a:off x="368169" y="1401203"/>
            <a:ext cx="2925159" cy="490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5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A. Data Protection Measures</a:t>
            </a:r>
            <a:endParaRPr lang="en-IN" sz="105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Data at Rest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Column-level encryption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Transparent data encryption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Database Activity Monitoring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Data masking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Backup and Archival Strategy</a:t>
            </a:r>
            <a:endParaRPr lang="en-IN" sz="105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Data in Transit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End-to-end encryption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Secure protocols (TLS 1.3)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Certificate management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Network segmentation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Data in Use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Data Loss Prevention (DLP)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Dynamic data masking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Role-based access control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Attribute-based access control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Session management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CD9289-277F-81BC-7FBE-5F2BEE5F3453}"/>
              </a:ext>
            </a:extLst>
          </p:cNvPr>
          <p:cNvGrpSpPr/>
          <p:nvPr/>
        </p:nvGrpSpPr>
        <p:grpSpPr>
          <a:xfrm>
            <a:off x="3639521" y="2694008"/>
            <a:ext cx="5994129" cy="3558746"/>
            <a:chOff x="6176514" y="3023531"/>
            <a:chExt cx="5994129" cy="3558746"/>
          </a:xfrm>
        </p:grpSpPr>
        <p:sp>
          <p:nvSpPr>
            <p:cNvPr id="25" name="Can 24">
              <a:extLst>
                <a:ext uri="{FF2B5EF4-FFF2-40B4-BE49-F238E27FC236}">
                  <a16:creationId xmlns:a16="http://schemas.microsoft.com/office/drawing/2014/main" id="{00F61C1F-4E2D-8786-8CBE-8CC3EB467F68}"/>
                </a:ext>
              </a:extLst>
            </p:cNvPr>
            <p:cNvSpPr/>
            <p:nvPr/>
          </p:nvSpPr>
          <p:spPr>
            <a:xfrm>
              <a:off x="7481258" y="4575785"/>
              <a:ext cx="1158867" cy="604819"/>
            </a:xfrm>
            <a:prstGeom prst="can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Public Data</a:t>
              </a:r>
            </a:p>
          </p:txBody>
        </p:sp>
        <p:sp>
          <p:nvSpPr>
            <p:cNvPr id="26" name="Can 25">
              <a:extLst>
                <a:ext uri="{FF2B5EF4-FFF2-40B4-BE49-F238E27FC236}">
                  <a16:creationId xmlns:a16="http://schemas.microsoft.com/office/drawing/2014/main" id="{D03EE3E8-794C-6F67-43B4-D14B91C08468}"/>
                </a:ext>
              </a:extLst>
            </p:cNvPr>
            <p:cNvSpPr/>
            <p:nvPr/>
          </p:nvSpPr>
          <p:spPr>
            <a:xfrm>
              <a:off x="8158028" y="3929006"/>
              <a:ext cx="1158867" cy="604819"/>
            </a:xfrm>
            <a:prstGeom prst="can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Internal Data</a:t>
              </a:r>
            </a:p>
          </p:txBody>
        </p:sp>
        <p:sp>
          <p:nvSpPr>
            <p:cNvPr id="27" name="Can 26">
              <a:extLst>
                <a:ext uri="{FF2B5EF4-FFF2-40B4-BE49-F238E27FC236}">
                  <a16:creationId xmlns:a16="http://schemas.microsoft.com/office/drawing/2014/main" id="{635BBC92-88D6-8E5C-EFC3-D9F06BDC503E}"/>
                </a:ext>
              </a:extLst>
            </p:cNvPr>
            <p:cNvSpPr/>
            <p:nvPr/>
          </p:nvSpPr>
          <p:spPr>
            <a:xfrm>
              <a:off x="8238276" y="5243790"/>
              <a:ext cx="1158867" cy="604819"/>
            </a:xfrm>
            <a:prstGeom prst="can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1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Confidential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Can 27">
              <a:extLst>
                <a:ext uri="{FF2B5EF4-FFF2-40B4-BE49-F238E27FC236}">
                  <a16:creationId xmlns:a16="http://schemas.microsoft.com/office/drawing/2014/main" id="{BE987209-DE60-50FA-1F35-B54F33F3BEB6}"/>
                </a:ext>
              </a:extLst>
            </p:cNvPr>
            <p:cNvSpPr/>
            <p:nvPr/>
          </p:nvSpPr>
          <p:spPr>
            <a:xfrm>
              <a:off x="8986317" y="4533825"/>
              <a:ext cx="1158867" cy="604819"/>
            </a:xfrm>
            <a:prstGeom prst="can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1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Highly Confidential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Moon 28">
              <a:extLst>
                <a:ext uri="{FF2B5EF4-FFF2-40B4-BE49-F238E27FC236}">
                  <a16:creationId xmlns:a16="http://schemas.microsoft.com/office/drawing/2014/main" id="{0822F162-84E7-5ACE-67E4-30A9C60B4238}"/>
                </a:ext>
              </a:extLst>
            </p:cNvPr>
            <p:cNvSpPr/>
            <p:nvPr/>
          </p:nvSpPr>
          <p:spPr>
            <a:xfrm>
              <a:off x="6818014" y="3812090"/>
              <a:ext cx="871140" cy="1941793"/>
            </a:xfrm>
            <a:prstGeom prst="moon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Moon 29">
              <a:extLst>
                <a:ext uri="{FF2B5EF4-FFF2-40B4-BE49-F238E27FC236}">
                  <a16:creationId xmlns:a16="http://schemas.microsoft.com/office/drawing/2014/main" id="{02C58397-2D21-FF5D-AB9F-EA1DFAA1815B}"/>
                </a:ext>
              </a:extLst>
            </p:cNvPr>
            <p:cNvSpPr/>
            <p:nvPr/>
          </p:nvSpPr>
          <p:spPr>
            <a:xfrm flipH="1">
              <a:off x="10002279" y="3865998"/>
              <a:ext cx="710869" cy="1941793"/>
            </a:xfrm>
            <a:prstGeom prst="moon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Moon 30">
              <a:extLst>
                <a:ext uri="{FF2B5EF4-FFF2-40B4-BE49-F238E27FC236}">
                  <a16:creationId xmlns:a16="http://schemas.microsoft.com/office/drawing/2014/main" id="{23DBCD50-45C9-1FDC-BE24-37DEDA8890A5}"/>
                </a:ext>
              </a:extLst>
            </p:cNvPr>
            <p:cNvSpPr/>
            <p:nvPr/>
          </p:nvSpPr>
          <p:spPr>
            <a:xfrm rot="16200000" flipH="1">
              <a:off x="8536984" y="2394576"/>
              <a:ext cx="610110" cy="2262477"/>
            </a:xfrm>
            <a:prstGeom prst="moon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Moon 31">
              <a:extLst>
                <a:ext uri="{FF2B5EF4-FFF2-40B4-BE49-F238E27FC236}">
                  <a16:creationId xmlns:a16="http://schemas.microsoft.com/office/drawing/2014/main" id="{B2B6E8D5-BDC1-0793-8258-B49D533E7A06}"/>
                </a:ext>
              </a:extLst>
            </p:cNvPr>
            <p:cNvSpPr/>
            <p:nvPr/>
          </p:nvSpPr>
          <p:spPr>
            <a:xfrm rot="16200000">
              <a:off x="8586861" y="4913395"/>
              <a:ext cx="475927" cy="2262477"/>
            </a:xfrm>
            <a:prstGeom prst="moon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0EE1B44-AE79-F496-C0A3-7806BEABA497}"/>
                </a:ext>
              </a:extLst>
            </p:cNvPr>
            <p:cNvSpPr/>
            <p:nvPr/>
          </p:nvSpPr>
          <p:spPr>
            <a:xfrm>
              <a:off x="6239703" y="4564805"/>
              <a:ext cx="1528442" cy="488089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Marketing materials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Vehicle specifications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General pricing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8FB1526-B226-A20C-5B06-AC6DFCCC9B09}"/>
                </a:ext>
              </a:extLst>
            </p:cNvPr>
            <p:cNvSpPr/>
            <p:nvPr/>
          </p:nvSpPr>
          <p:spPr>
            <a:xfrm>
              <a:off x="7977833" y="3321990"/>
              <a:ext cx="2135097" cy="488089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Dealer operational data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- Inventory information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- Sales aggregates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2B4BE0E-8C7B-1D40-B0FF-A007CB735BEC}"/>
                </a:ext>
              </a:extLst>
            </p:cNvPr>
            <p:cNvSpPr/>
            <p:nvPr/>
          </p:nvSpPr>
          <p:spPr>
            <a:xfrm>
              <a:off x="8060691" y="5882582"/>
              <a:ext cx="2488476" cy="488089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- Customer personal information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- Financial transactions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- Service history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FBB3AC1-B302-7DF8-0D4D-8C2D5888665A}"/>
                </a:ext>
              </a:extLst>
            </p:cNvPr>
            <p:cNvSpPr/>
            <p:nvPr/>
          </p:nvSpPr>
          <p:spPr>
            <a:xfrm>
              <a:off x="9937288" y="4636695"/>
              <a:ext cx="2233355" cy="488089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- Payment information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- Authentication credentials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- Regulatory compliance data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587618E-2392-D6AA-FAC7-92364AFBA65B}"/>
                </a:ext>
              </a:extLst>
            </p:cNvPr>
            <p:cNvSpPr/>
            <p:nvPr/>
          </p:nvSpPr>
          <p:spPr>
            <a:xfrm>
              <a:off x="6176514" y="3023531"/>
              <a:ext cx="5396308" cy="3558746"/>
            </a:xfrm>
            <a:prstGeom prst="ellipse">
              <a:avLst/>
            </a:prstGeom>
            <a:noFill/>
            <a:ln w="76200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4C7712A5-BA95-BE2D-8251-BCE612BBF0D6}"/>
              </a:ext>
            </a:extLst>
          </p:cNvPr>
          <p:cNvSpPr/>
          <p:nvPr/>
        </p:nvSpPr>
        <p:spPr>
          <a:xfrm>
            <a:off x="5844978" y="1534680"/>
            <a:ext cx="984690" cy="8317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Privacy and  Governance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14957C2-F42A-3A0A-99E4-3912652B3EC5}"/>
              </a:ext>
            </a:extLst>
          </p:cNvPr>
          <p:cNvGrpSpPr/>
          <p:nvPr/>
        </p:nvGrpSpPr>
        <p:grpSpPr>
          <a:xfrm>
            <a:off x="8188656" y="1311698"/>
            <a:ext cx="2627890" cy="1282896"/>
            <a:chOff x="3690379" y="3091396"/>
            <a:chExt cx="2939296" cy="210503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75B16FE-3A38-AD78-42A7-D98F931CA697}"/>
                </a:ext>
              </a:extLst>
            </p:cNvPr>
            <p:cNvSpPr/>
            <p:nvPr/>
          </p:nvSpPr>
          <p:spPr>
            <a:xfrm>
              <a:off x="3690379" y="3091396"/>
              <a:ext cx="2939296" cy="21050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Governance Processes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09D73A7-7642-6B50-9143-B018DFA081C4}"/>
                </a:ext>
              </a:extLst>
            </p:cNvPr>
            <p:cNvGrpSpPr/>
            <p:nvPr/>
          </p:nvGrpSpPr>
          <p:grpSpPr>
            <a:xfrm>
              <a:off x="4836979" y="3389900"/>
              <a:ext cx="817598" cy="297752"/>
              <a:chOff x="5653789" y="4762048"/>
              <a:chExt cx="817598" cy="297752"/>
            </a:xfrm>
          </p:grpSpPr>
          <p:sp>
            <p:nvSpPr>
              <p:cNvPr id="46" name="Pentagon 45">
                <a:extLst>
                  <a:ext uri="{FF2B5EF4-FFF2-40B4-BE49-F238E27FC236}">
                    <a16:creationId xmlns:a16="http://schemas.microsoft.com/office/drawing/2014/main" id="{D62E32C2-45D2-5900-0290-5BD91324D707}"/>
                  </a:ext>
                </a:extLst>
              </p:cNvPr>
              <p:cNvSpPr/>
              <p:nvPr/>
            </p:nvSpPr>
            <p:spPr>
              <a:xfrm>
                <a:off x="5828649" y="4762048"/>
                <a:ext cx="163630" cy="134754"/>
              </a:xfrm>
              <a:prstGeom prst="homePlat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Pentagon 46">
                <a:extLst>
                  <a:ext uri="{FF2B5EF4-FFF2-40B4-BE49-F238E27FC236}">
                    <a16:creationId xmlns:a16="http://schemas.microsoft.com/office/drawing/2014/main" id="{F3C85A2F-DDC6-EAEB-E968-A35E312A7937}"/>
                  </a:ext>
                </a:extLst>
              </p:cNvPr>
              <p:cNvSpPr/>
              <p:nvPr/>
            </p:nvSpPr>
            <p:spPr>
              <a:xfrm>
                <a:off x="5981049" y="4914448"/>
                <a:ext cx="163630" cy="134754"/>
              </a:xfrm>
              <a:prstGeom prst="homePlat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Pentagon 47">
                <a:extLst>
                  <a:ext uri="{FF2B5EF4-FFF2-40B4-BE49-F238E27FC236}">
                    <a16:creationId xmlns:a16="http://schemas.microsoft.com/office/drawing/2014/main" id="{BE1060B8-16A1-67F4-916C-96EF835303F5}"/>
                  </a:ext>
                </a:extLst>
              </p:cNvPr>
              <p:cNvSpPr/>
              <p:nvPr/>
            </p:nvSpPr>
            <p:spPr>
              <a:xfrm>
                <a:off x="5653789" y="4925046"/>
                <a:ext cx="163630" cy="134754"/>
              </a:xfrm>
              <a:prstGeom prst="homePlat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Pentagon 48">
                <a:extLst>
                  <a:ext uri="{FF2B5EF4-FFF2-40B4-BE49-F238E27FC236}">
                    <a16:creationId xmlns:a16="http://schemas.microsoft.com/office/drawing/2014/main" id="{C9F79D4A-1729-991D-2C73-B59E0ED8BFF1}"/>
                  </a:ext>
                </a:extLst>
              </p:cNvPr>
              <p:cNvSpPr/>
              <p:nvPr/>
            </p:nvSpPr>
            <p:spPr>
              <a:xfrm>
                <a:off x="6307757" y="4829425"/>
                <a:ext cx="163630" cy="134754"/>
              </a:xfrm>
              <a:prstGeom prst="homePlat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0" name="Elbow Connector 49">
                <a:extLst>
                  <a:ext uri="{FF2B5EF4-FFF2-40B4-BE49-F238E27FC236}">
                    <a16:creationId xmlns:a16="http://schemas.microsoft.com/office/drawing/2014/main" id="{2FEC3F2C-5520-425E-56DB-3658AF1455FB}"/>
                  </a:ext>
                </a:extLst>
              </p:cNvPr>
              <p:cNvCxnSpPr>
                <a:stCxn id="46" idx="3"/>
                <a:endCxn id="49" idx="1"/>
              </p:cNvCxnSpPr>
              <p:nvPr/>
            </p:nvCxnSpPr>
            <p:spPr>
              <a:xfrm>
                <a:off x="5992279" y="4829425"/>
                <a:ext cx="315478" cy="67377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Elbow Connector 50">
                <a:extLst>
                  <a:ext uri="{FF2B5EF4-FFF2-40B4-BE49-F238E27FC236}">
                    <a16:creationId xmlns:a16="http://schemas.microsoft.com/office/drawing/2014/main" id="{6F4D7D27-C294-E13F-F651-F31C525B9150}"/>
                  </a:ext>
                </a:extLst>
              </p:cNvPr>
              <p:cNvCxnSpPr>
                <a:cxnSpLocks/>
                <a:stCxn id="47" idx="3"/>
                <a:endCxn id="49" idx="1"/>
              </p:cNvCxnSpPr>
              <p:nvPr/>
            </p:nvCxnSpPr>
            <p:spPr>
              <a:xfrm flipV="1">
                <a:off x="6144679" y="4896802"/>
                <a:ext cx="163078" cy="85023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Elbow Connector 51">
                <a:extLst>
                  <a:ext uri="{FF2B5EF4-FFF2-40B4-BE49-F238E27FC236}">
                    <a16:creationId xmlns:a16="http://schemas.microsoft.com/office/drawing/2014/main" id="{3596FBFB-7789-B973-2B34-D811D72A61A6}"/>
                  </a:ext>
                </a:extLst>
              </p:cNvPr>
              <p:cNvCxnSpPr>
                <a:cxnSpLocks/>
                <a:stCxn id="48" idx="3"/>
                <a:endCxn id="47" idx="1"/>
              </p:cNvCxnSpPr>
              <p:nvPr/>
            </p:nvCxnSpPr>
            <p:spPr>
              <a:xfrm flipV="1">
                <a:off x="5817419" y="4981825"/>
                <a:ext cx="163630" cy="10598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5AD1107-9D64-FC82-F728-6E971474DFB4}"/>
                </a:ext>
              </a:extLst>
            </p:cNvPr>
            <p:cNvSpPr/>
            <p:nvPr/>
          </p:nvSpPr>
          <p:spPr>
            <a:xfrm>
              <a:off x="3760913" y="3781181"/>
              <a:ext cx="1316516" cy="61616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privacy impact assessments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27C0A23-CDF4-B2CC-4849-5226DB68525E}"/>
                </a:ext>
              </a:extLst>
            </p:cNvPr>
            <p:cNvSpPr/>
            <p:nvPr/>
          </p:nvSpPr>
          <p:spPr>
            <a:xfrm>
              <a:off x="3760913" y="4477213"/>
              <a:ext cx="1316516" cy="61616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Regular privacy audits</a:t>
              </a:r>
              <a:endPara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D1DBAF7-C4D6-3661-27F0-8E22714B7C43}"/>
                </a:ext>
              </a:extLst>
            </p:cNvPr>
            <p:cNvSpPr/>
            <p:nvPr/>
          </p:nvSpPr>
          <p:spPr>
            <a:xfrm>
              <a:off x="5218873" y="3781181"/>
              <a:ext cx="1316516" cy="61616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Compliance monitoring</a:t>
              </a:r>
              <a:endPara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155F8E-46C8-BCF6-934D-03C503837BE9}"/>
                </a:ext>
              </a:extLst>
            </p:cNvPr>
            <p:cNvSpPr/>
            <p:nvPr/>
          </p:nvSpPr>
          <p:spPr>
            <a:xfrm>
              <a:off x="5233478" y="4506595"/>
              <a:ext cx="1316516" cy="61616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Incident response procedures</a:t>
              </a:r>
              <a:endPara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B1FA5CF-A6AB-61F8-F840-F8E5CF66DE76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6829668" y="1950541"/>
            <a:ext cx="1358988" cy="26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5E1BACC-D7E9-3B10-4C98-2FDC51CCC857}"/>
              </a:ext>
            </a:extLst>
          </p:cNvPr>
          <p:cNvCxnSpPr>
            <a:cxnSpLocks/>
            <a:stCxn id="38" idx="2"/>
            <a:endCxn id="37" idx="0"/>
          </p:cNvCxnSpPr>
          <p:nvPr/>
        </p:nvCxnSpPr>
        <p:spPr>
          <a:xfrm>
            <a:off x="6337323" y="2366401"/>
            <a:ext cx="352" cy="3276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ight Brace 54">
            <a:extLst>
              <a:ext uri="{FF2B5EF4-FFF2-40B4-BE49-F238E27FC236}">
                <a16:creationId xmlns:a16="http://schemas.microsoft.com/office/drawing/2014/main" id="{7A25BA62-F80B-3A2E-C88B-9517A0C53409}"/>
              </a:ext>
            </a:extLst>
          </p:cNvPr>
          <p:cNvSpPr/>
          <p:nvPr/>
        </p:nvSpPr>
        <p:spPr>
          <a:xfrm>
            <a:off x="2648699" y="1798726"/>
            <a:ext cx="1027186" cy="4282331"/>
          </a:xfrm>
          <a:prstGeom prst="rightBrace">
            <a:avLst>
              <a:gd name="adj1" fmla="val 62467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ight Brace 55">
            <a:extLst>
              <a:ext uri="{FF2B5EF4-FFF2-40B4-BE49-F238E27FC236}">
                <a16:creationId xmlns:a16="http://schemas.microsoft.com/office/drawing/2014/main" id="{5D20FF34-A790-0A39-226E-512F428B5C60}"/>
              </a:ext>
            </a:extLst>
          </p:cNvPr>
          <p:cNvSpPr/>
          <p:nvPr/>
        </p:nvSpPr>
        <p:spPr>
          <a:xfrm flipH="1">
            <a:off x="9212891" y="2875853"/>
            <a:ext cx="1081671" cy="3558746"/>
          </a:xfrm>
          <a:prstGeom prst="rightBrace">
            <a:avLst>
              <a:gd name="adj1" fmla="val 43747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8516690-9796-6DC3-5CE2-CFA3FF62F000}"/>
              </a:ext>
            </a:extLst>
          </p:cNvPr>
          <p:cNvSpPr txBox="1"/>
          <p:nvPr/>
        </p:nvSpPr>
        <p:spPr>
          <a:xfrm>
            <a:off x="9522882" y="2759600"/>
            <a:ext cx="2761885" cy="394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457200">
              <a:lnSpc>
                <a:spcPct val="150000"/>
              </a:lnSpc>
            </a:pPr>
            <a:r>
              <a:rPr lang="en-IN" sz="105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B. Access Control Framework</a:t>
            </a:r>
          </a:p>
          <a:p>
            <a:pPr marL="457200">
              <a:lnSpc>
                <a:spcPct val="150000"/>
              </a:lnSpc>
            </a:pPr>
            <a:r>
              <a:rPr lang="en-IN" sz="105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Identity Management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Privileged Access Management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Privileged Identity Management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</a:t>
            </a: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Multi-factor authentication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Single sign-on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Password policies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Identity lifecycle management</a:t>
            </a:r>
          </a:p>
          <a:p>
            <a:pPr marL="457200">
              <a:lnSpc>
                <a:spcPct val="150000"/>
              </a:lnSpc>
            </a:pPr>
            <a:endParaRPr lang="en-IN" sz="105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Authorization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Fine-grained access control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Context-aware permissions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Temporal access rules</a:t>
            </a:r>
          </a:p>
          <a:p>
            <a:pPr marL="457200">
              <a:lnSpc>
                <a:spcPct val="150000"/>
              </a:lnSpc>
            </a:pPr>
            <a:r>
              <a:rPr lang="en-IN" sz="105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Delegation controls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030FA0-B492-C60E-85AC-BF2C44D8649C}"/>
              </a:ext>
            </a:extLst>
          </p:cNvPr>
          <p:cNvSpPr/>
          <p:nvPr/>
        </p:nvSpPr>
        <p:spPr>
          <a:xfrm>
            <a:off x="109332" y="1154645"/>
            <a:ext cx="11938550" cy="20699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Approach</a:t>
            </a:r>
          </a:p>
        </p:txBody>
      </p:sp>
    </p:spTree>
    <p:extLst>
      <p:ext uri="{BB962C8B-B14F-4D97-AF65-F5344CB8AC3E}">
        <p14:creationId xmlns:p14="http://schemas.microsoft.com/office/powerpoint/2010/main" val="4194786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Macintosh PowerPoint</Application>
  <PresentationFormat>Widescreen</PresentationFormat>
  <Paragraphs>60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IBM Plex Sans</vt:lpstr>
      <vt:lpstr>Office Theme</vt:lpstr>
      <vt:lpstr>PowerPoint Presentation</vt:lpstr>
      <vt:lpstr>8. Data Privacy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Taj Shaik</dc:creator>
  <cp:lastModifiedBy>Taj Shaik</cp:lastModifiedBy>
  <cp:revision>1</cp:revision>
  <dcterms:created xsi:type="dcterms:W3CDTF">2025-08-22T07:11:25Z</dcterms:created>
  <dcterms:modified xsi:type="dcterms:W3CDTF">2025-08-22T07:12:01Z</dcterms:modified>
</cp:coreProperties>
</file>