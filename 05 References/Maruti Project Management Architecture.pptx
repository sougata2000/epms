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374753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5"/>
  </p:normalViewPr>
  <p:slideViewPr>
    <p:cSldViewPr snapToGrid="0">
      <p:cViewPr varScale="1">
        <p:scale>
          <a:sx n="107" d="100"/>
          <a:sy n="10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DD5D2-73E2-5F4C-AF1F-66B045480B00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8206-C16F-9844-B09C-54615085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5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4F9F-6834-1768-47D0-C1EE27AB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DC3B1-E3F3-A355-064B-4B43AB8CE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C739D-D8C3-3DF2-DAF1-0094F3172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6B3E-B34E-8EC9-1741-F00A99E10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3F022-106F-8548-8199-2F2D99F737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2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FDA0-1412-2A42-BC8D-2C2A5F7BD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AB8B8-042F-D80D-21E4-45E593615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D9B1D-9930-6043-5F9E-4E9B6B13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96133-4E64-E04A-EB2A-6D54C814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D38F-E7B1-1EB7-03BD-3B6E266A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9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354B-22B4-1920-5CB8-7EA2954F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285-0589-0282-6381-59AF90C5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3F48-A318-131F-D771-EFEA651D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0F6B1-0414-06C4-8E02-F6D0FFBB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1C925-4929-8F14-54D7-33B9BA3E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8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CF98-B84A-BB24-EEB5-21E84303C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399F6-7BCA-7B1A-DBAF-823993A29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D3AC7-2088-47AC-CF26-2793F592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2C91E-156F-215A-2950-710E8859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9548-EA2E-7D1E-B64D-8997C068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3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46C3-EE55-B6F6-2B6E-0F3AEF71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5980-5F72-1BFF-6026-B6F228CFF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8B21E-B7FF-8DBB-5B0A-7FBAAB18D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ACC1F-E06F-E607-EE9E-2DB29BB1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19BA2-7344-F746-880C-6EEAC9DE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819D9-2E34-7390-5E37-17A2E8F8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6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E53C-24F0-4BDE-8100-2D6646F2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B9F15-D421-8A44-258C-D2D89E44C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14750-A511-B5FF-AD62-A1B65852F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1E2F4-66BD-9068-0975-DC3F2A7A9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F12ABB-5AC4-8FD6-A6D1-1FC48112B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C467B-DC36-2F8A-31A0-07165290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4A5AA-483D-BE14-962F-C303A1A3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AA8D7F-67A7-6218-C31E-5EA1BA8A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BBAC-9CD6-6EEF-A227-41FE89C8B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9E537-B43E-33FD-930B-B52120D6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C569E-C28C-3382-009F-5E537FB5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5FD81-9C45-6665-5484-B83FFB25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3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54CFDB-6A89-B49E-C302-DE82D8C87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779B5-9288-B2B0-6A53-31BEEF78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6509F-6E16-C401-79E0-304CE92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6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F813-972E-2F26-CC15-0C348AE3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56559-3874-F63E-B794-4528C2BC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53696-90A9-AED4-0BC8-83CF407CD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1E88C-C86F-1789-CBE3-9F87B861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B148F-B9B3-D73A-28C7-191579C6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D9217-C637-CF0C-44F2-CEC5B6C6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3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987A0-7A9F-36E4-4FC1-0095D655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7417E-2FC1-B90A-F037-FF151B76F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5B9CE-348B-0244-84D8-6CCB9D448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C7609-FF60-7F34-C037-F603D66D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94A26-7DB4-523A-817C-8140D8DD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9E039-9CDA-669B-59C1-D819384B0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5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E40A-9A67-4F45-74FF-F7A832D2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B8ACF-A3EF-3CDD-8DA9-635901C6F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285B7-AB7E-CB5E-D0DF-EAE0260C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88D1-13FE-D038-3181-CBF74E04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58B03-A983-C81D-0BF8-40D57C71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F6001E-6CA9-FE27-1216-19A66A2B7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9E35C-CA77-42D3-462A-DEAE9537E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DCCB-20B9-6E4D-13E7-DB6401BE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8BD1-C9E3-FD6A-3058-949F6D29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3C802-AF89-CA47-C407-9C6A0DD7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6FCDE-696E-126E-035B-76EE4F2E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37236"/>
            <a:ext cx="1015648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B44167-9C2B-314F-F177-B30DAF0A45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4124" y="1714500"/>
            <a:ext cx="11620575" cy="458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6E07E-CE19-0417-7226-C47B7C76691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445479" y="6356350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55786FF4-BED2-F60F-A907-2AA4426CF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© 2025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8302206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30EB4-69C0-05C3-FBF6-4E11568CE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4EC9E-BDC3-5BEE-7003-927E7A05C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674EE-CA6A-2590-212E-6ACA25143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7F6A8-C553-4144-9D43-94A1DB88FBEE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815CD-E825-3136-14B7-F94D71DE9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02E69-E102-22F9-0242-C20B5C5B6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5FFD3-3024-5F48-ADDA-8E52F59B8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8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microsoft.com/office/2007/relationships/hdphoto" Target="../media/hdphoto1.wdp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sv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51ACDE-56B8-4FA0-8427-B9E42698B30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099941" y="6540479"/>
            <a:ext cx="19939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IBM Plex Sans"/>
                <a:ea typeface="+mn-ea"/>
                <a:cs typeface="IBM Plex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99" marR="0" lvl="0" indent="0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© 2021 IBM </a:t>
            </a:r>
            <a:r>
              <a:rPr lang="en-GB" spc="-5"/>
              <a:t>Corporation</a:t>
            </a:r>
            <a:r>
              <a:rPr lang="en-GB"/>
              <a:t> | IBM </a:t>
            </a:r>
            <a:r>
              <a:rPr lang="en-GB" spc="-5"/>
              <a:t>Confidential</a:t>
            </a:r>
            <a:endParaRPr kumimoji="0" lang="en-GB" sz="800" b="0" i="0" u="none" strike="noStrike" kern="1200" cap="none" spc="-5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EE3F5-82DE-402A-A4D9-0C458C76895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734291" y="6540479"/>
            <a:ext cx="17792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/>
                </a:solidFill>
                <a:latin typeface="IBM Plex Sans"/>
                <a:ea typeface="+mn-ea"/>
                <a:cs typeface="IBM Plex San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99" marR="0" lvl="0" indent="0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pc="-10"/>
              <a:t>Template - 2021 Edition, Version 2.02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5DAE3E-053D-463A-B7E0-0B0FFCF74826}"/>
              </a:ext>
            </a:extLst>
          </p:cNvPr>
          <p:cNvSpPr txBox="1">
            <a:spLocks/>
          </p:cNvSpPr>
          <p:nvPr/>
        </p:nvSpPr>
        <p:spPr>
          <a:xfrm>
            <a:off x="430100" y="363419"/>
            <a:ext cx="11338151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61F80"/>
                </a:solidFill>
                <a:latin typeface="IBM Plex Sans"/>
                <a:ea typeface="+mj-ea"/>
                <a:cs typeface="IBM Plex San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61F80"/>
                </a:solidFill>
                <a:effectLst/>
                <a:uLnTx/>
                <a:uFillTx/>
                <a:latin typeface="IBM Plex Sans"/>
                <a:ea typeface="+mj-ea"/>
              </a:rPr>
              <a:t>MSIL Project Management Architecture and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08FBBA-2142-1E32-A3D3-03F53DB04752}"/>
              </a:ext>
            </a:extLst>
          </p:cNvPr>
          <p:cNvSpPr txBox="1"/>
          <p:nvPr/>
        </p:nvSpPr>
        <p:spPr>
          <a:xfrm>
            <a:off x="430100" y="745907"/>
            <a:ext cx="11195986" cy="5919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E2E Architecture of Project Management Application Platform: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Recommended architectural principles /frameworks, standards 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Architectural building blocks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Platform architecture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Integration architecture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Potential technology choices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Deployment Patterns</a:t>
            </a:r>
            <a:endParaRPr lang="en-IN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focus of the architectural consulting would be around following dimensions: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Application Availability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Application Reliability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Application Scalability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Stability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Performance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Application Security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Observability and Auto Healing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Deployment/</a:t>
            </a:r>
            <a:r>
              <a:rPr lang="en-IN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DevSecOps</a:t>
            </a:r>
            <a:endParaRPr lang="en-IN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Innovation &amp; Flexibility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Technology &amp; Tooling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 the Technology framework and Tooling mechanism.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Identify possible innovations/initiatives for bringing more automation and reduce the operational expenditure and faster time to market.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5A5027C-A473-5AE9-88F3-58EE887B5EBD}"/>
              </a:ext>
            </a:extLst>
          </p:cNvPr>
          <p:cNvGrpSpPr/>
          <p:nvPr/>
        </p:nvGrpSpPr>
        <p:grpSpPr>
          <a:xfrm>
            <a:off x="7189470" y="192524"/>
            <a:ext cx="4818937" cy="5824726"/>
            <a:chOff x="7224112" y="715753"/>
            <a:chExt cx="4772865" cy="51844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740645-C79B-977B-9D7A-769E93B1858A}"/>
                </a:ext>
              </a:extLst>
            </p:cNvPr>
            <p:cNvSpPr txBox="1"/>
            <p:nvPr/>
          </p:nvSpPr>
          <p:spPr>
            <a:xfrm>
              <a:off x="8163805" y="3337166"/>
              <a:ext cx="2503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Deployment Patterns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FC3A0A46-328F-8AE2-D5E8-C9A49A52AFC7}"/>
                </a:ext>
              </a:extLst>
            </p:cNvPr>
            <p:cNvSpPr/>
            <p:nvPr/>
          </p:nvSpPr>
          <p:spPr>
            <a:xfrm>
              <a:off x="7879886" y="3660485"/>
              <a:ext cx="1471258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 Prem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BFCAE23-807D-A8EA-F70F-B47A05B857EA}"/>
                </a:ext>
              </a:extLst>
            </p:cNvPr>
            <p:cNvSpPr/>
            <p:nvPr/>
          </p:nvSpPr>
          <p:spPr>
            <a:xfrm>
              <a:off x="9446943" y="3648050"/>
              <a:ext cx="1471258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Cloud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2A802CA-EB53-5952-6FA1-942195FEFF71}"/>
                </a:ext>
              </a:extLst>
            </p:cNvPr>
            <p:cNvSpPr/>
            <p:nvPr/>
          </p:nvSpPr>
          <p:spPr>
            <a:xfrm>
              <a:off x="8711313" y="4030669"/>
              <a:ext cx="1471258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Hybrid</a:t>
              </a:r>
            </a:p>
          </p:txBody>
        </p:sp>
        <p:pic>
          <p:nvPicPr>
            <p:cNvPr id="16" name="Picture 32" descr="On Premise Icons - Free SVG &amp; PNG On Premise Images - Noun Project">
              <a:extLst>
                <a:ext uri="{FF2B5EF4-FFF2-40B4-BE49-F238E27FC236}">
                  <a16:creationId xmlns:a16="http://schemas.microsoft.com/office/drawing/2014/main" id="{81CE6C7A-AADF-8DCA-8C46-BFE9198B32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902" y="3589197"/>
              <a:ext cx="556040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4" descr="Cloud - Free weather icons">
              <a:extLst>
                <a:ext uri="{FF2B5EF4-FFF2-40B4-BE49-F238E27FC236}">
                  <a16:creationId xmlns:a16="http://schemas.microsoft.com/office/drawing/2014/main" id="{C1BB452E-83B3-F86E-0A65-4AC8B9E63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4575" y="3566577"/>
              <a:ext cx="532762" cy="360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32" descr="On Premise Icons - Free SVG &amp; PNG On Premise Images - Noun Project">
              <a:extLst>
                <a:ext uri="{FF2B5EF4-FFF2-40B4-BE49-F238E27FC236}">
                  <a16:creationId xmlns:a16="http://schemas.microsoft.com/office/drawing/2014/main" id="{09A5B045-9BF5-633B-44E4-3ED906F40C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2396" y="3990520"/>
              <a:ext cx="556040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34" descr="Cloud - Free weather icons">
              <a:extLst>
                <a:ext uri="{FF2B5EF4-FFF2-40B4-BE49-F238E27FC236}">
                  <a16:creationId xmlns:a16="http://schemas.microsoft.com/office/drawing/2014/main" id="{5220A917-9305-563A-ED3B-510285982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4662" y="3994474"/>
              <a:ext cx="532762" cy="360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8F26FB-4D26-DFD9-3B63-1FF41889F61A}"/>
                </a:ext>
              </a:extLst>
            </p:cNvPr>
            <p:cNvSpPr txBox="1"/>
            <p:nvPr/>
          </p:nvSpPr>
          <p:spPr>
            <a:xfrm>
              <a:off x="8278105" y="715753"/>
              <a:ext cx="25034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Business Functional</a:t>
              </a:r>
            </a:p>
          </p:txBody>
        </p:sp>
        <p:sp>
          <p:nvSpPr>
            <p:cNvPr id="21" name="Rounded Rectangle 36">
              <a:extLst>
                <a:ext uri="{FF2B5EF4-FFF2-40B4-BE49-F238E27FC236}">
                  <a16:creationId xmlns:a16="http://schemas.microsoft.com/office/drawing/2014/main" id="{3AD74D52-3988-17E4-00CB-93A776F2DA1B}"/>
                </a:ext>
              </a:extLst>
            </p:cNvPr>
            <p:cNvSpPr/>
            <p:nvPr/>
          </p:nvSpPr>
          <p:spPr>
            <a:xfrm>
              <a:off x="7855711" y="932131"/>
              <a:ext cx="1471258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 leveraging AI</a:t>
              </a:r>
            </a:p>
          </p:txBody>
        </p:sp>
        <p:sp>
          <p:nvSpPr>
            <p:cNvPr id="22" name="Rounded Rectangle 37">
              <a:extLst>
                <a:ext uri="{FF2B5EF4-FFF2-40B4-BE49-F238E27FC236}">
                  <a16:creationId xmlns:a16="http://schemas.microsoft.com/office/drawing/2014/main" id="{8B08358A-6C20-AB27-831D-33472DBFB73B}"/>
                </a:ext>
              </a:extLst>
            </p:cNvPr>
            <p:cNvSpPr/>
            <p:nvPr/>
          </p:nvSpPr>
          <p:spPr>
            <a:xfrm>
              <a:off x="9422768" y="919696"/>
              <a:ext cx="1471258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Ecosystem</a:t>
              </a:r>
            </a:p>
          </p:txBody>
        </p:sp>
        <p:sp>
          <p:nvSpPr>
            <p:cNvPr id="23" name="Rounded Rectangle 37">
              <a:extLst>
                <a:ext uri="{FF2B5EF4-FFF2-40B4-BE49-F238E27FC236}">
                  <a16:creationId xmlns:a16="http://schemas.microsoft.com/office/drawing/2014/main" id="{C6E4B92F-EAAC-453D-843F-DA0D1D54B6E7}"/>
                </a:ext>
              </a:extLst>
            </p:cNvPr>
            <p:cNvSpPr/>
            <p:nvPr/>
          </p:nvSpPr>
          <p:spPr>
            <a:xfrm>
              <a:off x="8651267" y="1220468"/>
              <a:ext cx="1471258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Workflows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3E8623-0A0A-136D-9CE8-F897720A40D6}"/>
                </a:ext>
              </a:extLst>
            </p:cNvPr>
            <p:cNvSpPr txBox="1"/>
            <p:nvPr/>
          </p:nvSpPr>
          <p:spPr>
            <a:xfrm>
              <a:off x="7785361" y="1785086"/>
              <a:ext cx="31689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Architecture Design Pattern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E5D77340-901E-BF19-85AA-5669DE4C8299}"/>
                </a:ext>
              </a:extLst>
            </p:cNvPr>
            <p:cNvSpPr/>
            <p:nvPr/>
          </p:nvSpPr>
          <p:spPr>
            <a:xfrm>
              <a:off x="7326030" y="2064995"/>
              <a:ext cx="1857637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Headless Architecture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75DB28D9-2E43-BC2A-645E-3F2660922D0D}"/>
                </a:ext>
              </a:extLst>
            </p:cNvPr>
            <p:cNvSpPr/>
            <p:nvPr/>
          </p:nvSpPr>
          <p:spPr>
            <a:xfrm>
              <a:off x="7326030" y="2386415"/>
              <a:ext cx="1857637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Event Driven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2A3BB05-54C3-1681-BB94-B79AC31DCC3A}"/>
                </a:ext>
              </a:extLst>
            </p:cNvPr>
            <p:cNvSpPr/>
            <p:nvPr/>
          </p:nvSpPr>
          <p:spPr>
            <a:xfrm>
              <a:off x="9575757" y="2064995"/>
              <a:ext cx="1857637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CQRS pattern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42ED29BB-23B1-DD3D-51D4-06444DE3F08C}"/>
                </a:ext>
              </a:extLst>
            </p:cNvPr>
            <p:cNvSpPr/>
            <p:nvPr/>
          </p:nvSpPr>
          <p:spPr>
            <a:xfrm>
              <a:off x="9575757" y="2386415"/>
              <a:ext cx="1857637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Microservices API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D7B4A013-958A-5637-DC38-72628D73BCE1}"/>
                </a:ext>
              </a:extLst>
            </p:cNvPr>
            <p:cNvSpPr/>
            <p:nvPr/>
          </p:nvSpPr>
          <p:spPr>
            <a:xfrm>
              <a:off x="9575757" y="2717637"/>
              <a:ext cx="1857637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Layered Architecture – N-Tier 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5C17F8C-24AE-87BF-EBE4-92B78647F544}"/>
                </a:ext>
              </a:extLst>
            </p:cNvPr>
            <p:cNvSpPr/>
            <p:nvPr/>
          </p:nvSpPr>
          <p:spPr>
            <a:xfrm>
              <a:off x="7326030" y="2717637"/>
              <a:ext cx="1857637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Hexagonal Architecture</a:t>
              </a:r>
            </a:p>
          </p:txBody>
        </p:sp>
        <p:pic>
          <p:nvPicPr>
            <p:cNvPr id="31" name="Picture 16" descr="Flywheel Icons - Free SVG &amp; PNG Flywheel Images - Noun Project">
              <a:extLst>
                <a:ext uri="{FF2B5EF4-FFF2-40B4-BE49-F238E27FC236}">
                  <a16:creationId xmlns:a16="http://schemas.microsoft.com/office/drawing/2014/main" id="{40772B16-48BA-E7A0-F0FF-75E30EB0E2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0339" y="2005020"/>
              <a:ext cx="418733" cy="282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flywheel gear 36642103 Vector Art at Vecteezy">
              <a:extLst>
                <a:ext uri="{FF2B5EF4-FFF2-40B4-BE49-F238E27FC236}">
                  <a16:creationId xmlns:a16="http://schemas.microsoft.com/office/drawing/2014/main" id="{D688B0BA-6793-BE57-2CC2-84ACA8450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47245" y="2018093"/>
              <a:ext cx="498767" cy="340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2">
              <a:extLst>
                <a:ext uri="{FF2B5EF4-FFF2-40B4-BE49-F238E27FC236}">
                  <a16:creationId xmlns:a16="http://schemas.microsoft.com/office/drawing/2014/main" id="{F37DEA6B-EA6A-B00E-BE6E-B5329CC0A1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7623" y="2364779"/>
              <a:ext cx="278799" cy="305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4" descr="Microservices Generic color lineal-color icon | Freepik">
              <a:extLst>
                <a:ext uri="{FF2B5EF4-FFF2-40B4-BE49-F238E27FC236}">
                  <a16:creationId xmlns:a16="http://schemas.microsoft.com/office/drawing/2014/main" id="{0B670B48-DFDC-DDBC-96BE-95B301F55A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3324" y="2329121"/>
              <a:ext cx="532762" cy="360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6" descr="Architecture, chart, connection, digital, hexagonal, hexagonal  interconnections, interconnectivity icon - Download on Iconfinder">
              <a:extLst>
                <a:ext uri="{FF2B5EF4-FFF2-40B4-BE49-F238E27FC236}">
                  <a16:creationId xmlns:a16="http://schemas.microsoft.com/office/drawing/2014/main" id="{A05DEA4E-4163-994D-383F-F37BD28D5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8949" y="2665460"/>
              <a:ext cx="515359" cy="34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8" descr="Three Layers - Free interface icons">
              <a:extLst>
                <a:ext uri="{FF2B5EF4-FFF2-40B4-BE49-F238E27FC236}">
                  <a16:creationId xmlns:a16="http://schemas.microsoft.com/office/drawing/2014/main" id="{F294EE5B-91AC-5CE2-F412-2949215CE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9868" y="2744983"/>
              <a:ext cx="359675" cy="243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EE13360-9F1A-9776-494D-04F80ECE48FD}"/>
                </a:ext>
              </a:extLst>
            </p:cNvPr>
            <p:cNvSpPr txBox="1"/>
            <p:nvPr/>
          </p:nvSpPr>
          <p:spPr>
            <a:xfrm>
              <a:off x="8569223" y="4582387"/>
              <a:ext cx="12202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Non-Functional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3ED3C33-CB2B-B6C7-E3A7-4EFCB87A395C}"/>
                </a:ext>
              </a:extLst>
            </p:cNvPr>
            <p:cNvSpPr/>
            <p:nvPr/>
          </p:nvSpPr>
          <p:spPr>
            <a:xfrm>
              <a:off x="10223825" y="5431659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Interoperability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AD0E6627-E50B-E79F-BB40-07D20969BFD8}"/>
                </a:ext>
              </a:extLst>
            </p:cNvPr>
            <p:cNvSpPr/>
            <p:nvPr/>
          </p:nvSpPr>
          <p:spPr>
            <a:xfrm>
              <a:off x="8730883" y="4861306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Maintainability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E8F65CB-40A9-9849-7E23-6DFED5A9D543}"/>
                </a:ext>
              </a:extLst>
            </p:cNvPr>
            <p:cNvSpPr/>
            <p:nvPr/>
          </p:nvSpPr>
          <p:spPr>
            <a:xfrm>
              <a:off x="8730883" y="5241541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Security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1D91622-FCD3-D6E4-8686-0377FADB661C}"/>
                </a:ext>
              </a:extLst>
            </p:cNvPr>
            <p:cNvSpPr/>
            <p:nvPr/>
          </p:nvSpPr>
          <p:spPr>
            <a:xfrm>
              <a:off x="7224112" y="5051423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Availability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B6A0BFB-FFF5-B206-F736-5FCDBA5C519B}"/>
                </a:ext>
              </a:extLst>
            </p:cNvPr>
            <p:cNvSpPr/>
            <p:nvPr/>
          </p:nvSpPr>
          <p:spPr>
            <a:xfrm>
              <a:off x="7224112" y="5431659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Scalability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C37B3C70-68EA-35C9-C945-50D87C3FA76F}"/>
                </a:ext>
              </a:extLst>
            </p:cNvPr>
            <p:cNvSpPr/>
            <p:nvPr/>
          </p:nvSpPr>
          <p:spPr>
            <a:xfrm>
              <a:off x="10223825" y="5051423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Performance</a:t>
              </a: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DA1D8CAA-6B90-A8C0-1754-35FC2213DBFB}"/>
                </a:ext>
              </a:extLst>
            </p:cNvPr>
            <p:cNvSpPr/>
            <p:nvPr/>
          </p:nvSpPr>
          <p:spPr>
            <a:xfrm>
              <a:off x="8730883" y="5621777"/>
              <a:ext cx="1460941" cy="266102"/>
            </a:xfrm>
            <a:prstGeom prst="round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Usability</a:t>
              </a:r>
            </a:p>
          </p:txBody>
        </p:sp>
        <p:pic>
          <p:nvPicPr>
            <p:cNvPr id="46" name="Picture 2" descr="Performance - Free seo and web icons">
              <a:extLst>
                <a:ext uri="{FF2B5EF4-FFF2-40B4-BE49-F238E27FC236}">
                  <a16:creationId xmlns:a16="http://schemas.microsoft.com/office/drawing/2014/main" id="{E4B278F5-6C3D-673D-4E80-D4F7B831B9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64215" y="5004469"/>
              <a:ext cx="532762" cy="360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" descr="Usability - Free interface icons">
              <a:extLst>
                <a:ext uri="{FF2B5EF4-FFF2-40B4-BE49-F238E27FC236}">
                  <a16:creationId xmlns:a16="http://schemas.microsoft.com/office/drawing/2014/main" id="{74B50E03-2413-6723-39B9-59114A338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8752" y="5652496"/>
              <a:ext cx="366571" cy="247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6" descr="Secure - Free security icons">
              <a:extLst>
                <a:ext uri="{FF2B5EF4-FFF2-40B4-BE49-F238E27FC236}">
                  <a16:creationId xmlns:a16="http://schemas.microsoft.com/office/drawing/2014/main" id="{1406FFA4-83FF-0988-3EAA-042193A45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2956" y="5245369"/>
              <a:ext cx="404083" cy="273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8" descr="Maintenance - Free construction and tools icons">
              <a:extLst>
                <a:ext uri="{FF2B5EF4-FFF2-40B4-BE49-F238E27FC236}">
                  <a16:creationId xmlns:a16="http://schemas.microsoft.com/office/drawing/2014/main" id="{34FE3129-B62E-EFC8-1F8A-BD7E04960B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1614" y="4829369"/>
              <a:ext cx="404083" cy="273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10" descr="Download Free Availability Icons in PNG &amp; SVG">
              <a:extLst>
                <a:ext uri="{FF2B5EF4-FFF2-40B4-BE49-F238E27FC236}">
                  <a16:creationId xmlns:a16="http://schemas.microsoft.com/office/drawing/2014/main" id="{C754393D-052F-3DC1-306B-D108737621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7838" y="5010206"/>
              <a:ext cx="413626" cy="279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14" descr="Scalable - Free ui icons">
              <a:extLst>
                <a:ext uri="{FF2B5EF4-FFF2-40B4-BE49-F238E27FC236}">
                  <a16:creationId xmlns:a16="http://schemas.microsoft.com/office/drawing/2014/main" id="{F33C4CB4-2846-C6AE-B94E-011A487656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5381" y="5437472"/>
              <a:ext cx="297217" cy="200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30" descr="Interoperability Icons - Free SVG &amp; PNG Interoperability Images - Noun  Project">
              <a:extLst>
                <a:ext uri="{FF2B5EF4-FFF2-40B4-BE49-F238E27FC236}">
                  <a16:creationId xmlns:a16="http://schemas.microsoft.com/office/drawing/2014/main" id="{49497735-B527-7D6C-BCD8-AA33FCF655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93672" y="5388951"/>
              <a:ext cx="473847" cy="320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6600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50A5-7533-265F-D044-4D0FC5E9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0AB7F6A-846C-DA6D-8FA6-4EF912793B4B}"/>
              </a:ext>
            </a:extLst>
          </p:cNvPr>
          <p:cNvCxnSpPr>
            <a:cxnSpLocks/>
          </p:cNvCxnSpPr>
          <p:nvPr/>
        </p:nvCxnSpPr>
        <p:spPr>
          <a:xfrm>
            <a:off x="2115148" y="2155484"/>
            <a:ext cx="12201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418778C-DD39-242E-6942-895902855422}"/>
              </a:ext>
            </a:extLst>
          </p:cNvPr>
          <p:cNvSpPr/>
          <p:nvPr/>
        </p:nvSpPr>
        <p:spPr>
          <a:xfrm>
            <a:off x="3249532" y="1518830"/>
            <a:ext cx="4509283" cy="4199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5340E-A542-E7BE-4561-9E5453EC18E0}"/>
              </a:ext>
            </a:extLst>
          </p:cNvPr>
          <p:cNvSpPr/>
          <p:nvPr/>
        </p:nvSpPr>
        <p:spPr>
          <a:xfrm flipV="1">
            <a:off x="7862" y="2177"/>
            <a:ext cx="7870371" cy="865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BM Plex Sans Light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86879A05-E6BE-198A-52C8-45478C7F608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804211" y="6490698"/>
            <a:ext cx="2743200" cy="365125"/>
          </a:xfrm>
        </p:spPr>
        <p:txBody>
          <a:bodyPr/>
          <a:lstStyle/>
          <a:p>
            <a:fld id="{86CB4B4D-7CA3-9044-876B-883B54F8677D}" type="slidenum">
              <a:rPr lang="en-US" smtClean="0">
                <a:latin typeface="IBM Plex Sans Light"/>
              </a:rPr>
              <a:pPr/>
              <a:t>2</a:t>
            </a:fld>
            <a:endParaRPr lang="en-US">
              <a:latin typeface="IBM Plex Sans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E8EC2-151C-6BAE-BC6E-1655D6B1ED9F}"/>
              </a:ext>
            </a:extLst>
          </p:cNvPr>
          <p:cNvSpPr txBox="1">
            <a:spLocks/>
          </p:cNvSpPr>
          <p:nvPr/>
        </p:nvSpPr>
        <p:spPr>
          <a:xfrm>
            <a:off x="209810" y="292053"/>
            <a:ext cx="8190273" cy="448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2438400" rtl="0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lvl="0" defTabSz="45700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chemeClr val="accent1"/>
                </a:solidFill>
                <a:latin typeface="IBM Plex Sans Light"/>
              </a:rPr>
              <a:t>Base project management reference architecture</a:t>
            </a:r>
            <a:endParaRPr lang="en-US" sz="2400" dirty="0">
              <a:latin typeface="IBM Plex Sans Ligh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1C4E5B-5E72-AFAC-C2E5-5EC033193DC0}"/>
              </a:ext>
            </a:extLst>
          </p:cNvPr>
          <p:cNvSpPr/>
          <p:nvPr/>
        </p:nvSpPr>
        <p:spPr>
          <a:xfrm>
            <a:off x="1106878" y="1606572"/>
            <a:ext cx="1020150" cy="139702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IBM Plex Sans Light" panose="020B0403050203000203" pitchFamily="34" charset="0"/>
              </a:rPr>
              <a:t>External AI Tools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F9FDEB-6FCC-F24C-02F7-1CE3F5693B2B}"/>
              </a:ext>
            </a:extLst>
          </p:cNvPr>
          <p:cNvSpPr/>
          <p:nvPr/>
        </p:nvSpPr>
        <p:spPr>
          <a:xfrm>
            <a:off x="1106878" y="4630028"/>
            <a:ext cx="1020150" cy="106749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IBM Plex Sans Light" panose="020B0403050203000203" pitchFamily="34" charset="0"/>
              </a:rPr>
              <a:t>Client Security &amp; Authentication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2910F1-D8FB-4E47-13D0-00EE2212DD4C}"/>
              </a:ext>
            </a:extLst>
          </p:cNvPr>
          <p:cNvCxnSpPr>
            <a:cxnSpLocks/>
          </p:cNvCxnSpPr>
          <p:nvPr/>
        </p:nvCxnSpPr>
        <p:spPr>
          <a:xfrm>
            <a:off x="2105252" y="3702764"/>
            <a:ext cx="12201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BC00FF-B7EF-5B0C-268F-ED68FCF64155}"/>
              </a:ext>
            </a:extLst>
          </p:cNvPr>
          <p:cNvSpPr txBox="1"/>
          <p:nvPr/>
        </p:nvSpPr>
        <p:spPr>
          <a:xfrm>
            <a:off x="2176538" y="3506256"/>
            <a:ext cx="1020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IBM Plex Sans Light" panose="020B0403050203000203" pitchFamily="34" charset="0"/>
              </a:rPr>
              <a:t>Client user provisioning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75AB0-ABC7-6353-6406-3B162A344FB7}"/>
              </a:ext>
            </a:extLst>
          </p:cNvPr>
          <p:cNvSpPr txBox="1"/>
          <p:nvPr/>
        </p:nvSpPr>
        <p:spPr>
          <a:xfrm>
            <a:off x="2138506" y="5042281"/>
            <a:ext cx="15240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IBM Plex Sans Light" panose="020B0403050203000203" pitchFamily="34" charset="0"/>
              </a:rPr>
              <a:t>Authentication</a:t>
            </a:r>
          </a:p>
          <a:p>
            <a:r>
              <a:rPr lang="en-US" sz="1100" dirty="0">
                <a:latin typeface="IBM Plex Sans Light" panose="020B0403050203000203" pitchFamily="34" charset="0"/>
              </a:rPr>
              <a:t>Endpoint SSO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9A8C19-6E9E-4E55-4AC8-4B5D27F7605C}"/>
              </a:ext>
            </a:extLst>
          </p:cNvPr>
          <p:cNvCxnSpPr>
            <a:cxnSpLocks/>
          </p:cNvCxnSpPr>
          <p:nvPr/>
        </p:nvCxnSpPr>
        <p:spPr>
          <a:xfrm>
            <a:off x="2105252" y="5256920"/>
            <a:ext cx="12201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3494A92-4C03-73E0-66EE-6BF73004F4AB}"/>
              </a:ext>
            </a:extLst>
          </p:cNvPr>
          <p:cNvSpPr/>
          <p:nvPr/>
        </p:nvSpPr>
        <p:spPr>
          <a:xfrm>
            <a:off x="8574436" y="1518829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Config Deployment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4EDF5E-463A-C792-0233-27480A75BE5B}"/>
              </a:ext>
            </a:extLst>
          </p:cNvPr>
          <p:cNvSpPr/>
          <p:nvPr/>
        </p:nvSpPr>
        <p:spPr>
          <a:xfrm>
            <a:off x="8574438" y="2453352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Monitoring &amp; Automation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19D8D1-AA2E-52A6-2598-BEB275ED3CEB}"/>
              </a:ext>
            </a:extLst>
          </p:cNvPr>
          <p:cNvSpPr/>
          <p:nvPr/>
        </p:nvSpPr>
        <p:spPr>
          <a:xfrm>
            <a:off x="8574438" y="3387875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DevOps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7F170F-226E-E0C3-A98D-9002AC4E803B}"/>
              </a:ext>
            </a:extLst>
          </p:cNvPr>
          <p:cNvSpPr/>
          <p:nvPr/>
        </p:nvSpPr>
        <p:spPr>
          <a:xfrm>
            <a:off x="8574435" y="4322398"/>
            <a:ext cx="1976035" cy="457197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20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IBM Plex Sans Light" panose="020B0403050203000203" pitchFamily="34" charset="0"/>
              </a:rPr>
              <a:t>Backup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102C23-EDA7-5629-1ED7-12A4A7E89349}"/>
              </a:ext>
            </a:extLst>
          </p:cNvPr>
          <p:cNvSpPr/>
          <p:nvPr/>
        </p:nvSpPr>
        <p:spPr>
          <a:xfrm>
            <a:off x="8574435" y="5256920"/>
            <a:ext cx="1976035" cy="45719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IBM Plex Sans Light" panose="020B0403050203000203" pitchFamily="34" charset="0"/>
              </a:rPr>
              <a:t>Security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DD86E0-4B15-F8F6-BEFE-63D1142F688D}"/>
              </a:ext>
            </a:extLst>
          </p:cNvPr>
          <p:cNvCxnSpPr>
            <a:cxnSpLocks/>
          </p:cNvCxnSpPr>
          <p:nvPr/>
        </p:nvCxnSpPr>
        <p:spPr>
          <a:xfrm>
            <a:off x="8166624" y="5518475"/>
            <a:ext cx="407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7C63DE-2829-EF0E-5DE8-833C6F00CBBF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8166624" y="4550997"/>
            <a:ext cx="4078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504AAF-BE95-E416-2D17-4A58DB46C50E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160045" y="3616474"/>
            <a:ext cx="4143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A9D139-9FDC-597C-80F2-7C6DB55CFD42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8166624" y="2681951"/>
            <a:ext cx="4078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232CCCD-12A9-A6BB-32C2-2A200297FC2F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7758813" y="1747428"/>
            <a:ext cx="815623" cy="14615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4662686-D924-55F8-05E6-053697963441}"/>
              </a:ext>
            </a:extLst>
          </p:cNvPr>
          <p:cNvSpPr/>
          <p:nvPr/>
        </p:nvSpPr>
        <p:spPr>
          <a:xfrm>
            <a:off x="3277924" y="6186422"/>
            <a:ext cx="4433390" cy="4760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Client Enterprise Network</a:t>
            </a:r>
          </a:p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(Applications/tools)</a:t>
            </a:r>
          </a:p>
        </p:txBody>
      </p:sp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8AA080E9-D00F-1FC1-5FF7-6BCFDEF17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3132" y="869614"/>
            <a:ext cx="510326" cy="510326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451230AD-1777-5F7C-BD4F-E12CAE6FE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797" y="869614"/>
            <a:ext cx="510326" cy="510326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4EB19285-7922-79FB-1056-16F7DA131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462" y="869614"/>
            <a:ext cx="510326" cy="510326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A76526C5-6F49-FADA-C573-3AD67EAE8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6127" y="869614"/>
            <a:ext cx="510326" cy="510326"/>
          </a:xfrm>
          <a:prstGeom prst="rect">
            <a:avLst/>
          </a:prstGeom>
        </p:spPr>
      </p:pic>
      <p:sp>
        <p:nvSpPr>
          <p:cNvPr id="57" name="Terminator 56">
            <a:extLst>
              <a:ext uri="{FF2B5EF4-FFF2-40B4-BE49-F238E27FC236}">
                <a16:creationId xmlns:a16="http://schemas.microsoft.com/office/drawing/2014/main" id="{86070B00-C525-C703-1E9A-87F512676D97}"/>
              </a:ext>
            </a:extLst>
          </p:cNvPr>
          <p:cNvSpPr/>
          <p:nvPr/>
        </p:nvSpPr>
        <p:spPr>
          <a:xfrm>
            <a:off x="4671708" y="1779355"/>
            <a:ext cx="1210995" cy="228599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IBM Plex Sans Light" panose="020B0403050203000203" pitchFamily="34" charset="0"/>
              </a:rPr>
              <a:t>Cloud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1FACB8-CDC9-76A7-F613-82F7B19A8E48}"/>
              </a:ext>
            </a:extLst>
          </p:cNvPr>
          <p:cNvCxnSpPr>
            <a:cxnSpLocks/>
            <a:stCxn id="7" idx="2"/>
            <a:endCxn id="50" idx="0"/>
          </p:cNvCxnSpPr>
          <p:nvPr/>
        </p:nvCxnSpPr>
        <p:spPr>
          <a:xfrm flipH="1">
            <a:off x="5494619" y="5718514"/>
            <a:ext cx="9555" cy="467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5A4F2FA-2F0A-7AC8-6AFA-F8CFB73F0B8B}"/>
              </a:ext>
            </a:extLst>
          </p:cNvPr>
          <p:cNvSpPr txBox="1"/>
          <p:nvPr/>
        </p:nvSpPr>
        <p:spPr>
          <a:xfrm>
            <a:off x="4399684" y="1105677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Client </a:t>
            </a:r>
          </a:p>
          <a:p>
            <a:r>
              <a:rPr lang="en-US" sz="1000">
                <a:latin typeface="IBM Plex Sans Light" panose="020B0403050203000203" pitchFamily="34" charset="0"/>
              </a:rPr>
              <a:t>User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5B19A694-9A98-9053-8B76-667698BD04DE}"/>
              </a:ext>
            </a:extLst>
          </p:cNvPr>
          <p:cNvCxnSpPr>
            <a:cxnSpLocks/>
            <a:stCxn id="57" idx="2"/>
          </p:cNvCxnSpPr>
          <p:nvPr/>
        </p:nvCxnSpPr>
        <p:spPr>
          <a:xfrm rot="16200000" flipH="1">
            <a:off x="5178871" y="2106289"/>
            <a:ext cx="19667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9FACAFDE-C242-2676-3210-E453BB86238D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4254494" y="1476441"/>
            <a:ext cx="507366" cy="32706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AEC741BB-1761-580B-E09D-D8660A5351B7}"/>
              </a:ext>
            </a:extLst>
          </p:cNvPr>
          <p:cNvCxnSpPr>
            <a:cxnSpLocks/>
            <a:stCxn id="53" idx="2"/>
          </p:cNvCxnSpPr>
          <p:nvPr/>
        </p:nvCxnSpPr>
        <p:spPr>
          <a:xfrm rot="16200000" flipH="1">
            <a:off x="4962795" y="1413105"/>
            <a:ext cx="364176" cy="297846"/>
          </a:xfrm>
          <a:prstGeom prst="bentConnector3">
            <a:avLst>
              <a:gd name="adj1" fmla="val 747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F7F5E051-7B04-4392-EA8F-492D3B1B4DF8}"/>
              </a:ext>
            </a:extLst>
          </p:cNvPr>
          <p:cNvCxnSpPr>
            <a:cxnSpLocks/>
            <a:stCxn id="54" idx="2"/>
          </p:cNvCxnSpPr>
          <p:nvPr/>
        </p:nvCxnSpPr>
        <p:spPr>
          <a:xfrm rot="5400000">
            <a:off x="5291627" y="1382120"/>
            <a:ext cx="364178" cy="359819"/>
          </a:xfrm>
          <a:prstGeom prst="bentConnector3">
            <a:avLst>
              <a:gd name="adj1" fmla="val 747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90230CFB-E6D5-71FF-1ACF-7CC1AB337D51}"/>
              </a:ext>
            </a:extLst>
          </p:cNvPr>
          <p:cNvCxnSpPr>
            <a:cxnSpLocks/>
            <a:stCxn id="55" idx="2"/>
            <a:endCxn id="57" idx="3"/>
          </p:cNvCxnSpPr>
          <p:nvPr/>
        </p:nvCxnSpPr>
        <p:spPr>
          <a:xfrm rot="5400000">
            <a:off x="5840140" y="1422504"/>
            <a:ext cx="513715" cy="42858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6661F31-D6EC-0315-ECF3-7FF1FFEBAB9C}"/>
              </a:ext>
            </a:extLst>
          </p:cNvPr>
          <p:cNvSpPr txBox="1"/>
          <p:nvPr/>
        </p:nvSpPr>
        <p:spPr>
          <a:xfrm>
            <a:off x="5549272" y="5857542"/>
            <a:ext cx="15240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IBM Plex Sans Light" panose="020B0403050203000203" pitchFamily="34" charset="0"/>
              </a:rPr>
              <a:t>API Integration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649EE9C-C02A-147E-9573-6FBB88EAB00A}"/>
              </a:ext>
            </a:extLst>
          </p:cNvPr>
          <p:cNvSpPr txBox="1"/>
          <p:nvPr/>
        </p:nvSpPr>
        <p:spPr>
          <a:xfrm>
            <a:off x="6354497" y="1082062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AMS Config. Support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D827748-E2ED-B7FE-FE72-B1DAA0ED1C54}"/>
              </a:ext>
            </a:extLst>
          </p:cNvPr>
          <p:cNvSpPr txBox="1"/>
          <p:nvPr/>
        </p:nvSpPr>
        <p:spPr>
          <a:xfrm>
            <a:off x="5704815" y="1092275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Digital Vendor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BD3023-BEE1-6E75-4930-C2DC287930FE}"/>
              </a:ext>
            </a:extLst>
          </p:cNvPr>
          <p:cNvSpPr txBox="1"/>
          <p:nvPr/>
        </p:nvSpPr>
        <p:spPr>
          <a:xfrm>
            <a:off x="5007071" y="1101686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Admin </a:t>
            </a:r>
          </a:p>
          <a:p>
            <a:r>
              <a:rPr lang="en-US" sz="1000">
                <a:latin typeface="IBM Plex Sans Light" panose="020B0403050203000203" pitchFamily="34" charset="0"/>
              </a:rPr>
              <a:t>User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784E3E8-9915-310D-F783-B591690C0A47}"/>
              </a:ext>
            </a:extLst>
          </p:cNvPr>
          <p:cNvSpPr txBox="1"/>
          <p:nvPr/>
        </p:nvSpPr>
        <p:spPr>
          <a:xfrm>
            <a:off x="7711635" y="1327027"/>
            <a:ext cx="960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App. Config &amp; development. 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11B8AF6-274B-5DC1-08A0-914F54D3595E}"/>
              </a:ext>
            </a:extLst>
          </p:cNvPr>
          <p:cNvCxnSpPr>
            <a:cxnSpLocks/>
          </p:cNvCxnSpPr>
          <p:nvPr/>
        </p:nvCxnSpPr>
        <p:spPr>
          <a:xfrm>
            <a:off x="8164060" y="2681950"/>
            <a:ext cx="2564" cy="2836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E2D9EE7-C35A-BEE8-5D5B-4B686F2FCC0B}"/>
              </a:ext>
            </a:extLst>
          </p:cNvPr>
          <p:cNvCxnSpPr>
            <a:cxnSpLocks/>
          </p:cNvCxnSpPr>
          <p:nvPr/>
        </p:nvCxnSpPr>
        <p:spPr>
          <a:xfrm>
            <a:off x="7542191" y="3709526"/>
            <a:ext cx="6244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FDAF5B4-3B79-17C3-4C47-D0DCC6BF363D}"/>
              </a:ext>
            </a:extLst>
          </p:cNvPr>
          <p:cNvSpPr txBox="1"/>
          <p:nvPr/>
        </p:nvSpPr>
        <p:spPr>
          <a:xfrm>
            <a:off x="7711635" y="2121270"/>
            <a:ext cx="960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Collect app logs &amp; Server Metrics.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FBBF045-5EB9-E9E7-1797-9073AF498ACF}"/>
              </a:ext>
            </a:extLst>
          </p:cNvPr>
          <p:cNvSpPr txBox="1"/>
          <p:nvPr/>
        </p:nvSpPr>
        <p:spPr>
          <a:xfrm>
            <a:off x="8111216" y="2892399"/>
            <a:ext cx="960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Deploy Application Package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F36F124-4767-D247-6302-CE1FDD8252A5}"/>
              </a:ext>
            </a:extLst>
          </p:cNvPr>
          <p:cNvSpPr txBox="1"/>
          <p:nvPr/>
        </p:nvSpPr>
        <p:spPr>
          <a:xfrm>
            <a:off x="8094379" y="3944118"/>
            <a:ext cx="960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Backup File system and DB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B7AF614-79E6-FFC5-EC8A-912CACF863E0}"/>
              </a:ext>
            </a:extLst>
          </p:cNvPr>
          <p:cNvSpPr txBox="1"/>
          <p:nvPr/>
        </p:nvSpPr>
        <p:spPr>
          <a:xfrm>
            <a:off x="8094379" y="5872022"/>
            <a:ext cx="1704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Monitor Endpoint security, Remote access, Vulnerability patch &amp; Health check scans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01AB6-3A51-27A6-5FBC-AE7A5B28CABC}"/>
              </a:ext>
            </a:extLst>
          </p:cNvPr>
          <p:cNvSpPr txBox="1"/>
          <p:nvPr/>
        </p:nvSpPr>
        <p:spPr>
          <a:xfrm>
            <a:off x="10636037" y="2060095"/>
            <a:ext cx="858915" cy="5078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>
                <a:latin typeface="IBM Plex Sans Light" panose="020B0403050203000203" pitchFamily="34" charset="0"/>
              </a:rPr>
              <a:t>Incident Management tool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57A98199-877B-3E68-6893-F4D617AFCFDD}"/>
              </a:ext>
            </a:extLst>
          </p:cNvPr>
          <p:cNvCxnSpPr>
            <a:stCxn id="25" idx="3"/>
            <a:endCxn id="8" idx="0"/>
          </p:cNvCxnSpPr>
          <p:nvPr/>
        </p:nvCxnSpPr>
        <p:spPr>
          <a:xfrm>
            <a:off x="10550471" y="1747428"/>
            <a:ext cx="515024" cy="31266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C033BFE-E1FA-235B-291F-535AFE996E2C}"/>
              </a:ext>
            </a:extLst>
          </p:cNvPr>
          <p:cNvCxnSpPr>
            <a:cxnSpLocks/>
            <a:stCxn id="26" idx="3"/>
            <a:endCxn id="8" idx="2"/>
          </p:cNvCxnSpPr>
          <p:nvPr/>
        </p:nvCxnSpPr>
        <p:spPr>
          <a:xfrm flipV="1">
            <a:off x="10550473" y="2567926"/>
            <a:ext cx="515022" cy="114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397709-7C85-7927-A808-4F921356416E}"/>
              </a:ext>
            </a:extLst>
          </p:cNvPr>
          <p:cNvSpPr txBox="1"/>
          <p:nvPr/>
        </p:nvSpPr>
        <p:spPr>
          <a:xfrm>
            <a:off x="10635904" y="2725016"/>
            <a:ext cx="804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Raise Incidents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7763C5-465B-8C80-C56D-62EACF2523CD}"/>
              </a:ext>
            </a:extLst>
          </p:cNvPr>
          <p:cNvSpPr txBox="1"/>
          <p:nvPr/>
        </p:nvSpPr>
        <p:spPr>
          <a:xfrm>
            <a:off x="10663148" y="1292330"/>
            <a:ext cx="804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latin typeface="IBM Plex Sans Light" panose="020B0403050203000203" pitchFamily="34" charset="0"/>
              </a:rPr>
              <a:t>Assign</a:t>
            </a:r>
          </a:p>
          <a:p>
            <a:r>
              <a:rPr lang="en-US" sz="1000">
                <a:latin typeface="IBM Plex Sans Light" panose="020B0403050203000203" pitchFamily="34" charset="0"/>
              </a:rPr>
              <a:t>Incidents</a:t>
            </a:r>
          </a:p>
        </p:txBody>
      </p:sp>
      <p:pic>
        <p:nvPicPr>
          <p:cNvPr id="10" name="Picture 78" descr="Workflow Vector SVG Icon - PNG Repo Free PNG Icons">
            <a:extLst>
              <a:ext uri="{FF2B5EF4-FFF2-40B4-BE49-F238E27FC236}">
                <a16:creationId xmlns:a16="http://schemas.microsoft.com/office/drawing/2014/main" id="{7E4525C4-7F81-E4BF-BC8F-124771A98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717" y="4721430"/>
            <a:ext cx="584918" cy="55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7A4B01-9A42-602C-E7D5-6A01B170A2B3}"/>
              </a:ext>
            </a:extLst>
          </p:cNvPr>
          <p:cNvSpPr/>
          <p:nvPr/>
        </p:nvSpPr>
        <p:spPr>
          <a:xfrm>
            <a:off x="4083689" y="4368403"/>
            <a:ext cx="823223" cy="115272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Workflows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D1922-8280-98A4-333D-93538F3F3AC1}"/>
              </a:ext>
            </a:extLst>
          </p:cNvPr>
          <p:cNvSpPr/>
          <p:nvPr/>
        </p:nvSpPr>
        <p:spPr>
          <a:xfrm>
            <a:off x="4081289" y="2210852"/>
            <a:ext cx="1526644" cy="68154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38171C-4CC4-0BA4-0E21-FC0A98EEC29A}"/>
              </a:ext>
            </a:extLst>
          </p:cNvPr>
          <p:cNvSpPr/>
          <p:nvPr/>
        </p:nvSpPr>
        <p:spPr>
          <a:xfrm>
            <a:off x="5908788" y="4368403"/>
            <a:ext cx="958528" cy="113650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Layer</a:t>
            </a:r>
          </a:p>
        </p:txBody>
      </p:sp>
      <p:pic>
        <p:nvPicPr>
          <p:cNvPr id="33" name="Picture 82" descr="Office Material, Files And Folders, Folder, interface, storage, file storage,  Data Storage icon">
            <a:extLst>
              <a:ext uri="{FF2B5EF4-FFF2-40B4-BE49-F238E27FC236}">
                <a16:creationId xmlns:a16="http://schemas.microsoft.com/office/drawing/2014/main" id="{56055174-6CB2-EB56-FFDB-E8920EFE6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524" y="5020766"/>
            <a:ext cx="553421" cy="33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Graphic 38" descr="Database outline">
            <a:extLst>
              <a:ext uri="{FF2B5EF4-FFF2-40B4-BE49-F238E27FC236}">
                <a16:creationId xmlns:a16="http://schemas.microsoft.com/office/drawing/2014/main" id="{BA83C593-5E07-B30F-F2BE-5FEAB33B87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12523" y="4571904"/>
            <a:ext cx="548271" cy="39535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937E796-5192-7744-CA83-0F809AC57C6C}"/>
              </a:ext>
            </a:extLst>
          </p:cNvPr>
          <p:cNvSpPr/>
          <p:nvPr/>
        </p:nvSpPr>
        <p:spPr>
          <a:xfrm>
            <a:off x="4083133" y="3125125"/>
            <a:ext cx="2784184" cy="102967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Business Logic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16C4AF-D0C8-CF20-5673-4CCC29292079}"/>
              </a:ext>
            </a:extLst>
          </p:cNvPr>
          <p:cNvSpPr/>
          <p:nvPr/>
        </p:nvSpPr>
        <p:spPr>
          <a:xfrm rot="16200000">
            <a:off x="1756283" y="3485028"/>
            <a:ext cx="3590843" cy="4760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API / Connectors / Adaptors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012A00-BC27-D214-050E-AC602F069754}"/>
              </a:ext>
            </a:extLst>
          </p:cNvPr>
          <p:cNvSpPr/>
          <p:nvPr/>
        </p:nvSpPr>
        <p:spPr>
          <a:xfrm rot="16200000">
            <a:off x="5649107" y="3484513"/>
            <a:ext cx="3590843" cy="4760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IBM Plex Sans Light" panose="020B0403050203000203" pitchFamily="34" charset="0"/>
              </a:rPr>
              <a:t>API / Connectors / Adaptors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AD42E1F-5BA0-3BDB-2329-AE836313B0C0}"/>
              </a:ext>
            </a:extLst>
          </p:cNvPr>
          <p:cNvCxnSpPr>
            <a:cxnSpLocks/>
          </p:cNvCxnSpPr>
          <p:nvPr/>
        </p:nvCxnSpPr>
        <p:spPr>
          <a:xfrm>
            <a:off x="4886392" y="2877592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B506F1C-6B23-9529-3FDB-5E6D20E1FE84}"/>
              </a:ext>
            </a:extLst>
          </p:cNvPr>
          <p:cNvCxnSpPr>
            <a:cxnSpLocks/>
          </p:cNvCxnSpPr>
          <p:nvPr/>
        </p:nvCxnSpPr>
        <p:spPr>
          <a:xfrm>
            <a:off x="6416329" y="4134397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FBFD762-2D6B-B384-9CC5-B7C7A6671BBF}"/>
              </a:ext>
            </a:extLst>
          </p:cNvPr>
          <p:cNvCxnSpPr>
            <a:cxnSpLocks/>
          </p:cNvCxnSpPr>
          <p:nvPr/>
        </p:nvCxnSpPr>
        <p:spPr>
          <a:xfrm>
            <a:off x="4538049" y="4120545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88B88AB6-DC50-6A23-8538-AADFB0A54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123365" y="3597485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A17F9333-C9C0-0086-A18D-70ECE9C5F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241837" y="3417945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EF182DC2-ED71-8279-1D55-A583784D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474151" y="3417944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8672284E-3E13-2DDF-F73E-E1C58E192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571901" y="3597485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3AB7DB82-F06A-0191-0E45-536CB6D6C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241837" y="3781174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8" descr="Free Transparent Hexagon, Download Free Transparent Hexagon png images,  Free ClipArts on Clipart Library">
            <a:extLst>
              <a:ext uri="{FF2B5EF4-FFF2-40B4-BE49-F238E27FC236}">
                <a16:creationId xmlns:a16="http://schemas.microsoft.com/office/drawing/2014/main" id="{27BFCBFC-CBDA-F63E-6241-A0A404CA0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474151" y="3781174"/>
            <a:ext cx="223754" cy="2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DD931E7-D403-5F93-422C-CDB5C4F0C840}"/>
              </a:ext>
            </a:extLst>
          </p:cNvPr>
          <p:cNvSpPr/>
          <p:nvPr/>
        </p:nvSpPr>
        <p:spPr>
          <a:xfrm>
            <a:off x="3192200" y="2060095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4927736-EC66-9DA9-885E-CCA5084118F0}"/>
              </a:ext>
            </a:extLst>
          </p:cNvPr>
          <p:cNvSpPr/>
          <p:nvPr/>
        </p:nvSpPr>
        <p:spPr>
          <a:xfrm>
            <a:off x="3192200" y="2586778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DBF4F94-3E17-6263-EDCF-3B4E7E186168}"/>
              </a:ext>
            </a:extLst>
          </p:cNvPr>
          <p:cNvSpPr/>
          <p:nvPr/>
        </p:nvSpPr>
        <p:spPr>
          <a:xfrm>
            <a:off x="3192200" y="311346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6E85C36-F95D-AE82-1BF7-B17453B5C3B8}"/>
              </a:ext>
            </a:extLst>
          </p:cNvPr>
          <p:cNvSpPr/>
          <p:nvPr/>
        </p:nvSpPr>
        <p:spPr>
          <a:xfrm>
            <a:off x="3192200" y="3640144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4E74795-14EB-2E6A-7D66-D7A3EFD709B2}"/>
              </a:ext>
            </a:extLst>
          </p:cNvPr>
          <p:cNvSpPr/>
          <p:nvPr/>
        </p:nvSpPr>
        <p:spPr>
          <a:xfrm>
            <a:off x="3192200" y="4166827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E30E826-3FF0-AB51-47E7-1A8DA6A0AFC9}"/>
              </a:ext>
            </a:extLst>
          </p:cNvPr>
          <p:cNvSpPr/>
          <p:nvPr/>
        </p:nvSpPr>
        <p:spPr>
          <a:xfrm>
            <a:off x="3192200" y="4693510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AEEBD4F-34A6-FEC3-619D-3B6322582B7C}"/>
              </a:ext>
            </a:extLst>
          </p:cNvPr>
          <p:cNvSpPr/>
          <p:nvPr/>
        </p:nvSpPr>
        <p:spPr>
          <a:xfrm>
            <a:off x="3192200" y="522019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A43F0DC-5111-EEC0-5310-F601F033E59F}"/>
              </a:ext>
            </a:extLst>
          </p:cNvPr>
          <p:cNvSpPr/>
          <p:nvPr/>
        </p:nvSpPr>
        <p:spPr>
          <a:xfrm>
            <a:off x="7583969" y="2060095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90D83F4-157C-ADE2-6757-98C5791749B6}"/>
              </a:ext>
            </a:extLst>
          </p:cNvPr>
          <p:cNvSpPr/>
          <p:nvPr/>
        </p:nvSpPr>
        <p:spPr>
          <a:xfrm>
            <a:off x="7583969" y="2586778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8E6C70-3430-DB1C-DF1A-C49FD67D5F7F}"/>
              </a:ext>
            </a:extLst>
          </p:cNvPr>
          <p:cNvSpPr/>
          <p:nvPr/>
        </p:nvSpPr>
        <p:spPr>
          <a:xfrm>
            <a:off x="7583969" y="311346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99B03E2-76B2-F65F-B2C7-BE21F3544727}"/>
              </a:ext>
            </a:extLst>
          </p:cNvPr>
          <p:cNvSpPr/>
          <p:nvPr/>
        </p:nvSpPr>
        <p:spPr>
          <a:xfrm>
            <a:off x="7583969" y="3640144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082A83-849F-EE56-3151-F2F18C9AC9A3}"/>
              </a:ext>
            </a:extLst>
          </p:cNvPr>
          <p:cNvSpPr/>
          <p:nvPr/>
        </p:nvSpPr>
        <p:spPr>
          <a:xfrm>
            <a:off x="7583969" y="4166827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DC29A3D-42B3-A30D-4013-A10213988307}"/>
              </a:ext>
            </a:extLst>
          </p:cNvPr>
          <p:cNvSpPr/>
          <p:nvPr/>
        </p:nvSpPr>
        <p:spPr>
          <a:xfrm>
            <a:off x="7583969" y="4693510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0C8A4A3-E7D0-43AF-926A-7FED72089D81}"/>
              </a:ext>
            </a:extLst>
          </p:cNvPr>
          <p:cNvSpPr/>
          <p:nvPr/>
        </p:nvSpPr>
        <p:spPr>
          <a:xfrm>
            <a:off x="7583969" y="5220191"/>
            <a:ext cx="242975" cy="15696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27470F-88DD-813B-9A14-A7CBFF6100B9}"/>
              </a:ext>
            </a:extLst>
          </p:cNvPr>
          <p:cNvSpPr txBox="1"/>
          <p:nvPr/>
        </p:nvSpPr>
        <p:spPr>
          <a:xfrm>
            <a:off x="4889539" y="3414194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Ideation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F06171F-5EE1-4C3E-7A6B-78016625EC3C}"/>
              </a:ext>
            </a:extLst>
          </p:cNvPr>
          <p:cNvSpPr txBox="1"/>
          <p:nvPr/>
        </p:nvSpPr>
        <p:spPr>
          <a:xfrm>
            <a:off x="4889539" y="3644094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Planning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FBFC7A-D61D-CA72-B3D2-DBFDBD3AA474}"/>
              </a:ext>
            </a:extLst>
          </p:cNvPr>
          <p:cNvSpPr txBox="1"/>
          <p:nvPr/>
        </p:nvSpPr>
        <p:spPr>
          <a:xfrm>
            <a:off x="4889539" y="3873994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Tracking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0953AE-02F1-A83F-E448-3D65FC2DB00A}"/>
              </a:ext>
            </a:extLst>
          </p:cNvPr>
          <p:cNvSpPr txBox="1"/>
          <p:nvPr/>
        </p:nvSpPr>
        <p:spPr>
          <a:xfrm>
            <a:off x="5528126" y="3420268"/>
            <a:ext cx="12771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SLA Measurement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864A294-3A3C-BBFB-9708-ADF80FEE8AAC}"/>
              </a:ext>
            </a:extLst>
          </p:cNvPr>
          <p:cNvSpPr txBox="1"/>
          <p:nvPr/>
        </p:nvSpPr>
        <p:spPr>
          <a:xfrm>
            <a:off x="5526113" y="3644661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Notifications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ADDC7B-D367-94A1-3E6B-6669CB0FCD6A}"/>
              </a:ext>
            </a:extLst>
          </p:cNvPr>
          <p:cNvSpPr txBox="1"/>
          <p:nvPr/>
        </p:nvSpPr>
        <p:spPr>
          <a:xfrm>
            <a:off x="5538805" y="3879659"/>
            <a:ext cx="1266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Task Management</a:t>
            </a:r>
          </a:p>
        </p:txBody>
      </p:sp>
      <p:pic>
        <p:nvPicPr>
          <p:cNvPr id="98" name="Picture 46">
            <a:extLst>
              <a:ext uri="{FF2B5EF4-FFF2-40B4-BE49-F238E27FC236}">
                <a16:creationId xmlns:a16="http://schemas.microsoft.com/office/drawing/2014/main" id="{30FF5383-82FF-72D3-14C6-2DB2D5B46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058" y="2505290"/>
            <a:ext cx="648483" cy="2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271AE4A9-283C-A7F1-3589-905E80CD7D34}"/>
              </a:ext>
            </a:extLst>
          </p:cNvPr>
          <p:cNvSpPr txBox="1"/>
          <p:nvPr/>
        </p:nvSpPr>
        <p:spPr>
          <a:xfrm>
            <a:off x="4762166" y="2557097"/>
            <a:ext cx="96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UI Interfaces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021985-FB37-17F8-B662-8E25ACA2F3BA}"/>
              </a:ext>
            </a:extLst>
          </p:cNvPr>
          <p:cNvSpPr/>
          <p:nvPr/>
        </p:nvSpPr>
        <p:spPr>
          <a:xfrm>
            <a:off x="4984953" y="4373927"/>
            <a:ext cx="823223" cy="115272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Rules</a:t>
            </a:r>
          </a:p>
        </p:txBody>
      </p:sp>
      <p:pic>
        <p:nvPicPr>
          <p:cNvPr id="108" name="Picture 72" descr="Development, policies, regulation, rule, rules, setting icon - Download on  Iconfinder">
            <a:extLst>
              <a:ext uri="{FF2B5EF4-FFF2-40B4-BE49-F238E27FC236}">
                <a16:creationId xmlns:a16="http://schemas.microsoft.com/office/drawing/2014/main" id="{7B609EA2-1E2A-7A6D-B470-A229DEC0D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022" y="4774259"/>
            <a:ext cx="485031" cy="46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8D0F39A-B20B-17F9-1B76-FD45D99BB7DD}"/>
              </a:ext>
            </a:extLst>
          </p:cNvPr>
          <p:cNvCxnSpPr>
            <a:cxnSpLocks/>
          </p:cNvCxnSpPr>
          <p:nvPr/>
        </p:nvCxnSpPr>
        <p:spPr>
          <a:xfrm>
            <a:off x="5393071" y="4144294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69B464-E597-E5D4-2700-E840D3D80643}"/>
              </a:ext>
            </a:extLst>
          </p:cNvPr>
          <p:cNvCxnSpPr>
            <a:cxnSpLocks/>
          </p:cNvCxnSpPr>
          <p:nvPr/>
        </p:nvCxnSpPr>
        <p:spPr>
          <a:xfrm>
            <a:off x="6879958" y="3609914"/>
            <a:ext cx="32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9E05095-58DB-62CB-51BC-7681082535D0}"/>
              </a:ext>
            </a:extLst>
          </p:cNvPr>
          <p:cNvCxnSpPr>
            <a:cxnSpLocks/>
          </p:cNvCxnSpPr>
          <p:nvPr/>
        </p:nvCxnSpPr>
        <p:spPr>
          <a:xfrm>
            <a:off x="3814273" y="3684002"/>
            <a:ext cx="25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934600F-5FE3-A5E8-C2E6-3B6AF23BA823}"/>
              </a:ext>
            </a:extLst>
          </p:cNvPr>
          <p:cNvSpPr txBox="1"/>
          <p:nvPr/>
        </p:nvSpPr>
        <p:spPr>
          <a:xfrm>
            <a:off x="5932679" y="2409943"/>
            <a:ext cx="643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Caching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81B13C3-F7AD-0A92-219B-9A5AEB4AF2F0}"/>
              </a:ext>
            </a:extLst>
          </p:cNvPr>
          <p:cNvSpPr/>
          <p:nvPr/>
        </p:nvSpPr>
        <p:spPr>
          <a:xfrm>
            <a:off x="5841522" y="2221380"/>
            <a:ext cx="1021631" cy="68154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A701A7F-360B-9CAA-E03A-71F20C32D64B}"/>
              </a:ext>
            </a:extLst>
          </p:cNvPr>
          <p:cNvSpPr txBox="1"/>
          <p:nvPr/>
        </p:nvSpPr>
        <p:spPr>
          <a:xfrm>
            <a:off x="5944657" y="2633189"/>
            <a:ext cx="929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IBM Plex Sans Light" panose="020B0403050203000203" pitchFamily="34" charset="0"/>
              </a:rPr>
              <a:t>Compression</a:t>
            </a: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92DB863-BA20-83D7-0122-DB30EB7F9F79}"/>
              </a:ext>
            </a:extLst>
          </p:cNvPr>
          <p:cNvCxnSpPr>
            <a:cxnSpLocks/>
          </p:cNvCxnSpPr>
          <p:nvPr/>
        </p:nvCxnSpPr>
        <p:spPr>
          <a:xfrm>
            <a:off x="6238199" y="2887488"/>
            <a:ext cx="0" cy="25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9E18B24-A353-69C7-8380-85361E21AF12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5607933" y="2535311"/>
            <a:ext cx="21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2D3BE924-3400-28D1-10F9-F9FCD5C08B22}"/>
              </a:ext>
            </a:extLst>
          </p:cNvPr>
          <p:cNvSpPr/>
          <p:nvPr/>
        </p:nvSpPr>
        <p:spPr>
          <a:xfrm>
            <a:off x="1106878" y="3118300"/>
            <a:ext cx="1020150" cy="139702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IBM Plex Sans Light" panose="020B0403050203000203" pitchFamily="34" charset="0"/>
              </a:rPr>
              <a:t>Client Essential Platforms</a:t>
            </a:r>
          </a:p>
          <a:p>
            <a:pPr algn="ctr"/>
            <a:r>
              <a:rPr lang="en-US" sz="1200" dirty="0">
                <a:latin typeface="IBM Plex Sans Light" panose="020B0403050203000203" pitchFamily="34" charset="0"/>
              </a:rPr>
              <a:t>(External user/Provisioning)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C41CD21-78BF-39ED-6FD2-80F3561DB336}"/>
              </a:ext>
            </a:extLst>
          </p:cNvPr>
          <p:cNvSpPr txBox="1"/>
          <p:nvPr/>
        </p:nvSpPr>
        <p:spPr>
          <a:xfrm>
            <a:off x="2224435" y="1937240"/>
            <a:ext cx="1020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IBM Plex Sans Light" panose="020B0403050203000203" pitchFamily="34" charset="0"/>
              </a:rPr>
              <a:t>Leverage AI services</a:t>
            </a:r>
          </a:p>
        </p:txBody>
      </p:sp>
    </p:spTree>
    <p:extLst>
      <p:ext uri="{BB962C8B-B14F-4D97-AF65-F5344CB8AC3E}">
        <p14:creationId xmlns:p14="http://schemas.microsoft.com/office/powerpoint/2010/main" val="161905952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281</Words>
  <Application>Microsoft Macintosh PowerPoint</Application>
  <PresentationFormat>Widescreen</PresentationFormat>
  <Paragraphs>98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IBM Plex Sans</vt:lpstr>
      <vt:lpstr>IBM Plex Sans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Taj Shaik</dc:creator>
  <cp:lastModifiedBy>Taj Shaik</cp:lastModifiedBy>
  <cp:revision>3</cp:revision>
  <dcterms:created xsi:type="dcterms:W3CDTF">2025-08-20T09:27:51Z</dcterms:created>
  <dcterms:modified xsi:type="dcterms:W3CDTF">2025-08-21T05:10:38Z</dcterms:modified>
</cp:coreProperties>
</file>