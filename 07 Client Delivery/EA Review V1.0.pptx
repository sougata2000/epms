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81" r:id="rId2"/>
    <p:sldId id="280" r:id="rId3"/>
    <p:sldId id="282" r:id="rId4"/>
    <p:sldId id="284" r:id="rId5"/>
    <p:sldId id="286" r:id="rId6"/>
    <p:sldId id="287" r:id="rId7"/>
    <p:sldId id="256" r:id="rId8"/>
    <p:sldId id="259" r:id="rId9"/>
    <p:sldId id="258" r:id="rId10"/>
    <p:sldId id="260" r:id="rId11"/>
    <p:sldId id="261" r:id="rId12"/>
    <p:sldId id="262" r:id="rId13"/>
    <p:sldId id="263" r:id="rId14"/>
    <p:sldId id="264" r:id="rId15"/>
    <p:sldId id="268" r:id="rId16"/>
    <p:sldId id="272" r:id="rId17"/>
    <p:sldId id="266" r:id="rId18"/>
    <p:sldId id="267" r:id="rId19"/>
    <p:sldId id="271" r:id="rId20"/>
    <p:sldId id="273" r:id="rId21"/>
    <p:sldId id="274" r:id="rId22"/>
    <p:sldId id="275" r:id="rId23"/>
    <p:sldId id="276" r:id="rId24"/>
    <p:sldId id="277"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97"/>
    <p:restoredTop sz="94643"/>
  </p:normalViewPr>
  <p:slideViewPr>
    <p:cSldViewPr snapToGrid="0">
      <p:cViewPr varScale="1">
        <p:scale>
          <a:sx n="115" d="100"/>
          <a:sy n="115" d="100"/>
        </p:scale>
        <p:origin x="504"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47FED6-3935-4147-AD9A-3C51D2535441}" type="datetimeFigureOut">
              <a:rPr lang="en-US" smtClean="0"/>
              <a:t>3/30/26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3AA4B1-8BAA-CB46-AB37-1B4E4550018D}" type="slidenum">
              <a:rPr lang="en-US" smtClean="0"/>
              <a:t>‹#›</a:t>
            </a:fld>
            <a:endParaRPr lang="en-US"/>
          </a:p>
        </p:txBody>
      </p:sp>
    </p:spTree>
    <p:extLst>
      <p:ext uri="{BB962C8B-B14F-4D97-AF65-F5344CB8AC3E}">
        <p14:creationId xmlns:p14="http://schemas.microsoft.com/office/powerpoint/2010/main" val="22162586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54EBF-877E-61D1-7589-03EBC758095A}"/>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E55CFCF3-5429-E131-603E-EA1B5BE6913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4D1B305-2924-1888-3D16-3A161B3420E9}"/>
              </a:ext>
            </a:extLst>
          </p:cNvPr>
          <p:cNvSpPr>
            <a:spLocks noGrp="1"/>
          </p:cNvSpPr>
          <p:nvPr>
            <p:ph type="dt" sz="half" idx="10"/>
          </p:nvPr>
        </p:nvSpPr>
        <p:spPr/>
        <p:txBody>
          <a:bodyPr/>
          <a:lstStyle/>
          <a:p>
            <a:fld id="{F189D553-7D6D-BC43-B321-9AE7815EB483}" type="datetime1">
              <a:rPr lang="en-IN" smtClean="0"/>
              <a:t>30/03/26</a:t>
            </a:fld>
            <a:endParaRPr lang="en-US"/>
          </a:p>
        </p:txBody>
      </p:sp>
      <p:sp>
        <p:nvSpPr>
          <p:cNvPr id="5" name="Footer Placeholder 4">
            <a:extLst>
              <a:ext uri="{FF2B5EF4-FFF2-40B4-BE49-F238E27FC236}">
                <a16:creationId xmlns:a16="http://schemas.microsoft.com/office/drawing/2014/main" id="{B5F9C41C-6DD9-4BB8-8B4E-2EE5B18D5F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5FF7D8-8857-F6C7-628B-37C500DD28FC}"/>
              </a:ext>
            </a:extLst>
          </p:cNvPr>
          <p:cNvSpPr>
            <a:spLocks noGrp="1"/>
          </p:cNvSpPr>
          <p:nvPr>
            <p:ph type="sldNum" sz="quarter" idx="12"/>
          </p:nvPr>
        </p:nvSpPr>
        <p:spPr/>
        <p:txBody>
          <a:bodyPr/>
          <a:lstStyle/>
          <a:p>
            <a:fld id="{682A9D49-871F-5640-BCE3-20634A9797B6}" type="slidenum">
              <a:rPr lang="en-US" smtClean="0"/>
              <a:t>‹#›</a:t>
            </a:fld>
            <a:endParaRPr lang="en-US"/>
          </a:p>
        </p:txBody>
      </p:sp>
    </p:spTree>
    <p:extLst>
      <p:ext uri="{BB962C8B-B14F-4D97-AF65-F5344CB8AC3E}">
        <p14:creationId xmlns:p14="http://schemas.microsoft.com/office/powerpoint/2010/main" val="9477379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B08A6-F24D-29D3-B793-EF7F2613A36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C07A229-A3CA-29D7-CFC1-933ACE5F218E}"/>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20630D0-2A19-7C72-8B76-FE5376B0BEBC}"/>
              </a:ext>
            </a:extLst>
          </p:cNvPr>
          <p:cNvSpPr>
            <a:spLocks noGrp="1"/>
          </p:cNvSpPr>
          <p:nvPr>
            <p:ph type="dt" sz="half" idx="10"/>
          </p:nvPr>
        </p:nvSpPr>
        <p:spPr/>
        <p:txBody>
          <a:bodyPr/>
          <a:lstStyle/>
          <a:p>
            <a:fld id="{9D5B060A-ECC8-6247-89E5-D08F03A2EE7B}" type="datetime1">
              <a:rPr lang="en-IN" smtClean="0"/>
              <a:t>30/03/26</a:t>
            </a:fld>
            <a:endParaRPr lang="en-US"/>
          </a:p>
        </p:txBody>
      </p:sp>
      <p:sp>
        <p:nvSpPr>
          <p:cNvPr id="5" name="Footer Placeholder 4">
            <a:extLst>
              <a:ext uri="{FF2B5EF4-FFF2-40B4-BE49-F238E27FC236}">
                <a16:creationId xmlns:a16="http://schemas.microsoft.com/office/drawing/2014/main" id="{F00AB5DE-86EB-CB78-4761-83121CBE11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0A4A35-5E62-A72C-70AD-3FB99B35D879}"/>
              </a:ext>
            </a:extLst>
          </p:cNvPr>
          <p:cNvSpPr>
            <a:spLocks noGrp="1"/>
          </p:cNvSpPr>
          <p:nvPr>
            <p:ph type="sldNum" sz="quarter" idx="12"/>
          </p:nvPr>
        </p:nvSpPr>
        <p:spPr/>
        <p:txBody>
          <a:bodyPr/>
          <a:lstStyle/>
          <a:p>
            <a:fld id="{682A9D49-871F-5640-BCE3-20634A9797B6}" type="slidenum">
              <a:rPr lang="en-US" smtClean="0"/>
              <a:t>‹#›</a:t>
            </a:fld>
            <a:endParaRPr lang="en-US"/>
          </a:p>
        </p:txBody>
      </p:sp>
    </p:spTree>
    <p:extLst>
      <p:ext uri="{BB962C8B-B14F-4D97-AF65-F5344CB8AC3E}">
        <p14:creationId xmlns:p14="http://schemas.microsoft.com/office/powerpoint/2010/main" val="27233266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388FE-EA28-0B8C-EFEB-429059A04C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2676E804-D0C8-A6F8-1FB2-CBD38AE704A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E9CC22A-EC1C-06E9-A3A5-B9CC5FC5C3A0}"/>
              </a:ext>
            </a:extLst>
          </p:cNvPr>
          <p:cNvSpPr>
            <a:spLocks noGrp="1"/>
          </p:cNvSpPr>
          <p:nvPr>
            <p:ph type="dt" sz="half" idx="10"/>
          </p:nvPr>
        </p:nvSpPr>
        <p:spPr/>
        <p:txBody>
          <a:bodyPr/>
          <a:lstStyle/>
          <a:p>
            <a:fld id="{3C724811-1D00-F04E-B721-DC2A00BDAE89}" type="datetime1">
              <a:rPr lang="en-IN" smtClean="0"/>
              <a:t>30/03/26</a:t>
            </a:fld>
            <a:endParaRPr lang="en-US"/>
          </a:p>
        </p:txBody>
      </p:sp>
      <p:sp>
        <p:nvSpPr>
          <p:cNvPr id="5" name="Footer Placeholder 4">
            <a:extLst>
              <a:ext uri="{FF2B5EF4-FFF2-40B4-BE49-F238E27FC236}">
                <a16:creationId xmlns:a16="http://schemas.microsoft.com/office/drawing/2014/main" id="{FC927A97-CCCB-73C8-4146-DE4691589E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2E2C00-1AEF-32A9-E044-C06A0EC6023E}"/>
              </a:ext>
            </a:extLst>
          </p:cNvPr>
          <p:cNvSpPr>
            <a:spLocks noGrp="1"/>
          </p:cNvSpPr>
          <p:nvPr>
            <p:ph type="sldNum" sz="quarter" idx="12"/>
          </p:nvPr>
        </p:nvSpPr>
        <p:spPr/>
        <p:txBody>
          <a:bodyPr/>
          <a:lstStyle/>
          <a:p>
            <a:fld id="{682A9D49-871F-5640-BCE3-20634A9797B6}" type="slidenum">
              <a:rPr lang="en-US" smtClean="0"/>
              <a:t>‹#›</a:t>
            </a:fld>
            <a:endParaRPr lang="en-US"/>
          </a:p>
        </p:txBody>
      </p:sp>
    </p:spTree>
    <p:extLst>
      <p:ext uri="{BB962C8B-B14F-4D97-AF65-F5344CB8AC3E}">
        <p14:creationId xmlns:p14="http://schemas.microsoft.com/office/powerpoint/2010/main" val="12878988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2D209-143F-31C5-2A65-3007C2D5B711}"/>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057ACA76-4516-4461-EAA9-FED1C1E6932A}"/>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EC77371-0F92-7EB2-D9DE-7E6FCCD492AF}"/>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614F0A65-8944-49F8-E941-868AFA9D3781}"/>
              </a:ext>
            </a:extLst>
          </p:cNvPr>
          <p:cNvSpPr>
            <a:spLocks noGrp="1"/>
          </p:cNvSpPr>
          <p:nvPr>
            <p:ph type="dt" sz="half" idx="10"/>
          </p:nvPr>
        </p:nvSpPr>
        <p:spPr/>
        <p:txBody>
          <a:bodyPr/>
          <a:lstStyle/>
          <a:p>
            <a:fld id="{F28F8AE9-5F4F-E242-8EE3-8953958E38B4}" type="datetime1">
              <a:rPr lang="en-IN" smtClean="0"/>
              <a:t>30/03/26</a:t>
            </a:fld>
            <a:endParaRPr lang="en-US"/>
          </a:p>
        </p:txBody>
      </p:sp>
      <p:sp>
        <p:nvSpPr>
          <p:cNvPr id="6" name="Footer Placeholder 5">
            <a:extLst>
              <a:ext uri="{FF2B5EF4-FFF2-40B4-BE49-F238E27FC236}">
                <a16:creationId xmlns:a16="http://schemas.microsoft.com/office/drawing/2014/main" id="{C3ED60EE-2BC7-29B0-C4C4-958BE60FDCB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FF49B59-2BBE-215D-8CB3-8642B51347F1}"/>
              </a:ext>
            </a:extLst>
          </p:cNvPr>
          <p:cNvSpPr>
            <a:spLocks noGrp="1"/>
          </p:cNvSpPr>
          <p:nvPr>
            <p:ph type="sldNum" sz="quarter" idx="12"/>
          </p:nvPr>
        </p:nvSpPr>
        <p:spPr/>
        <p:txBody>
          <a:bodyPr/>
          <a:lstStyle/>
          <a:p>
            <a:fld id="{682A9D49-871F-5640-BCE3-20634A9797B6}" type="slidenum">
              <a:rPr lang="en-US" smtClean="0"/>
              <a:t>‹#›</a:t>
            </a:fld>
            <a:endParaRPr lang="en-US"/>
          </a:p>
        </p:txBody>
      </p:sp>
    </p:spTree>
    <p:extLst>
      <p:ext uri="{BB962C8B-B14F-4D97-AF65-F5344CB8AC3E}">
        <p14:creationId xmlns:p14="http://schemas.microsoft.com/office/powerpoint/2010/main" val="988634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DC47C-6308-279C-0739-F44DC9199EBB}"/>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E62380F6-0A50-420D-4D7F-07FB8F2A0FD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98811E98-6879-0983-944E-2F7730BA2031}"/>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91BE08F3-A95B-ACF6-938E-686ED72DFBA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380F9F0F-0039-5BB0-27E8-07D4741DAE0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2C445000-0412-E8BC-DF64-81C109A2203F}"/>
              </a:ext>
            </a:extLst>
          </p:cNvPr>
          <p:cNvSpPr>
            <a:spLocks noGrp="1"/>
          </p:cNvSpPr>
          <p:nvPr>
            <p:ph type="dt" sz="half" idx="10"/>
          </p:nvPr>
        </p:nvSpPr>
        <p:spPr/>
        <p:txBody>
          <a:bodyPr/>
          <a:lstStyle/>
          <a:p>
            <a:fld id="{1F220A2C-3D7C-4042-9B83-4E3EF4A22719}" type="datetime1">
              <a:rPr lang="en-IN" smtClean="0"/>
              <a:t>30/03/26</a:t>
            </a:fld>
            <a:endParaRPr lang="en-US"/>
          </a:p>
        </p:txBody>
      </p:sp>
      <p:sp>
        <p:nvSpPr>
          <p:cNvPr id="8" name="Footer Placeholder 7">
            <a:extLst>
              <a:ext uri="{FF2B5EF4-FFF2-40B4-BE49-F238E27FC236}">
                <a16:creationId xmlns:a16="http://schemas.microsoft.com/office/drawing/2014/main" id="{FC543B9C-3626-707D-23C3-A34E3E383B2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5CD55F1-3166-B82E-DDA7-1AE5D9DB87DD}"/>
              </a:ext>
            </a:extLst>
          </p:cNvPr>
          <p:cNvSpPr>
            <a:spLocks noGrp="1"/>
          </p:cNvSpPr>
          <p:nvPr>
            <p:ph type="sldNum" sz="quarter" idx="12"/>
          </p:nvPr>
        </p:nvSpPr>
        <p:spPr/>
        <p:txBody>
          <a:bodyPr/>
          <a:lstStyle/>
          <a:p>
            <a:fld id="{682A9D49-871F-5640-BCE3-20634A9797B6}" type="slidenum">
              <a:rPr lang="en-US" smtClean="0"/>
              <a:t>‹#›</a:t>
            </a:fld>
            <a:endParaRPr lang="en-US"/>
          </a:p>
        </p:txBody>
      </p:sp>
    </p:spTree>
    <p:extLst>
      <p:ext uri="{BB962C8B-B14F-4D97-AF65-F5344CB8AC3E}">
        <p14:creationId xmlns:p14="http://schemas.microsoft.com/office/powerpoint/2010/main" val="19981965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7CC89-D44E-2F03-5B45-77F6190DFA2D}"/>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DD34AE4D-CCEE-22F7-C20D-CE588E7E65E3}"/>
              </a:ext>
            </a:extLst>
          </p:cNvPr>
          <p:cNvSpPr>
            <a:spLocks noGrp="1"/>
          </p:cNvSpPr>
          <p:nvPr>
            <p:ph type="dt" sz="half" idx="10"/>
          </p:nvPr>
        </p:nvSpPr>
        <p:spPr/>
        <p:txBody>
          <a:bodyPr/>
          <a:lstStyle/>
          <a:p>
            <a:fld id="{BEF3199D-02A9-D542-8514-2B87B85638A0}" type="datetime1">
              <a:rPr lang="en-IN" smtClean="0"/>
              <a:t>30/03/26</a:t>
            </a:fld>
            <a:endParaRPr lang="en-US"/>
          </a:p>
        </p:txBody>
      </p:sp>
      <p:sp>
        <p:nvSpPr>
          <p:cNvPr id="4" name="Footer Placeholder 3">
            <a:extLst>
              <a:ext uri="{FF2B5EF4-FFF2-40B4-BE49-F238E27FC236}">
                <a16:creationId xmlns:a16="http://schemas.microsoft.com/office/drawing/2014/main" id="{53F423C2-0394-7002-2F11-F0DC0C230C7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9F5E84F-9FAE-261B-C702-05EFAC685269}"/>
              </a:ext>
            </a:extLst>
          </p:cNvPr>
          <p:cNvSpPr>
            <a:spLocks noGrp="1"/>
          </p:cNvSpPr>
          <p:nvPr>
            <p:ph type="sldNum" sz="quarter" idx="12"/>
          </p:nvPr>
        </p:nvSpPr>
        <p:spPr/>
        <p:txBody>
          <a:bodyPr/>
          <a:lstStyle/>
          <a:p>
            <a:fld id="{682A9D49-871F-5640-BCE3-20634A9797B6}" type="slidenum">
              <a:rPr lang="en-US" smtClean="0"/>
              <a:t>‹#›</a:t>
            </a:fld>
            <a:endParaRPr lang="en-US"/>
          </a:p>
        </p:txBody>
      </p:sp>
    </p:spTree>
    <p:extLst>
      <p:ext uri="{BB962C8B-B14F-4D97-AF65-F5344CB8AC3E}">
        <p14:creationId xmlns:p14="http://schemas.microsoft.com/office/powerpoint/2010/main" val="2273940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8654AEC-6B9A-9A66-E0D0-2B75BA94AE98}"/>
              </a:ext>
            </a:extLst>
          </p:cNvPr>
          <p:cNvSpPr>
            <a:spLocks noGrp="1"/>
          </p:cNvSpPr>
          <p:nvPr>
            <p:ph type="sldNum" sz="quarter" idx="12"/>
          </p:nvPr>
        </p:nvSpPr>
        <p:spPr>
          <a:xfrm>
            <a:off x="9365801" y="6642228"/>
            <a:ext cx="2743200" cy="182562"/>
          </a:xfrm>
        </p:spPr>
        <p:txBody>
          <a:bodyPr/>
          <a:lstStyle/>
          <a:p>
            <a:fld id="{682A9D49-871F-5640-BCE3-20634A9797B6}" type="slidenum">
              <a:rPr lang="en-US" smtClean="0"/>
              <a:t>‹#›</a:t>
            </a:fld>
            <a:endParaRPr lang="en-US"/>
          </a:p>
        </p:txBody>
      </p:sp>
      <p:sp>
        <p:nvSpPr>
          <p:cNvPr id="6" name="Rectangle 5">
            <a:extLst>
              <a:ext uri="{FF2B5EF4-FFF2-40B4-BE49-F238E27FC236}">
                <a16:creationId xmlns:a16="http://schemas.microsoft.com/office/drawing/2014/main" id="{46A61B32-D444-C366-5F75-95EA104C1CEB}"/>
              </a:ext>
            </a:extLst>
          </p:cNvPr>
          <p:cNvSpPr/>
          <p:nvPr/>
        </p:nvSpPr>
        <p:spPr>
          <a:xfrm>
            <a:off x="7082" y="487701"/>
            <a:ext cx="2737262" cy="230832"/>
          </a:xfrm>
          <a:prstGeom prst="rect">
            <a:avLst/>
          </a:prstGeom>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b="1" dirty="0"/>
              <a:t>SOLUTION DESIGN DOCUMENT NAME</a:t>
            </a:r>
          </a:p>
        </p:txBody>
      </p:sp>
      <p:sp>
        <p:nvSpPr>
          <p:cNvPr id="7" name="TextBox 6">
            <a:extLst>
              <a:ext uri="{FF2B5EF4-FFF2-40B4-BE49-F238E27FC236}">
                <a16:creationId xmlns:a16="http://schemas.microsoft.com/office/drawing/2014/main" id="{A147051D-CEE4-97F1-4FF2-5AE944D2CC3F}"/>
              </a:ext>
            </a:extLst>
          </p:cNvPr>
          <p:cNvSpPr txBox="1"/>
          <p:nvPr/>
        </p:nvSpPr>
        <p:spPr>
          <a:xfrm>
            <a:off x="0" y="711572"/>
            <a:ext cx="2737262" cy="230832"/>
          </a:xfrm>
          <a:prstGeom prst="rect">
            <a:avLst/>
          </a:prstGeom>
          <a:noFill/>
          <a:ln w="6350">
            <a:solidFill>
              <a:schemeClr val="accent1"/>
            </a:solidFill>
          </a:ln>
        </p:spPr>
        <p:txBody>
          <a:bodyPr wrap="square" rtlCol="0">
            <a:spAutoFit/>
          </a:bodyPr>
          <a:lstStyle/>
          <a:p>
            <a:r>
              <a:rPr lang="en-US" sz="900" dirty="0"/>
              <a:t>EPMP Solution Architecture</a:t>
            </a:r>
          </a:p>
        </p:txBody>
      </p:sp>
      <p:sp>
        <p:nvSpPr>
          <p:cNvPr id="8" name="Rectangle 7">
            <a:extLst>
              <a:ext uri="{FF2B5EF4-FFF2-40B4-BE49-F238E27FC236}">
                <a16:creationId xmlns:a16="http://schemas.microsoft.com/office/drawing/2014/main" id="{7B23A2D9-B248-50BE-07C0-735B5F46E36A}"/>
              </a:ext>
            </a:extLst>
          </p:cNvPr>
          <p:cNvSpPr/>
          <p:nvPr/>
        </p:nvSpPr>
        <p:spPr>
          <a:xfrm>
            <a:off x="2808629" y="480799"/>
            <a:ext cx="1315260" cy="266700"/>
          </a:xfrm>
          <a:prstGeom prst="rect">
            <a:avLst/>
          </a:prstGeom>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b="1" dirty="0"/>
              <a:t>DOC VERSION</a:t>
            </a:r>
          </a:p>
        </p:txBody>
      </p:sp>
      <p:sp>
        <p:nvSpPr>
          <p:cNvPr id="9" name="TextBox 8">
            <a:extLst>
              <a:ext uri="{FF2B5EF4-FFF2-40B4-BE49-F238E27FC236}">
                <a16:creationId xmlns:a16="http://schemas.microsoft.com/office/drawing/2014/main" id="{09BE91AC-5203-E7F2-BD23-2980F3A46B3F}"/>
              </a:ext>
            </a:extLst>
          </p:cNvPr>
          <p:cNvSpPr txBox="1"/>
          <p:nvPr/>
        </p:nvSpPr>
        <p:spPr>
          <a:xfrm>
            <a:off x="2814799" y="725209"/>
            <a:ext cx="1315260" cy="230832"/>
          </a:xfrm>
          <a:prstGeom prst="rect">
            <a:avLst/>
          </a:prstGeom>
          <a:noFill/>
          <a:ln w="6350">
            <a:solidFill>
              <a:schemeClr val="accent1"/>
            </a:solidFill>
          </a:ln>
        </p:spPr>
        <p:txBody>
          <a:bodyPr wrap="square" rtlCol="0">
            <a:spAutoFit/>
          </a:bodyPr>
          <a:lstStyle/>
          <a:p>
            <a:r>
              <a:rPr lang="en-US" sz="900" dirty="0"/>
              <a:t>1.0</a:t>
            </a:r>
          </a:p>
        </p:txBody>
      </p:sp>
      <p:sp>
        <p:nvSpPr>
          <p:cNvPr id="10" name="Rectangle 9">
            <a:extLst>
              <a:ext uri="{FF2B5EF4-FFF2-40B4-BE49-F238E27FC236}">
                <a16:creationId xmlns:a16="http://schemas.microsoft.com/office/drawing/2014/main" id="{DA65ED4D-2EC4-11DF-A7B8-D8BF9A8FE7AD}"/>
              </a:ext>
            </a:extLst>
          </p:cNvPr>
          <p:cNvSpPr/>
          <p:nvPr/>
        </p:nvSpPr>
        <p:spPr>
          <a:xfrm>
            <a:off x="4176566" y="480153"/>
            <a:ext cx="1315259" cy="266700"/>
          </a:xfrm>
          <a:prstGeom prst="rect">
            <a:avLst/>
          </a:prstGeom>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b="1" dirty="0"/>
              <a:t>REQUEST DATE</a:t>
            </a:r>
          </a:p>
        </p:txBody>
      </p:sp>
      <p:sp>
        <p:nvSpPr>
          <p:cNvPr id="11" name="TextBox 10">
            <a:extLst>
              <a:ext uri="{FF2B5EF4-FFF2-40B4-BE49-F238E27FC236}">
                <a16:creationId xmlns:a16="http://schemas.microsoft.com/office/drawing/2014/main" id="{41F17582-1883-33F8-9AEB-E9A7ADE773ED}"/>
              </a:ext>
            </a:extLst>
          </p:cNvPr>
          <p:cNvSpPr txBox="1"/>
          <p:nvPr/>
        </p:nvSpPr>
        <p:spPr>
          <a:xfrm>
            <a:off x="4176566" y="726248"/>
            <a:ext cx="1315259" cy="230832"/>
          </a:xfrm>
          <a:prstGeom prst="rect">
            <a:avLst/>
          </a:prstGeom>
          <a:noFill/>
          <a:ln w="6350">
            <a:solidFill>
              <a:schemeClr val="accent1"/>
            </a:solidFill>
          </a:ln>
        </p:spPr>
        <p:txBody>
          <a:bodyPr wrap="square" rtlCol="0">
            <a:spAutoFit/>
          </a:bodyPr>
          <a:lstStyle/>
          <a:p>
            <a:r>
              <a:rPr lang="en-US" sz="900" dirty="0"/>
              <a:t>25-03-2026</a:t>
            </a:r>
          </a:p>
        </p:txBody>
      </p:sp>
      <p:sp>
        <p:nvSpPr>
          <p:cNvPr id="12" name="Rectangle 11">
            <a:extLst>
              <a:ext uri="{FF2B5EF4-FFF2-40B4-BE49-F238E27FC236}">
                <a16:creationId xmlns:a16="http://schemas.microsoft.com/office/drawing/2014/main" id="{1AAD9B11-BE9E-4A34-44F4-074F2664A2EC}"/>
              </a:ext>
            </a:extLst>
          </p:cNvPr>
          <p:cNvSpPr/>
          <p:nvPr/>
        </p:nvSpPr>
        <p:spPr>
          <a:xfrm>
            <a:off x="7159438" y="483566"/>
            <a:ext cx="1606997" cy="266700"/>
          </a:xfrm>
          <a:prstGeom prst="rect">
            <a:avLst/>
          </a:prstGeom>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b="1" dirty="0"/>
              <a:t>TYPE CLASSIFICATION</a:t>
            </a:r>
          </a:p>
        </p:txBody>
      </p:sp>
      <p:sp>
        <p:nvSpPr>
          <p:cNvPr id="13" name="TextBox 12">
            <a:extLst>
              <a:ext uri="{FF2B5EF4-FFF2-40B4-BE49-F238E27FC236}">
                <a16:creationId xmlns:a16="http://schemas.microsoft.com/office/drawing/2014/main" id="{89C144FB-0579-E46C-9A43-0D316853007D}"/>
              </a:ext>
            </a:extLst>
          </p:cNvPr>
          <p:cNvSpPr txBox="1"/>
          <p:nvPr/>
        </p:nvSpPr>
        <p:spPr>
          <a:xfrm>
            <a:off x="7159438" y="725209"/>
            <a:ext cx="1606997" cy="230832"/>
          </a:xfrm>
          <a:prstGeom prst="rect">
            <a:avLst/>
          </a:prstGeom>
          <a:noFill/>
          <a:ln w="6350">
            <a:solidFill>
              <a:schemeClr val="accent1"/>
            </a:solidFill>
          </a:ln>
        </p:spPr>
        <p:txBody>
          <a:bodyPr wrap="square" rtlCol="0">
            <a:spAutoFit/>
          </a:bodyPr>
          <a:lstStyle/>
          <a:p>
            <a:r>
              <a:rPr lang="en-US" sz="900" dirty="0"/>
              <a:t>A</a:t>
            </a:r>
          </a:p>
        </p:txBody>
      </p:sp>
      <p:sp>
        <p:nvSpPr>
          <p:cNvPr id="14" name="Rectangle 13">
            <a:extLst>
              <a:ext uri="{FF2B5EF4-FFF2-40B4-BE49-F238E27FC236}">
                <a16:creationId xmlns:a16="http://schemas.microsoft.com/office/drawing/2014/main" id="{79BA14D9-04D6-9E99-BE68-A3BB0FAE8A7A}"/>
              </a:ext>
            </a:extLst>
          </p:cNvPr>
          <p:cNvSpPr/>
          <p:nvPr/>
        </p:nvSpPr>
        <p:spPr>
          <a:xfrm>
            <a:off x="8830721" y="458509"/>
            <a:ext cx="1606997" cy="266700"/>
          </a:xfrm>
          <a:prstGeom prst="rect">
            <a:avLst/>
          </a:prstGeom>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b="1" dirty="0"/>
              <a:t>APP. SUPPORT DEPTT.</a:t>
            </a:r>
          </a:p>
        </p:txBody>
      </p:sp>
      <p:sp>
        <p:nvSpPr>
          <p:cNvPr id="15" name="TextBox 14">
            <a:extLst>
              <a:ext uri="{FF2B5EF4-FFF2-40B4-BE49-F238E27FC236}">
                <a16:creationId xmlns:a16="http://schemas.microsoft.com/office/drawing/2014/main" id="{646B8884-7C3C-1E9A-6E70-8080E3E1266B}"/>
              </a:ext>
            </a:extLst>
          </p:cNvPr>
          <p:cNvSpPr txBox="1"/>
          <p:nvPr/>
        </p:nvSpPr>
        <p:spPr>
          <a:xfrm>
            <a:off x="8830721" y="711572"/>
            <a:ext cx="1606997" cy="230832"/>
          </a:xfrm>
          <a:prstGeom prst="rect">
            <a:avLst/>
          </a:prstGeom>
          <a:noFill/>
          <a:ln w="6350">
            <a:solidFill>
              <a:schemeClr val="accent1"/>
            </a:solidFill>
          </a:ln>
        </p:spPr>
        <p:txBody>
          <a:bodyPr wrap="square" rtlCol="0">
            <a:spAutoFit/>
          </a:bodyPr>
          <a:lstStyle/>
          <a:p>
            <a:r>
              <a:rPr lang="en-US" sz="900" dirty="0"/>
              <a:t>GOV1</a:t>
            </a:r>
          </a:p>
        </p:txBody>
      </p:sp>
      <p:sp>
        <p:nvSpPr>
          <p:cNvPr id="16" name="Rectangle 15">
            <a:extLst>
              <a:ext uri="{FF2B5EF4-FFF2-40B4-BE49-F238E27FC236}">
                <a16:creationId xmlns:a16="http://schemas.microsoft.com/office/drawing/2014/main" id="{C4050C15-93C3-8D9F-CAEC-D4E67950D97E}"/>
              </a:ext>
            </a:extLst>
          </p:cNvPr>
          <p:cNvSpPr/>
          <p:nvPr/>
        </p:nvSpPr>
        <p:spPr>
          <a:xfrm>
            <a:off x="10502004" y="444872"/>
            <a:ext cx="1682913" cy="266700"/>
          </a:xfrm>
          <a:prstGeom prst="rect">
            <a:avLst/>
          </a:prstGeom>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b="1" dirty="0"/>
              <a:t>APPLICATION NAME</a:t>
            </a:r>
          </a:p>
        </p:txBody>
      </p:sp>
      <p:sp>
        <p:nvSpPr>
          <p:cNvPr id="17" name="TextBox 16">
            <a:extLst>
              <a:ext uri="{FF2B5EF4-FFF2-40B4-BE49-F238E27FC236}">
                <a16:creationId xmlns:a16="http://schemas.microsoft.com/office/drawing/2014/main" id="{23E066E8-ABC2-6548-3C5D-12F9F0AD9417}"/>
              </a:ext>
            </a:extLst>
          </p:cNvPr>
          <p:cNvSpPr txBox="1"/>
          <p:nvPr/>
        </p:nvSpPr>
        <p:spPr>
          <a:xfrm>
            <a:off x="10502004" y="725209"/>
            <a:ext cx="1689996" cy="307777"/>
          </a:xfrm>
          <a:prstGeom prst="rect">
            <a:avLst/>
          </a:prstGeom>
          <a:noFill/>
          <a:ln w="6350">
            <a:solidFill>
              <a:schemeClr val="accent1"/>
            </a:solidFill>
          </a:ln>
        </p:spPr>
        <p:txBody>
          <a:bodyPr wrap="square" rtlCol="0">
            <a:spAutoFit/>
          </a:bodyPr>
          <a:lstStyle/>
          <a:p>
            <a:r>
              <a:rPr lang="en-US" sz="700" dirty="0"/>
              <a:t>Enterprise Project Management Platform(EPMP)</a:t>
            </a:r>
          </a:p>
        </p:txBody>
      </p:sp>
      <p:sp>
        <p:nvSpPr>
          <p:cNvPr id="18" name="Rectangle 17">
            <a:extLst>
              <a:ext uri="{FF2B5EF4-FFF2-40B4-BE49-F238E27FC236}">
                <a16:creationId xmlns:a16="http://schemas.microsoft.com/office/drawing/2014/main" id="{0F91DACE-804D-6A10-A211-B2C2D794382D}"/>
              </a:ext>
            </a:extLst>
          </p:cNvPr>
          <p:cNvSpPr/>
          <p:nvPr/>
        </p:nvSpPr>
        <p:spPr>
          <a:xfrm>
            <a:off x="5567718" y="487701"/>
            <a:ext cx="1527435" cy="266700"/>
          </a:xfrm>
          <a:prstGeom prst="rect">
            <a:avLst/>
          </a:prstGeom>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b="1" dirty="0"/>
              <a:t>REVIEW STAGE</a:t>
            </a:r>
          </a:p>
        </p:txBody>
      </p:sp>
      <p:sp>
        <p:nvSpPr>
          <p:cNvPr id="19" name="TextBox 18">
            <a:extLst>
              <a:ext uri="{FF2B5EF4-FFF2-40B4-BE49-F238E27FC236}">
                <a16:creationId xmlns:a16="http://schemas.microsoft.com/office/drawing/2014/main" id="{DE27BC2F-420E-3591-A8DA-61602A8A7B20}"/>
              </a:ext>
            </a:extLst>
          </p:cNvPr>
          <p:cNvSpPr txBox="1"/>
          <p:nvPr/>
        </p:nvSpPr>
        <p:spPr>
          <a:xfrm>
            <a:off x="5567718" y="726149"/>
            <a:ext cx="1527435" cy="230832"/>
          </a:xfrm>
          <a:prstGeom prst="rect">
            <a:avLst/>
          </a:prstGeom>
          <a:noFill/>
          <a:ln w="6350">
            <a:solidFill>
              <a:schemeClr val="accent1"/>
            </a:solidFill>
          </a:ln>
        </p:spPr>
        <p:txBody>
          <a:bodyPr wrap="square" rtlCol="0">
            <a:spAutoFit/>
          </a:bodyPr>
          <a:lstStyle/>
          <a:p>
            <a:r>
              <a:rPr lang="en-US" sz="900" dirty="0"/>
              <a:t>DESIGN</a:t>
            </a:r>
          </a:p>
        </p:txBody>
      </p:sp>
      <p:sp>
        <p:nvSpPr>
          <p:cNvPr id="20" name="Rectangle 19">
            <a:extLst>
              <a:ext uri="{FF2B5EF4-FFF2-40B4-BE49-F238E27FC236}">
                <a16:creationId xmlns:a16="http://schemas.microsoft.com/office/drawing/2014/main" id="{02309851-6956-0695-A163-6BB6CE925E5F}"/>
              </a:ext>
            </a:extLst>
          </p:cNvPr>
          <p:cNvSpPr/>
          <p:nvPr/>
        </p:nvSpPr>
        <p:spPr>
          <a:xfrm>
            <a:off x="7083" y="2475"/>
            <a:ext cx="2737262" cy="266700"/>
          </a:xfrm>
          <a:prstGeom prst="rect">
            <a:avLst/>
          </a:prstGeom>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b="1" dirty="0"/>
              <a:t>PROJECT NAME</a:t>
            </a:r>
          </a:p>
        </p:txBody>
      </p:sp>
      <p:sp>
        <p:nvSpPr>
          <p:cNvPr id="21" name="TextBox 20">
            <a:extLst>
              <a:ext uri="{FF2B5EF4-FFF2-40B4-BE49-F238E27FC236}">
                <a16:creationId xmlns:a16="http://schemas.microsoft.com/office/drawing/2014/main" id="{AD4004D7-B02E-7063-6D5A-F0A553C6F809}"/>
              </a:ext>
            </a:extLst>
          </p:cNvPr>
          <p:cNvSpPr txBox="1"/>
          <p:nvPr/>
        </p:nvSpPr>
        <p:spPr>
          <a:xfrm>
            <a:off x="7083" y="274731"/>
            <a:ext cx="2731824" cy="230832"/>
          </a:xfrm>
          <a:prstGeom prst="rect">
            <a:avLst/>
          </a:prstGeom>
          <a:noFill/>
          <a:ln w="6350">
            <a:solidFill>
              <a:schemeClr val="accent1"/>
            </a:solidFill>
          </a:ln>
        </p:spPr>
        <p:txBody>
          <a:bodyPr wrap="square" rtlCol="0">
            <a:spAutoFit/>
          </a:bodyPr>
          <a:lstStyle/>
          <a:p>
            <a:r>
              <a:rPr lang="en-US" sz="900" dirty="0"/>
              <a:t>Enterprise Project Management Platform(EPMP)</a:t>
            </a:r>
          </a:p>
        </p:txBody>
      </p:sp>
      <p:sp>
        <p:nvSpPr>
          <p:cNvPr id="22" name="Rectangle 21">
            <a:extLst>
              <a:ext uri="{FF2B5EF4-FFF2-40B4-BE49-F238E27FC236}">
                <a16:creationId xmlns:a16="http://schemas.microsoft.com/office/drawing/2014/main" id="{11CC50B6-EBDD-BDD2-7A36-50168F595792}"/>
              </a:ext>
            </a:extLst>
          </p:cNvPr>
          <p:cNvSpPr/>
          <p:nvPr/>
        </p:nvSpPr>
        <p:spPr>
          <a:xfrm>
            <a:off x="2814799" y="0"/>
            <a:ext cx="1315260" cy="266700"/>
          </a:xfrm>
          <a:prstGeom prst="rect">
            <a:avLst/>
          </a:prstGeom>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b="1" dirty="0"/>
              <a:t>DEMAND NUMBER</a:t>
            </a:r>
          </a:p>
        </p:txBody>
      </p:sp>
      <p:sp>
        <p:nvSpPr>
          <p:cNvPr id="23" name="TextBox 22">
            <a:extLst>
              <a:ext uri="{FF2B5EF4-FFF2-40B4-BE49-F238E27FC236}">
                <a16:creationId xmlns:a16="http://schemas.microsoft.com/office/drawing/2014/main" id="{1B74A398-CB17-69D8-B46F-28D073A43505}"/>
              </a:ext>
            </a:extLst>
          </p:cNvPr>
          <p:cNvSpPr txBox="1"/>
          <p:nvPr/>
        </p:nvSpPr>
        <p:spPr>
          <a:xfrm>
            <a:off x="2814799" y="272257"/>
            <a:ext cx="1315260" cy="215444"/>
          </a:xfrm>
          <a:prstGeom prst="rect">
            <a:avLst/>
          </a:prstGeom>
          <a:noFill/>
          <a:ln w="6350">
            <a:solidFill>
              <a:schemeClr val="accent1"/>
            </a:solidFill>
          </a:ln>
        </p:spPr>
        <p:txBody>
          <a:bodyPr wrap="square" rtlCol="0">
            <a:spAutoFit/>
          </a:bodyPr>
          <a:lstStyle/>
          <a:p>
            <a:r>
              <a:rPr lang="en-US" sz="800" dirty="0"/>
              <a:t>SCP25260824165280</a:t>
            </a:r>
          </a:p>
        </p:txBody>
      </p:sp>
      <p:sp>
        <p:nvSpPr>
          <p:cNvPr id="24" name="Rectangle 23">
            <a:extLst>
              <a:ext uri="{FF2B5EF4-FFF2-40B4-BE49-F238E27FC236}">
                <a16:creationId xmlns:a16="http://schemas.microsoft.com/office/drawing/2014/main" id="{BE0D4179-F9A7-2F10-23B8-56C8141A538B}"/>
              </a:ext>
            </a:extLst>
          </p:cNvPr>
          <p:cNvSpPr/>
          <p:nvPr/>
        </p:nvSpPr>
        <p:spPr>
          <a:xfrm>
            <a:off x="4188175" y="2475"/>
            <a:ext cx="1315259" cy="266700"/>
          </a:xfrm>
          <a:prstGeom prst="rect">
            <a:avLst/>
          </a:prstGeom>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b="1" dirty="0"/>
              <a:t>BUSINESS DEPTT.</a:t>
            </a:r>
          </a:p>
        </p:txBody>
      </p:sp>
      <p:sp>
        <p:nvSpPr>
          <p:cNvPr id="25" name="TextBox 24">
            <a:extLst>
              <a:ext uri="{FF2B5EF4-FFF2-40B4-BE49-F238E27FC236}">
                <a16:creationId xmlns:a16="http://schemas.microsoft.com/office/drawing/2014/main" id="{54B0F0BA-32B9-D616-46AE-2EAD529C18C4}"/>
              </a:ext>
            </a:extLst>
          </p:cNvPr>
          <p:cNvSpPr txBox="1"/>
          <p:nvPr/>
        </p:nvSpPr>
        <p:spPr>
          <a:xfrm>
            <a:off x="4188175" y="249967"/>
            <a:ext cx="1315259" cy="230832"/>
          </a:xfrm>
          <a:prstGeom prst="rect">
            <a:avLst/>
          </a:prstGeom>
          <a:noFill/>
          <a:ln w="6350">
            <a:solidFill>
              <a:schemeClr val="accent1"/>
            </a:solidFill>
          </a:ln>
        </p:spPr>
        <p:txBody>
          <a:bodyPr wrap="square" rtlCol="0">
            <a:spAutoFit/>
          </a:bodyPr>
          <a:lstStyle/>
          <a:p>
            <a:r>
              <a:rPr lang="en-US" sz="900" dirty="0"/>
              <a:t>DE-GOV1</a:t>
            </a:r>
          </a:p>
        </p:txBody>
      </p:sp>
      <p:sp>
        <p:nvSpPr>
          <p:cNvPr id="26" name="Rectangle 25">
            <a:extLst>
              <a:ext uri="{FF2B5EF4-FFF2-40B4-BE49-F238E27FC236}">
                <a16:creationId xmlns:a16="http://schemas.microsoft.com/office/drawing/2014/main" id="{F634C0ED-FE90-EEB9-0C4F-4D99503F107D}"/>
              </a:ext>
            </a:extLst>
          </p:cNvPr>
          <p:cNvSpPr/>
          <p:nvPr/>
        </p:nvSpPr>
        <p:spPr>
          <a:xfrm>
            <a:off x="5567719" y="2475"/>
            <a:ext cx="1527435" cy="266700"/>
          </a:xfrm>
          <a:prstGeom prst="rect">
            <a:avLst/>
          </a:prstGeom>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b="1" dirty="0"/>
              <a:t>APPLICATION DEPTT.</a:t>
            </a:r>
          </a:p>
        </p:txBody>
      </p:sp>
      <p:sp>
        <p:nvSpPr>
          <p:cNvPr id="27" name="TextBox 26">
            <a:extLst>
              <a:ext uri="{FF2B5EF4-FFF2-40B4-BE49-F238E27FC236}">
                <a16:creationId xmlns:a16="http://schemas.microsoft.com/office/drawing/2014/main" id="{2652EC0E-24EF-C215-ACC1-DEC43FEFD456}"/>
              </a:ext>
            </a:extLst>
          </p:cNvPr>
          <p:cNvSpPr txBox="1"/>
          <p:nvPr/>
        </p:nvSpPr>
        <p:spPr>
          <a:xfrm>
            <a:off x="5567719" y="274732"/>
            <a:ext cx="1527435" cy="230832"/>
          </a:xfrm>
          <a:prstGeom prst="rect">
            <a:avLst/>
          </a:prstGeom>
          <a:noFill/>
          <a:ln w="6350">
            <a:solidFill>
              <a:schemeClr val="accent1"/>
            </a:solidFill>
          </a:ln>
        </p:spPr>
        <p:txBody>
          <a:bodyPr wrap="square" rtlCol="0">
            <a:spAutoFit/>
          </a:bodyPr>
          <a:lstStyle/>
          <a:p>
            <a:r>
              <a:rPr lang="en-US" sz="900" dirty="0"/>
              <a:t>DE-GOV1</a:t>
            </a:r>
          </a:p>
        </p:txBody>
      </p:sp>
      <p:sp>
        <p:nvSpPr>
          <p:cNvPr id="28" name="Rectangle 27">
            <a:extLst>
              <a:ext uri="{FF2B5EF4-FFF2-40B4-BE49-F238E27FC236}">
                <a16:creationId xmlns:a16="http://schemas.microsoft.com/office/drawing/2014/main" id="{C0BC7FC0-2EFA-1213-4651-49D6AD6983AA}"/>
              </a:ext>
            </a:extLst>
          </p:cNvPr>
          <p:cNvSpPr/>
          <p:nvPr/>
        </p:nvSpPr>
        <p:spPr>
          <a:xfrm>
            <a:off x="7159439" y="2475"/>
            <a:ext cx="1606997" cy="266700"/>
          </a:xfrm>
          <a:prstGeom prst="rect">
            <a:avLst/>
          </a:prstGeom>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b="1" dirty="0"/>
              <a:t>BRD APPROVED?</a:t>
            </a:r>
          </a:p>
        </p:txBody>
      </p:sp>
      <p:sp>
        <p:nvSpPr>
          <p:cNvPr id="29" name="TextBox 28">
            <a:extLst>
              <a:ext uri="{FF2B5EF4-FFF2-40B4-BE49-F238E27FC236}">
                <a16:creationId xmlns:a16="http://schemas.microsoft.com/office/drawing/2014/main" id="{BBB8C066-58EE-F3C5-2C15-6856D9DC824C}"/>
              </a:ext>
            </a:extLst>
          </p:cNvPr>
          <p:cNvSpPr txBox="1"/>
          <p:nvPr/>
        </p:nvSpPr>
        <p:spPr>
          <a:xfrm>
            <a:off x="7159439" y="274732"/>
            <a:ext cx="1606997" cy="230832"/>
          </a:xfrm>
          <a:prstGeom prst="rect">
            <a:avLst/>
          </a:prstGeom>
          <a:noFill/>
          <a:ln w="6350">
            <a:solidFill>
              <a:schemeClr val="accent1"/>
            </a:solidFill>
          </a:ln>
        </p:spPr>
        <p:txBody>
          <a:bodyPr wrap="square" rtlCol="0">
            <a:spAutoFit/>
          </a:bodyPr>
          <a:lstStyle/>
          <a:p>
            <a:r>
              <a:rPr lang="en-US" sz="900" dirty="0"/>
              <a:t>Yes</a:t>
            </a:r>
          </a:p>
        </p:txBody>
      </p:sp>
      <p:sp>
        <p:nvSpPr>
          <p:cNvPr id="30" name="Rectangle 29">
            <a:extLst>
              <a:ext uri="{FF2B5EF4-FFF2-40B4-BE49-F238E27FC236}">
                <a16:creationId xmlns:a16="http://schemas.microsoft.com/office/drawing/2014/main" id="{835A308C-72CF-92F0-1B8D-BF643E0CB31F}"/>
              </a:ext>
            </a:extLst>
          </p:cNvPr>
          <p:cNvSpPr/>
          <p:nvPr/>
        </p:nvSpPr>
        <p:spPr>
          <a:xfrm>
            <a:off x="8830721" y="2719"/>
            <a:ext cx="1606997" cy="266700"/>
          </a:xfrm>
          <a:prstGeom prst="rect">
            <a:avLst/>
          </a:prstGeom>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b="1" dirty="0"/>
              <a:t>PROJECT MANAGER</a:t>
            </a:r>
          </a:p>
        </p:txBody>
      </p:sp>
      <p:sp>
        <p:nvSpPr>
          <p:cNvPr id="31" name="TextBox 30">
            <a:extLst>
              <a:ext uri="{FF2B5EF4-FFF2-40B4-BE49-F238E27FC236}">
                <a16:creationId xmlns:a16="http://schemas.microsoft.com/office/drawing/2014/main" id="{E13F5E67-720F-2A35-D78C-4C3438E56E39}"/>
              </a:ext>
            </a:extLst>
          </p:cNvPr>
          <p:cNvSpPr txBox="1"/>
          <p:nvPr/>
        </p:nvSpPr>
        <p:spPr>
          <a:xfrm>
            <a:off x="8830721" y="274976"/>
            <a:ext cx="1606997" cy="230832"/>
          </a:xfrm>
          <a:prstGeom prst="rect">
            <a:avLst/>
          </a:prstGeom>
          <a:noFill/>
          <a:ln w="6350">
            <a:solidFill>
              <a:schemeClr val="accent1"/>
            </a:solidFill>
          </a:ln>
        </p:spPr>
        <p:txBody>
          <a:bodyPr wrap="square" rtlCol="0">
            <a:spAutoFit/>
          </a:bodyPr>
          <a:lstStyle/>
          <a:p>
            <a:r>
              <a:rPr lang="en-US" sz="900" dirty="0"/>
              <a:t>Aman Kumar Jha</a:t>
            </a:r>
          </a:p>
        </p:txBody>
      </p:sp>
      <p:sp>
        <p:nvSpPr>
          <p:cNvPr id="32" name="Rectangle 31">
            <a:extLst>
              <a:ext uri="{FF2B5EF4-FFF2-40B4-BE49-F238E27FC236}">
                <a16:creationId xmlns:a16="http://schemas.microsoft.com/office/drawing/2014/main" id="{0CD44887-8192-ACEF-7E99-9A03D54AFA28}"/>
              </a:ext>
            </a:extLst>
          </p:cNvPr>
          <p:cNvSpPr/>
          <p:nvPr/>
        </p:nvSpPr>
        <p:spPr>
          <a:xfrm>
            <a:off x="10502004" y="2719"/>
            <a:ext cx="1689996" cy="266700"/>
          </a:xfrm>
          <a:prstGeom prst="rect">
            <a:avLst/>
          </a:prstGeom>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b="1" dirty="0"/>
              <a:t>SOLUTION TYPE</a:t>
            </a:r>
          </a:p>
        </p:txBody>
      </p:sp>
      <p:sp>
        <p:nvSpPr>
          <p:cNvPr id="33" name="TextBox 32">
            <a:extLst>
              <a:ext uri="{FF2B5EF4-FFF2-40B4-BE49-F238E27FC236}">
                <a16:creationId xmlns:a16="http://schemas.microsoft.com/office/drawing/2014/main" id="{F1C75792-FA81-245E-7E5A-CCDE125357D5}"/>
              </a:ext>
            </a:extLst>
          </p:cNvPr>
          <p:cNvSpPr txBox="1"/>
          <p:nvPr/>
        </p:nvSpPr>
        <p:spPr>
          <a:xfrm>
            <a:off x="10502004" y="274976"/>
            <a:ext cx="1689996" cy="230832"/>
          </a:xfrm>
          <a:prstGeom prst="rect">
            <a:avLst/>
          </a:prstGeom>
          <a:noFill/>
          <a:ln w="6350">
            <a:solidFill>
              <a:schemeClr val="accent1"/>
            </a:solidFill>
          </a:ln>
        </p:spPr>
        <p:txBody>
          <a:bodyPr wrap="square" rtlCol="0">
            <a:spAutoFit/>
          </a:bodyPr>
          <a:lstStyle/>
          <a:p>
            <a:r>
              <a:rPr lang="en-US" sz="900" dirty="0"/>
              <a:t>NEW</a:t>
            </a:r>
          </a:p>
        </p:txBody>
      </p:sp>
      <p:sp>
        <p:nvSpPr>
          <p:cNvPr id="35" name="Rectangle 34">
            <a:extLst>
              <a:ext uri="{FF2B5EF4-FFF2-40B4-BE49-F238E27FC236}">
                <a16:creationId xmlns:a16="http://schemas.microsoft.com/office/drawing/2014/main" id="{BED588B1-2EDB-7BCE-40DE-8B3BE5ED3F98}"/>
              </a:ext>
            </a:extLst>
          </p:cNvPr>
          <p:cNvSpPr/>
          <p:nvPr/>
        </p:nvSpPr>
        <p:spPr>
          <a:xfrm>
            <a:off x="1801046" y="6328894"/>
            <a:ext cx="1525106" cy="266700"/>
          </a:xfrm>
          <a:prstGeom prst="rect">
            <a:avLst/>
          </a:prstGeom>
          <a:solidFill>
            <a:schemeClr val="accent2"/>
          </a:solid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b="1" dirty="0"/>
              <a:t>EA REVIEW VERSION</a:t>
            </a:r>
          </a:p>
        </p:txBody>
      </p:sp>
      <p:sp>
        <p:nvSpPr>
          <p:cNvPr id="36" name="TextBox 35">
            <a:extLst>
              <a:ext uri="{FF2B5EF4-FFF2-40B4-BE49-F238E27FC236}">
                <a16:creationId xmlns:a16="http://schemas.microsoft.com/office/drawing/2014/main" id="{3C0C9D72-30F2-9695-7797-8F1C05D961A4}"/>
              </a:ext>
            </a:extLst>
          </p:cNvPr>
          <p:cNvSpPr txBox="1"/>
          <p:nvPr/>
        </p:nvSpPr>
        <p:spPr>
          <a:xfrm>
            <a:off x="1801046" y="6601945"/>
            <a:ext cx="1525106" cy="230832"/>
          </a:xfrm>
          <a:prstGeom prst="rect">
            <a:avLst/>
          </a:prstGeom>
          <a:noFill/>
          <a:ln w="6350">
            <a:solidFill>
              <a:schemeClr val="accent2"/>
            </a:solidFill>
          </a:ln>
        </p:spPr>
        <p:txBody>
          <a:bodyPr wrap="square" rtlCol="0">
            <a:spAutoFit/>
          </a:bodyPr>
          <a:lstStyle/>
          <a:p>
            <a:r>
              <a:rPr lang="en-US" sz="900" dirty="0"/>
              <a:t>&lt;1.0/1.1/</a:t>
            </a:r>
            <a:r>
              <a:rPr lang="en-US" sz="900" dirty="0" err="1"/>
              <a:t>etc</a:t>
            </a:r>
            <a:r>
              <a:rPr lang="en-US" sz="900" dirty="0"/>
              <a:t>&gt;</a:t>
            </a:r>
          </a:p>
        </p:txBody>
      </p:sp>
      <p:grpSp>
        <p:nvGrpSpPr>
          <p:cNvPr id="37" name="Group 36">
            <a:extLst>
              <a:ext uri="{FF2B5EF4-FFF2-40B4-BE49-F238E27FC236}">
                <a16:creationId xmlns:a16="http://schemas.microsoft.com/office/drawing/2014/main" id="{DDD33B57-1528-921A-05C2-B2D471E447DC}"/>
              </a:ext>
            </a:extLst>
          </p:cNvPr>
          <p:cNvGrpSpPr/>
          <p:nvPr/>
        </p:nvGrpSpPr>
        <p:grpSpPr>
          <a:xfrm>
            <a:off x="3375704" y="6328894"/>
            <a:ext cx="1837503" cy="503883"/>
            <a:chOff x="3693362" y="8992892"/>
            <a:chExt cx="1837503" cy="503883"/>
          </a:xfrm>
        </p:grpSpPr>
        <p:sp>
          <p:nvSpPr>
            <p:cNvPr id="50" name="Rectangle 49">
              <a:extLst>
                <a:ext uri="{FF2B5EF4-FFF2-40B4-BE49-F238E27FC236}">
                  <a16:creationId xmlns:a16="http://schemas.microsoft.com/office/drawing/2014/main" id="{BB39DB54-417A-8BEB-C03C-AECE3BF24E5D}"/>
                </a:ext>
              </a:extLst>
            </p:cNvPr>
            <p:cNvSpPr/>
            <p:nvPr/>
          </p:nvSpPr>
          <p:spPr>
            <a:xfrm>
              <a:off x="3693362" y="8992892"/>
              <a:ext cx="1837503" cy="266700"/>
            </a:xfrm>
            <a:prstGeom prst="rect">
              <a:avLst/>
            </a:prstGeom>
            <a:solidFill>
              <a:schemeClr val="accent2"/>
            </a:solid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b="1" dirty="0"/>
                <a:t>DATE OF REVIEW</a:t>
              </a:r>
            </a:p>
          </p:txBody>
        </p:sp>
        <p:sp>
          <p:nvSpPr>
            <p:cNvPr id="51" name="TextBox 50">
              <a:extLst>
                <a:ext uri="{FF2B5EF4-FFF2-40B4-BE49-F238E27FC236}">
                  <a16:creationId xmlns:a16="http://schemas.microsoft.com/office/drawing/2014/main" id="{7AB97267-F283-D37A-8A4F-F2356A7BE638}"/>
                </a:ext>
              </a:extLst>
            </p:cNvPr>
            <p:cNvSpPr txBox="1"/>
            <p:nvPr/>
          </p:nvSpPr>
          <p:spPr>
            <a:xfrm>
              <a:off x="3693362" y="9265943"/>
              <a:ext cx="1837503" cy="230832"/>
            </a:xfrm>
            <a:prstGeom prst="rect">
              <a:avLst/>
            </a:prstGeom>
            <a:noFill/>
            <a:ln w="6350">
              <a:solidFill>
                <a:schemeClr val="accent2"/>
              </a:solidFill>
            </a:ln>
          </p:spPr>
          <p:txBody>
            <a:bodyPr wrap="square" rtlCol="0">
              <a:spAutoFit/>
            </a:bodyPr>
            <a:lstStyle/>
            <a:p>
              <a:r>
                <a:rPr lang="en-US" sz="900" dirty="0"/>
                <a:t>(DD-MM-YYYY)</a:t>
              </a:r>
            </a:p>
          </p:txBody>
        </p:sp>
      </p:grpSp>
      <p:grpSp>
        <p:nvGrpSpPr>
          <p:cNvPr id="38" name="Group 37">
            <a:extLst>
              <a:ext uri="{FF2B5EF4-FFF2-40B4-BE49-F238E27FC236}">
                <a16:creationId xmlns:a16="http://schemas.microsoft.com/office/drawing/2014/main" id="{B1CA8757-F1E9-5CFC-18F1-3DC113C28A92}"/>
              </a:ext>
            </a:extLst>
          </p:cNvPr>
          <p:cNvGrpSpPr/>
          <p:nvPr/>
        </p:nvGrpSpPr>
        <p:grpSpPr>
          <a:xfrm>
            <a:off x="5262759" y="6328894"/>
            <a:ext cx="1837503" cy="503883"/>
            <a:chOff x="5575858" y="8992892"/>
            <a:chExt cx="1837503" cy="503883"/>
          </a:xfrm>
        </p:grpSpPr>
        <p:sp>
          <p:nvSpPr>
            <p:cNvPr id="48" name="Rectangle 47">
              <a:extLst>
                <a:ext uri="{FF2B5EF4-FFF2-40B4-BE49-F238E27FC236}">
                  <a16:creationId xmlns:a16="http://schemas.microsoft.com/office/drawing/2014/main" id="{8DD64E0B-F3E6-406A-C3AE-9A90C58DA57A}"/>
                </a:ext>
              </a:extLst>
            </p:cNvPr>
            <p:cNvSpPr/>
            <p:nvPr/>
          </p:nvSpPr>
          <p:spPr>
            <a:xfrm>
              <a:off x="5575858" y="8992892"/>
              <a:ext cx="1837503" cy="266700"/>
            </a:xfrm>
            <a:prstGeom prst="rect">
              <a:avLst/>
            </a:prstGeom>
            <a:solidFill>
              <a:schemeClr val="accent2"/>
            </a:solid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b="1" dirty="0"/>
                <a:t>REVIEWER</a:t>
              </a:r>
            </a:p>
          </p:txBody>
        </p:sp>
        <p:sp>
          <p:nvSpPr>
            <p:cNvPr id="49" name="TextBox 48">
              <a:extLst>
                <a:ext uri="{FF2B5EF4-FFF2-40B4-BE49-F238E27FC236}">
                  <a16:creationId xmlns:a16="http://schemas.microsoft.com/office/drawing/2014/main" id="{D2D0C495-8D51-C438-2006-DFBB2232111F}"/>
                </a:ext>
              </a:extLst>
            </p:cNvPr>
            <p:cNvSpPr txBox="1"/>
            <p:nvPr/>
          </p:nvSpPr>
          <p:spPr>
            <a:xfrm>
              <a:off x="5575858" y="9265943"/>
              <a:ext cx="1837503" cy="230832"/>
            </a:xfrm>
            <a:prstGeom prst="rect">
              <a:avLst/>
            </a:prstGeom>
            <a:noFill/>
            <a:ln w="6350">
              <a:solidFill>
                <a:schemeClr val="accent2"/>
              </a:solidFill>
            </a:ln>
          </p:spPr>
          <p:txBody>
            <a:bodyPr wrap="square" rtlCol="0">
              <a:spAutoFit/>
            </a:bodyPr>
            <a:lstStyle/>
            <a:p>
              <a:r>
                <a:rPr lang="en-US" sz="900" dirty="0"/>
                <a:t>RAKESH K PANDEY</a:t>
              </a:r>
            </a:p>
          </p:txBody>
        </p:sp>
      </p:grpSp>
      <p:grpSp>
        <p:nvGrpSpPr>
          <p:cNvPr id="39" name="Group 38">
            <a:extLst>
              <a:ext uri="{FF2B5EF4-FFF2-40B4-BE49-F238E27FC236}">
                <a16:creationId xmlns:a16="http://schemas.microsoft.com/office/drawing/2014/main" id="{B0E669E5-E4F2-7C5C-1A96-8CA8E9D5996E}"/>
              </a:ext>
            </a:extLst>
          </p:cNvPr>
          <p:cNvGrpSpPr/>
          <p:nvPr/>
        </p:nvGrpSpPr>
        <p:grpSpPr>
          <a:xfrm>
            <a:off x="8697901" y="6328894"/>
            <a:ext cx="3072131" cy="534661"/>
            <a:chOff x="9340849" y="8992892"/>
            <a:chExt cx="3072131" cy="534661"/>
          </a:xfrm>
        </p:grpSpPr>
        <p:sp>
          <p:nvSpPr>
            <p:cNvPr id="46" name="Rectangle 45">
              <a:extLst>
                <a:ext uri="{FF2B5EF4-FFF2-40B4-BE49-F238E27FC236}">
                  <a16:creationId xmlns:a16="http://schemas.microsoft.com/office/drawing/2014/main" id="{F38C003D-4975-D1B0-E6CB-9C8A20EB6EE7}"/>
                </a:ext>
              </a:extLst>
            </p:cNvPr>
            <p:cNvSpPr/>
            <p:nvPr/>
          </p:nvSpPr>
          <p:spPr>
            <a:xfrm>
              <a:off x="9340850" y="8992892"/>
              <a:ext cx="3072130" cy="266700"/>
            </a:xfrm>
            <a:prstGeom prst="rect">
              <a:avLst/>
            </a:prstGeom>
            <a:solidFill>
              <a:schemeClr val="accent2"/>
            </a:solid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b="1" dirty="0"/>
                <a:t>APPROVAL STATUS &amp; REMARKS</a:t>
              </a:r>
            </a:p>
          </p:txBody>
        </p:sp>
        <p:sp>
          <p:nvSpPr>
            <p:cNvPr id="47" name="TextBox 46">
              <a:extLst>
                <a:ext uri="{FF2B5EF4-FFF2-40B4-BE49-F238E27FC236}">
                  <a16:creationId xmlns:a16="http://schemas.microsoft.com/office/drawing/2014/main" id="{0F34E1F4-46D9-22BA-3F29-D383DD3B8573}"/>
                </a:ext>
              </a:extLst>
            </p:cNvPr>
            <p:cNvSpPr txBox="1"/>
            <p:nvPr/>
          </p:nvSpPr>
          <p:spPr>
            <a:xfrm>
              <a:off x="9340849" y="9265943"/>
              <a:ext cx="3072129" cy="261610"/>
            </a:xfrm>
            <a:prstGeom prst="rect">
              <a:avLst/>
            </a:prstGeom>
            <a:noFill/>
            <a:ln w="6350">
              <a:solidFill>
                <a:schemeClr val="accent2"/>
              </a:solidFill>
            </a:ln>
          </p:spPr>
          <p:txBody>
            <a:bodyPr wrap="square" rtlCol="0">
              <a:noAutofit/>
            </a:bodyPr>
            <a:lstStyle/>
            <a:p>
              <a:r>
                <a:rPr lang="en-US" sz="800" dirty="0"/>
                <a:t>(APPROVED/REJECTED/PENDING FOR INFO.)</a:t>
              </a:r>
            </a:p>
          </p:txBody>
        </p:sp>
      </p:grpSp>
      <p:grpSp>
        <p:nvGrpSpPr>
          <p:cNvPr id="40" name="Group 39">
            <a:extLst>
              <a:ext uri="{FF2B5EF4-FFF2-40B4-BE49-F238E27FC236}">
                <a16:creationId xmlns:a16="http://schemas.microsoft.com/office/drawing/2014/main" id="{555A241B-5B1B-88E6-6A32-F4763A0CF174}"/>
              </a:ext>
            </a:extLst>
          </p:cNvPr>
          <p:cNvGrpSpPr/>
          <p:nvPr/>
        </p:nvGrpSpPr>
        <p:grpSpPr>
          <a:xfrm>
            <a:off x="7149814" y="6328894"/>
            <a:ext cx="1525107" cy="534661"/>
            <a:chOff x="7458354" y="8992892"/>
            <a:chExt cx="1837503" cy="503883"/>
          </a:xfrm>
        </p:grpSpPr>
        <p:sp>
          <p:nvSpPr>
            <p:cNvPr id="44" name="Rectangle 43">
              <a:extLst>
                <a:ext uri="{FF2B5EF4-FFF2-40B4-BE49-F238E27FC236}">
                  <a16:creationId xmlns:a16="http://schemas.microsoft.com/office/drawing/2014/main" id="{41CC5804-DA02-6BD4-9A19-0FA7C8B2593C}"/>
                </a:ext>
              </a:extLst>
            </p:cNvPr>
            <p:cNvSpPr/>
            <p:nvPr/>
          </p:nvSpPr>
          <p:spPr>
            <a:xfrm>
              <a:off x="7458354" y="8992892"/>
              <a:ext cx="1837503" cy="266700"/>
            </a:xfrm>
            <a:prstGeom prst="rect">
              <a:avLst/>
            </a:prstGeom>
            <a:solidFill>
              <a:schemeClr val="accent2"/>
            </a:solid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b="1" dirty="0"/>
                <a:t>EXCEPTION APPROVAL?</a:t>
              </a:r>
            </a:p>
          </p:txBody>
        </p:sp>
        <p:sp>
          <p:nvSpPr>
            <p:cNvPr id="45" name="TextBox 44">
              <a:extLst>
                <a:ext uri="{FF2B5EF4-FFF2-40B4-BE49-F238E27FC236}">
                  <a16:creationId xmlns:a16="http://schemas.microsoft.com/office/drawing/2014/main" id="{11A2C60C-10AA-E549-B98B-E37C2F762CDD}"/>
                </a:ext>
              </a:extLst>
            </p:cNvPr>
            <p:cNvSpPr txBox="1"/>
            <p:nvPr/>
          </p:nvSpPr>
          <p:spPr>
            <a:xfrm>
              <a:off x="7458354" y="9265943"/>
              <a:ext cx="1837503" cy="230832"/>
            </a:xfrm>
            <a:prstGeom prst="rect">
              <a:avLst/>
            </a:prstGeom>
            <a:noFill/>
            <a:ln w="6350">
              <a:solidFill>
                <a:schemeClr val="accent2"/>
              </a:solidFill>
            </a:ln>
          </p:spPr>
          <p:txBody>
            <a:bodyPr wrap="square" rtlCol="0">
              <a:spAutoFit/>
            </a:bodyPr>
            <a:lstStyle/>
            <a:p>
              <a:r>
                <a:rPr lang="en-US" sz="900" dirty="0"/>
                <a:t>(YES/NO)</a:t>
              </a:r>
            </a:p>
          </p:txBody>
        </p:sp>
      </p:grpSp>
      <p:grpSp>
        <p:nvGrpSpPr>
          <p:cNvPr id="41" name="Group 40">
            <a:extLst>
              <a:ext uri="{FF2B5EF4-FFF2-40B4-BE49-F238E27FC236}">
                <a16:creationId xmlns:a16="http://schemas.microsoft.com/office/drawing/2014/main" id="{F92960C0-C74F-217D-F31C-0E3116CC4AF5}"/>
              </a:ext>
            </a:extLst>
          </p:cNvPr>
          <p:cNvGrpSpPr/>
          <p:nvPr/>
        </p:nvGrpSpPr>
        <p:grpSpPr>
          <a:xfrm>
            <a:off x="1640" y="6328894"/>
            <a:ext cx="1749851" cy="503883"/>
            <a:chOff x="305620" y="8992892"/>
            <a:chExt cx="1437456" cy="503883"/>
          </a:xfrm>
        </p:grpSpPr>
        <p:sp>
          <p:nvSpPr>
            <p:cNvPr id="42" name="Rectangle 41">
              <a:extLst>
                <a:ext uri="{FF2B5EF4-FFF2-40B4-BE49-F238E27FC236}">
                  <a16:creationId xmlns:a16="http://schemas.microsoft.com/office/drawing/2014/main" id="{3FEE3044-0101-C556-BF11-65707654BBD7}"/>
                </a:ext>
              </a:extLst>
            </p:cNvPr>
            <p:cNvSpPr/>
            <p:nvPr/>
          </p:nvSpPr>
          <p:spPr>
            <a:xfrm>
              <a:off x="305620" y="8992892"/>
              <a:ext cx="1437456" cy="266700"/>
            </a:xfrm>
            <a:prstGeom prst="rect">
              <a:avLst/>
            </a:prstGeom>
            <a:solidFill>
              <a:schemeClr val="accent2"/>
            </a:solidFill>
            <a:ln w="63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b="1" dirty="0"/>
                <a:t>REVIEW REF NO.</a:t>
              </a:r>
            </a:p>
          </p:txBody>
        </p:sp>
        <p:sp>
          <p:nvSpPr>
            <p:cNvPr id="43" name="TextBox 42">
              <a:extLst>
                <a:ext uri="{FF2B5EF4-FFF2-40B4-BE49-F238E27FC236}">
                  <a16:creationId xmlns:a16="http://schemas.microsoft.com/office/drawing/2014/main" id="{F5CD574B-25D8-4822-09F2-4E02888141F4}"/>
                </a:ext>
              </a:extLst>
            </p:cNvPr>
            <p:cNvSpPr txBox="1"/>
            <p:nvPr/>
          </p:nvSpPr>
          <p:spPr>
            <a:xfrm>
              <a:off x="305620" y="9265943"/>
              <a:ext cx="1437456" cy="230832"/>
            </a:xfrm>
            <a:prstGeom prst="rect">
              <a:avLst/>
            </a:prstGeom>
            <a:noFill/>
            <a:ln w="6350">
              <a:solidFill>
                <a:schemeClr val="accent2"/>
              </a:solidFill>
            </a:ln>
          </p:spPr>
          <p:txBody>
            <a:bodyPr wrap="square" rtlCol="0">
              <a:spAutoFit/>
            </a:bodyPr>
            <a:lstStyle/>
            <a:p>
              <a:r>
                <a:rPr lang="en-US" sz="900" dirty="0"/>
                <a:t>&lt;EA1234&gt;</a:t>
              </a:r>
            </a:p>
          </p:txBody>
        </p:sp>
      </p:grpSp>
    </p:spTree>
    <p:extLst>
      <p:ext uri="{BB962C8B-B14F-4D97-AF65-F5344CB8AC3E}">
        <p14:creationId xmlns:p14="http://schemas.microsoft.com/office/powerpoint/2010/main" val="30794429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1D4C3-4C36-4C3A-F917-3AEC6D55F06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3ED9FC1E-F198-20CF-78FC-FB3D829E11F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189DAA71-A2D4-0995-7AF5-6DA3B46173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26D96FA-19FA-D6AC-B7E7-A32FF185ED52}"/>
              </a:ext>
            </a:extLst>
          </p:cNvPr>
          <p:cNvSpPr>
            <a:spLocks noGrp="1"/>
          </p:cNvSpPr>
          <p:nvPr>
            <p:ph type="dt" sz="half" idx="10"/>
          </p:nvPr>
        </p:nvSpPr>
        <p:spPr/>
        <p:txBody>
          <a:bodyPr/>
          <a:lstStyle/>
          <a:p>
            <a:fld id="{A1893D97-B0AA-7C48-A34D-E6C07E6616B0}" type="datetime1">
              <a:rPr lang="en-IN" smtClean="0"/>
              <a:t>30/03/26</a:t>
            </a:fld>
            <a:endParaRPr lang="en-US"/>
          </a:p>
        </p:txBody>
      </p:sp>
      <p:sp>
        <p:nvSpPr>
          <p:cNvPr id="6" name="Footer Placeholder 5">
            <a:extLst>
              <a:ext uri="{FF2B5EF4-FFF2-40B4-BE49-F238E27FC236}">
                <a16:creationId xmlns:a16="http://schemas.microsoft.com/office/drawing/2014/main" id="{2C652FF7-C8D7-DADE-06DB-D2853F8628A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8BAAB2-6D98-84E9-6040-D3A5AD5A1C74}"/>
              </a:ext>
            </a:extLst>
          </p:cNvPr>
          <p:cNvSpPr>
            <a:spLocks noGrp="1"/>
          </p:cNvSpPr>
          <p:nvPr>
            <p:ph type="sldNum" sz="quarter" idx="12"/>
          </p:nvPr>
        </p:nvSpPr>
        <p:spPr/>
        <p:txBody>
          <a:bodyPr/>
          <a:lstStyle/>
          <a:p>
            <a:fld id="{682A9D49-871F-5640-BCE3-20634A9797B6}" type="slidenum">
              <a:rPr lang="en-US" smtClean="0"/>
              <a:t>‹#›</a:t>
            </a:fld>
            <a:endParaRPr lang="en-US"/>
          </a:p>
        </p:txBody>
      </p:sp>
    </p:spTree>
    <p:extLst>
      <p:ext uri="{BB962C8B-B14F-4D97-AF65-F5344CB8AC3E}">
        <p14:creationId xmlns:p14="http://schemas.microsoft.com/office/powerpoint/2010/main" val="14129697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15C76-FC73-4CB5-8E44-80FAD4ADB40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ED0BE60-1E66-7473-C26B-A2D30743864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7AC195E-459E-8420-176B-578EE3D0CC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35F14E4-5286-31C6-D814-15105CC4975C}"/>
              </a:ext>
            </a:extLst>
          </p:cNvPr>
          <p:cNvSpPr>
            <a:spLocks noGrp="1"/>
          </p:cNvSpPr>
          <p:nvPr>
            <p:ph type="dt" sz="half" idx="10"/>
          </p:nvPr>
        </p:nvSpPr>
        <p:spPr/>
        <p:txBody>
          <a:bodyPr/>
          <a:lstStyle/>
          <a:p>
            <a:fld id="{09ED5003-3F61-9A49-BB9C-E3D4C8FF5487}" type="datetime1">
              <a:rPr lang="en-IN" smtClean="0"/>
              <a:t>30/03/26</a:t>
            </a:fld>
            <a:endParaRPr lang="en-US"/>
          </a:p>
        </p:txBody>
      </p:sp>
      <p:sp>
        <p:nvSpPr>
          <p:cNvPr id="6" name="Footer Placeholder 5">
            <a:extLst>
              <a:ext uri="{FF2B5EF4-FFF2-40B4-BE49-F238E27FC236}">
                <a16:creationId xmlns:a16="http://schemas.microsoft.com/office/drawing/2014/main" id="{78880782-FD55-1328-9954-513DB366B7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FE07021-C49F-2D3B-59CA-15F3E6EB9F84}"/>
              </a:ext>
            </a:extLst>
          </p:cNvPr>
          <p:cNvSpPr>
            <a:spLocks noGrp="1"/>
          </p:cNvSpPr>
          <p:nvPr>
            <p:ph type="sldNum" sz="quarter" idx="12"/>
          </p:nvPr>
        </p:nvSpPr>
        <p:spPr/>
        <p:txBody>
          <a:bodyPr/>
          <a:lstStyle/>
          <a:p>
            <a:fld id="{682A9D49-871F-5640-BCE3-20634A9797B6}" type="slidenum">
              <a:rPr lang="en-US" smtClean="0"/>
              <a:t>‹#›</a:t>
            </a:fld>
            <a:endParaRPr lang="en-US"/>
          </a:p>
        </p:txBody>
      </p:sp>
    </p:spTree>
    <p:extLst>
      <p:ext uri="{BB962C8B-B14F-4D97-AF65-F5344CB8AC3E}">
        <p14:creationId xmlns:p14="http://schemas.microsoft.com/office/powerpoint/2010/main" val="11212569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CC8ED-348C-7360-4270-E2DD76C2AB9F}"/>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8EFD75C6-D5D9-9E5D-A91F-7F4BB6E05071}"/>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0EB18D6-75FC-B747-8DEF-EFD483B44FB7}"/>
              </a:ext>
            </a:extLst>
          </p:cNvPr>
          <p:cNvSpPr>
            <a:spLocks noGrp="1"/>
          </p:cNvSpPr>
          <p:nvPr>
            <p:ph type="dt" sz="half" idx="10"/>
          </p:nvPr>
        </p:nvSpPr>
        <p:spPr/>
        <p:txBody>
          <a:bodyPr/>
          <a:lstStyle/>
          <a:p>
            <a:fld id="{91F43DA2-8849-0842-8F45-4854C3FDD50B}" type="datetime1">
              <a:rPr lang="en-IN" smtClean="0"/>
              <a:t>30/03/26</a:t>
            </a:fld>
            <a:endParaRPr lang="en-US"/>
          </a:p>
        </p:txBody>
      </p:sp>
      <p:sp>
        <p:nvSpPr>
          <p:cNvPr id="5" name="Footer Placeholder 4">
            <a:extLst>
              <a:ext uri="{FF2B5EF4-FFF2-40B4-BE49-F238E27FC236}">
                <a16:creationId xmlns:a16="http://schemas.microsoft.com/office/drawing/2014/main" id="{14847814-3FA9-E2A5-915B-EF9AB304A6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1C5889-5D0E-0263-40ED-CDD3203D906E}"/>
              </a:ext>
            </a:extLst>
          </p:cNvPr>
          <p:cNvSpPr>
            <a:spLocks noGrp="1"/>
          </p:cNvSpPr>
          <p:nvPr>
            <p:ph type="sldNum" sz="quarter" idx="12"/>
          </p:nvPr>
        </p:nvSpPr>
        <p:spPr/>
        <p:txBody>
          <a:bodyPr/>
          <a:lstStyle/>
          <a:p>
            <a:fld id="{682A9D49-871F-5640-BCE3-20634A9797B6}" type="slidenum">
              <a:rPr lang="en-US" smtClean="0"/>
              <a:t>‹#›</a:t>
            </a:fld>
            <a:endParaRPr lang="en-US"/>
          </a:p>
        </p:txBody>
      </p:sp>
    </p:spTree>
    <p:extLst>
      <p:ext uri="{BB962C8B-B14F-4D97-AF65-F5344CB8AC3E}">
        <p14:creationId xmlns:p14="http://schemas.microsoft.com/office/powerpoint/2010/main" val="20026715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05AE73-AEAF-8B38-A878-E5918A0FAA49}"/>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1C649627-27E6-2F29-A2FD-3E6E347D28C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FE2D926-21F6-F821-0744-E9B72DD5E43B}"/>
              </a:ext>
            </a:extLst>
          </p:cNvPr>
          <p:cNvSpPr>
            <a:spLocks noGrp="1"/>
          </p:cNvSpPr>
          <p:nvPr>
            <p:ph type="dt" sz="half" idx="10"/>
          </p:nvPr>
        </p:nvSpPr>
        <p:spPr/>
        <p:txBody>
          <a:bodyPr/>
          <a:lstStyle/>
          <a:p>
            <a:fld id="{94B34AF2-BD85-384B-A7EE-C2F91D838C9C}" type="datetime1">
              <a:rPr lang="en-IN" smtClean="0"/>
              <a:t>30/03/26</a:t>
            </a:fld>
            <a:endParaRPr lang="en-US"/>
          </a:p>
        </p:txBody>
      </p:sp>
      <p:sp>
        <p:nvSpPr>
          <p:cNvPr id="5" name="Footer Placeholder 4">
            <a:extLst>
              <a:ext uri="{FF2B5EF4-FFF2-40B4-BE49-F238E27FC236}">
                <a16:creationId xmlns:a16="http://schemas.microsoft.com/office/drawing/2014/main" id="{954071BD-A299-5234-51FF-C8467DF4A1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307124-911C-C1E2-17D7-0FFCAC994208}"/>
              </a:ext>
            </a:extLst>
          </p:cNvPr>
          <p:cNvSpPr>
            <a:spLocks noGrp="1"/>
          </p:cNvSpPr>
          <p:nvPr>
            <p:ph type="sldNum" sz="quarter" idx="12"/>
          </p:nvPr>
        </p:nvSpPr>
        <p:spPr/>
        <p:txBody>
          <a:bodyPr/>
          <a:lstStyle/>
          <a:p>
            <a:fld id="{682A9D49-871F-5640-BCE3-20634A9797B6}" type="slidenum">
              <a:rPr lang="en-US" smtClean="0"/>
              <a:t>‹#›</a:t>
            </a:fld>
            <a:endParaRPr lang="en-US"/>
          </a:p>
        </p:txBody>
      </p:sp>
    </p:spTree>
    <p:extLst>
      <p:ext uri="{BB962C8B-B14F-4D97-AF65-F5344CB8AC3E}">
        <p14:creationId xmlns:p14="http://schemas.microsoft.com/office/powerpoint/2010/main" val="15300226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5F647F7-AE67-65CA-44F1-5954BA9453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3ED1A470-C654-A144-31FD-D33B68E0BF2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68998E6-244F-A5C0-EE3F-8753874922F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6CA2371-7299-C44E-8E4B-C8B1DDF8D25B}" type="datetime1">
              <a:rPr lang="en-IN" smtClean="0"/>
              <a:t>30/03/26</a:t>
            </a:fld>
            <a:endParaRPr lang="en-US"/>
          </a:p>
        </p:txBody>
      </p:sp>
      <p:sp>
        <p:nvSpPr>
          <p:cNvPr id="5" name="Footer Placeholder 4">
            <a:extLst>
              <a:ext uri="{FF2B5EF4-FFF2-40B4-BE49-F238E27FC236}">
                <a16:creationId xmlns:a16="http://schemas.microsoft.com/office/drawing/2014/main" id="{EBB4798C-4FFF-8E53-060A-DBC2FF31BF1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716F729-0071-36F9-1911-7BE7C958C9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82A9D49-871F-5640-BCE3-20634A9797B6}" type="slidenum">
              <a:rPr lang="en-US" smtClean="0"/>
              <a:t>‹#›</a:t>
            </a:fld>
            <a:endParaRPr lang="en-US"/>
          </a:p>
        </p:txBody>
      </p:sp>
    </p:spTree>
    <p:extLst>
      <p:ext uri="{BB962C8B-B14F-4D97-AF65-F5344CB8AC3E}">
        <p14:creationId xmlns:p14="http://schemas.microsoft.com/office/powerpoint/2010/main" val="22900311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5" Type="http://schemas.microsoft.com/office/2007/relationships/hdphoto" Target="../media/hdphoto2.wdp"/><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98FCA-0373-11B4-DD6B-DB867915BBBB}"/>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10E0DD88-D2D7-9625-5AA8-3B869D632CE6}"/>
              </a:ext>
            </a:extLst>
          </p:cNvPr>
          <p:cNvSpPr>
            <a:spLocks noGrp="1"/>
          </p:cNvSpPr>
          <p:nvPr>
            <p:ph type="subTitle" idx="1"/>
          </p:nvPr>
        </p:nvSpPr>
        <p:spPr/>
        <p:txBody>
          <a:bodyPr/>
          <a:lstStyle/>
          <a:p>
            <a:r>
              <a:rPr lang="en-US" dirty="0"/>
              <a:t>EPMP</a:t>
            </a:r>
          </a:p>
        </p:txBody>
      </p:sp>
      <p:sp>
        <p:nvSpPr>
          <p:cNvPr id="4" name="Slide Number Placeholder 3">
            <a:extLst>
              <a:ext uri="{FF2B5EF4-FFF2-40B4-BE49-F238E27FC236}">
                <a16:creationId xmlns:a16="http://schemas.microsoft.com/office/drawing/2014/main" id="{5B7F69D0-A531-DDD2-7D56-0D1253D8BB7E}"/>
              </a:ext>
            </a:extLst>
          </p:cNvPr>
          <p:cNvSpPr>
            <a:spLocks noGrp="1"/>
          </p:cNvSpPr>
          <p:nvPr>
            <p:ph type="sldNum" sz="quarter" idx="12"/>
          </p:nvPr>
        </p:nvSpPr>
        <p:spPr/>
        <p:txBody>
          <a:bodyPr/>
          <a:lstStyle/>
          <a:p>
            <a:fld id="{682A9D49-871F-5640-BCE3-20634A9797B6}" type="slidenum">
              <a:rPr lang="en-US" smtClean="0"/>
              <a:t>1</a:t>
            </a:fld>
            <a:endParaRPr lang="en-US"/>
          </a:p>
        </p:txBody>
      </p:sp>
      <p:sp>
        <p:nvSpPr>
          <p:cNvPr id="5" name="Title 4">
            <a:extLst>
              <a:ext uri="{FF2B5EF4-FFF2-40B4-BE49-F238E27FC236}">
                <a16:creationId xmlns:a16="http://schemas.microsoft.com/office/drawing/2014/main" id="{604D4201-5EFD-3410-C245-0DD2673398F5}"/>
              </a:ext>
            </a:extLst>
          </p:cNvPr>
          <p:cNvSpPr>
            <a:spLocks noGrp="1"/>
          </p:cNvSpPr>
          <p:nvPr>
            <p:ph type="ctrTitle"/>
          </p:nvPr>
        </p:nvSpPr>
        <p:spPr>
          <a:prstGeom prst="rect">
            <a:avLst/>
          </a:prstGeom>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a:t>BUSINESS REQUIREMENTS</a:t>
            </a:r>
          </a:p>
        </p:txBody>
      </p:sp>
      <p:sp>
        <p:nvSpPr>
          <p:cNvPr id="2" name="TextBox 1">
            <a:extLst>
              <a:ext uri="{FF2B5EF4-FFF2-40B4-BE49-F238E27FC236}">
                <a16:creationId xmlns:a16="http://schemas.microsoft.com/office/drawing/2014/main" id="{E42414A7-3EE5-643A-FF7A-DD8374CD2E8E}"/>
              </a:ext>
            </a:extLst>
          </p:cNvPr>
          <p:cNvSpPr txBox="1"/>
          <p:nvPr/>
        </p:nvSpPr>
        <p:spPr>
          <a:xfrm>
            <a:off x="691376" y="345688"/>
            <a:ext cx="2821258" cy="369332"/>
          </a:xfrm>
          <a:prstGeom prst="rect">
            <a:avLst/>
          </a:prstGeom>
          <a:noFill/>
        </p:spPr>
        <p:txBody>
          <a:bodyPr wrap="square" rtlCol="0">
            <a:spAutoFit/>
          </a:bodyPr>
          <a:lstStyle/>
          <a:p>
            <a:r>
              <a:rPr lang="en-US" dirty="0"/>
              <a:t>Nabajyoti/ Sonal/Varun</a:t>
            </a:r>
          </a:p>
        </p:txBody>
      </p:sp>
    </p:spTree>
    <p:extLst>
      <p:ext uri="{BB962C8B-B14F-4D97-AF65-F5344CB8AC3E}">
        <p14:creationId xmlns:p14="http://schemas.microsoft.com/office/powerpoint/2010/main" val="16000968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E2A3A7-19E7-BB41-AF86-4F8D64D3FE90}"/>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A771A5CF-CD9A-B459-0E2B-0D7A68C0E253}"/>
              </a:ext>
            </a:extLst>
          </p:cNvPr>
          <p:cNvSpPr>
            <a:spLocks noGrp="1"/>
          </p:cNvSpPr>
          <p:nvPr>
            <p:ph type="subTitle" idx="1"/>
          </p:nvPr>
        </p:nvSpPr>
        <p:spPr/>
        <p:txBody>
          <a:bodyPr/>
          <a:lstStyle/>
          <a:p>
            <a:r>
              <a:rPr lang="en-US" dirty="0"/>
              <a:t>EPMP</a:t>
            </a:r>
          </a:p>
        </p:txBody>
      </p:sp>
      <p:sp>
        <p:nvSpPr>
          <p:cNvPr id="4" name="Slide Number Placeholder 3">
            <a:extLst>
              <a:ext uri="{FF2B5EF4-FFF2-40B4-BE49-F238E27FC236}">
                <a16:creationId xmlns:a16="http://schemas.microsoft.com/office/drawing/2014/main" id="{846A087C-FA1A-0050-8705-7FAC0F4668F0}"/>
              </a:ext>
            </a:extLst>
          </p:cNvPr>
          <p:cNvSpPr>
            <a:spLocks noGrp="1"/>
          </p:cNvSpPr>
          <p:nvPr>
            <p:ph type="sldNum" sz="quarter" idx="12"/>
          </p:nvPr>
        </p:nvSpPr>
        <p:spPr/>
        <p:txBody>
          <a:bodyPr/>
          <a:lstStyle/>
          <a:p>
            <a:fld id="{682A9D49-871F-5640-BCE3-20634A9797B6}" type="slidenum">
              <a:rPr lang="en-US" smtClean="0"/>
              <a:t>2</a:t>
            </a:fld>
            <a:endParaRPr lang="en-US"/>
          </a:p>
        </p:txBody>
      </p:sp>
      <p:sp>
        <p:nvSpPr>
          <p:cNvPr id="5" name="Title 4">
            <a:extLst>
              <a:ext uri="{FF2B5EF4-FFF2-40B4-BE49-F238E27FC236}">
                <a16:creationId xmlns:a16="http://schemas.microsoft.com/office/drawing/2014/main" id="{D5A0696A-3239-0654-A760-2CA387008994}"/>
              </a:ext>
            </a:extLst>
          </p:cNvPr>
          <p:cNvSpPr>
            <a:spLocks noGrp="1"/>
          </p:cNvSpPr>
          <p:nvPr>
            <p:ph type="ctrTitle"/>
          </p:nvPr>
        </p:nvSpPr>
        <p:spPr>
          <a:prstGeom prst="rect">
            <a:avLst/>
          </a:prstGeom>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a:t>BUSINESS VALUES</a:t>
            </a:r>
          </a:p>
        </p:txBody>
      </p:sp>
      <p:sp>
        <p:nvSpPr>
          <p:cNvPr id="2" name="TextBox 1">
            <a:extLst>
              <a:ext uri="{FF2B5EF4-FFF2-40B4-BE49-F238E27FC236}">
                <a16:creationId xmlns:a16="http://schemas.microsoft.com/office/drawing/2014/main" id="{25B5295B-7727-1E38-0575-3B05DCBA68E7}"/>
              </a:ext>
            </a:extLst>
          </p:cNvPr>
          <p:cNvSpPr txBox="1"/>
          <p:nvPr/>
        </p:nvSpPr>
        <p:spPr>
          <a:xfrm>
            <a:off x="691376" y="345688"/>
            <a:ext cx="2821258" cy="369332"/>
          </a:xfrm>
          <a:prstGeom prst="rect">
            <a:avLst/>
          </a:prstGeom>
          <a:noFill/>
        </p:spPr>
        <p:txBody>
          <a:bodyPr wrap="square" rtlCol="0">
            <a:spAutoFit/>
          </a:bodyPr>
          <a:lstStyle/>
          <a:p>
            <a:r>
              <a:rPr lang="en-US" dirty="0"/>
              <a:t>Nabajyoti/ Sonal/Varun</a:t>
            </a:r>
          </a:p>
        </p:txBody>
      </p:sp>
    </p:spTree>
    <p:extLst>
      <p:ext uri="{BB962C8B-B14F-4D97-AF65-F5344CB8AC3E}">
        <p14:creationId xmlns:p14="http://schemas.microsoft.com/office/powerpoint/2010/main" val="16389555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D331A-3450-31DF-93A0-000B1A293B10}"/>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18E0C6B0-B233-87C1-C0D8-F86D369D654E}"/>
              </a:ext>
            </a:extLst>
          </p:cNvPr>
          <p:cNvSpPr>
            <a:spLocks noGrp="1"/>
          </p:cNvSpPr>
          <p:nvPr>
            <p:ph type="subTitle" idx="1"/>
          </p:nvPr>
        </p:nvSpPr>
        <p:spPr/>
        <p:txBody>
          <a:bodyPr/>
          <a:lstStyle/>
          <a:p>
            <a:r>
              <a:rPr lang="en-US" dirty="0"/>
              <a:t>EPMP</a:t>
            </a:r>
          </a:p>
        </p:txBody>
      </p:sp>
      <p:sp>
        <p:nvSpPr>
          <p:cNvPr id="4" name="Slide Number Placeholder 3">
            <a:extLst>
              <a:ext uri="{FF2B5EF4-FFF2-40B4-BE49-F238E27FC236}">
                <a16:creationId xmlns:a16="http://schemas.microsoft.com/office/drawing/2014/main" id="{AC081209-95AA-4E37-C247-6A1EEF78D6F0}"/>
              </a:ext>
            </a:extLst>
          </p:cNvPr>
          <p:cNvSpPr>
            <a:spLocks noGrp="1"/>
          </p:cNvSpPr>
          <p:nvPr>
            <p:ph type="sldNum" sz="quarter" idx="12"/>
          </p:nvPr>
        </p:nvSpPr>
        <p:spPr/>
        <p:txBody>
          <a:bodyPr/>
          <a:lstStyle/>
          <a:p>
            <a:fld id="{682A9D49-871F-5640-BCE3-20634A9797B6}" type="slidenum">
              <a:rPr lang="en-US" smtClean="0"/>
              <a:t>3</a:t>
            </a:fld>
            <a:endParaRPr lang="en-US"/>
          </a:p>
        </p:txBody>
      </p:sp>
      <p:sp>
        <p:nvSpPr>
          <p:cNvPr id="5" name="Title 4">
            <a:extLst>
              <a:ext uri="{FF2B5EF4-FFF2-40B4-BE49-F238E27FC236}">
                <a16:creationId xmlns:a16="http://schemas.microsoft.com/office/drawing/2014/main" id="{AF87400E-4EEC-3327-55C5-53B97AF3D111}"/>
              </a:ext>
            </a:extLst>
          </p:cNvPr>
          <p:cNvSpPr>
            <a:spLocks noGrp="1"/>
          </p:cNvSpPr>
          <p:nvPr>
            <p:ph type="ctrTitle"/>
          </p:nvPr>
        </p:nvSpPr>
        <p:spPr>
          <a:prstGeom prst="rect">
            <a:avLst/>
          </a:prstGeom>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a:t>USER EXPERIENCE DESIGN</a:t>
            </a:r>
          </a:p>
        </p:txBody>
      </p:sp>
      <p:sp>
        <p:nvSpPr>
          <p:cNvPr id="2" name="TextBox 1">
            <a:extLst>
              <a:ext uri="{FF2B5EF4-FFF2-40B4-BE49-F238E27FC236}">
                <a16:creationId xmlns:a16="http://schemas.microsoft.com/office/drawing/2014/main" id="{0610D529-16AA-6BC9-5D2B-F81B6D1F39CC}"/>
              </a:ext>
            </a:extLst>
          </p:cNvPr>
          <p:cNvSpPr txBox="1"/>
          <p:nvPr/>
        </p:nvSpPr>
        <p:spPr>
          <a:xfrm>
            <a:off x="691376" y="345688"/>
            <a:ext cx="2821258" cy="369332"/>
          </a:xfrm>
          <a:prstGeom prst="rect">
            <a:avLst/>
          </a:prstGeom>
          <a:noFill/>
        </p:spPr>
        <p:txBody>
          <a:bodyPr wrap="square" rtlCol="0">
            <a:spAutoFit/>
          </a:bodyPr>
          <a:lstStyle/>
          <a:p>
            <a:r>
              <a:rPr lang="en-US" dirty="0"/>
              <a:t>Nabajyoti/ Sonal/Varun</a:t>
            </a:r>
          </a:p>
        </p:txBody>
      </p:sp>
    </p:spTree>
    <p:extLst>
      <p:ext uri="{BB962C8B-B14F-4D97-AF65-F5344CB8AC3E}">
        <p14:creationId xmlns:p14="http://schemas.microsoft.com/office/powerpoint/2010/main" val="6216059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A93B8-A31B-0A53-FD33-7DED1F466A1B}"/>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ADD50376-C3B6-10D6-642F-A8F9998736F2}"/>
              </a:ext>
            </a:extLst>
          </p:cNvPr>
          <p:cNvSpPr>
            <a:spLocks noGrp="1"/>
          </p:cNvSpPr>
          <p:nvPr>
            <p:ph type="subTitle" idx="1"/>
          </p:nvPr>
        </p:nvSpPr>
        <p:spPr/>
        <p:txBody>
          <a:bodyPr/>
          <a:lstStyle/>
          <a:p>
            <a:r>
              <a:rPr lang="en-US" dirty="0"/>
              <a:t>EPMP</a:t>
            </a:r>
          </a:p>
        </p:txBody>
      </p:sp>
      <p:sp>
        <p:nvSpPr>
          <p:cNvPr id="4" name="Slide Number Placeholder 3">
            <a:extLst>
              <a:ext uri="{FF2B5EF4-FFF2-40B4-BE49-F238E27FC236}">
                <a16:creationId xmlns:a16="http://schemas.microsoft.com/office/drawing/2014/main" id="{4BE12FFD-B811-71F5-AA36-D2406C01B769}"/>
              </a:ext>
            </a:extLst>
          </p:cNvPr>
          <p:cNvSpPr>
            <a:spLocks noGrp="1"/>
          </p:cNvSpPr>
          <p:nvPr>
            <p:ph type="sldNum" sz="quarter" idx="12"/>
          </p:nvPr>
        </p:nvSpPr>
        <p:spPr/>
        <p:txBody>
          <a:bodyPr/>
          <a:lstStyle/>
          <a:p>
            <a:fld id="{682A9D49-871F-5640-BCE3-20634A9797B6}" type="slidenum">
              <a:rPr lang="en-US" smtClean="0"/>
              <a:t>4</a:t>
            </a:fld>
            <a:endParaRPr lang="en-US"/>
          </a:p>
        </p:txBody>
      </p:sp>
      <p:sp>
        <p:nvSpPr>
          <p:cNvPr id="5" name="Title 4">
            <a:extLst>
              <a:ext uri="{FF2B5EF4-FFF2-40B4-BE49-F238E27FC236}">
                <a16:creationId xmlns:a16="http://schemas.microsoft.com/office/drawing/2014/main" id="{7254CEB6-E5E8-50CE-2FF2-329FBE543A15}"/>
              </a:ext>
            </a:extLst>
          </p:cNvPr>
          <p:cNvSpPr>
            <a:spLocks noGrp="1"/>
          </p:cNvSpPr>
          <p:nvPr>
            <p:ph type="ctrTitle"/>
          </p:nvPr>
        </p:nvSpPr>
        <p:spPr>
          <a:prstGeom prst="rect">
            <a:avLst/>
          </a:prstGeom>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a:t>BUSINESS PROCESS DIAGRAM</a:t>
            </a:r>
          </a:p>
        </p:txBody>
      </p:sp>
      <p:sp>
        <p:nvSpPr>
          <p:cNvPr id="2" name="TextBox 1">
            <a:extLst>
              <a:ext uri="{FF2B5EF4-FFF2-40B4-BE49-F238E27FC236}">
                <a16:creationId xmlns:a16="http://schemas.microsoft.com/office/drawing/2014/main" id="{B206C63A-E80D-3932-843C-66ED976DB2A5}"/>
              </a:ext>
            </a:extLst>
          </p:cNvPr>
          <p:cNvSpPr txBox="1"/>
          <p:nvPr/>
        </p:nvSpPr>
        <p:spPr>
          <a:xfrm>
            <a:off x="691376" y="345688"/>
            <a:ext cx="2821258" cy="369332"/>
          </a:xfrm>
          <a:prstGeom prst="rect">
            <a:avLst/>
          </a:prstGeom>
          <a:noFill/>
        </p:spPr>
        <p:txBody>
          <a:bodyPr wrap="square" rtlCol="0">
            <a:spAutoFit/>
          </a:bodyPr>
          <a:lstStyle/>
          <a:p>
            <a:r>
              <a:rPr lang="en-US" dirty="0"/>
              <a:t>Nabajyoti/ Sonal/Varun</a:t>
            </a:r>
          </a:p>
        </p:txBody>
      </p:sp>
    </p:spTree>
    <p:extLst>
      <p:ext uri="{BB962C8B-B14F-4D97-AF65-F5344CB8AC3E}">
        <p14:creationId xmlns:p14="http://schemas.microsoft.com/office/powerpoint/2010/main" val="15678176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43D7BD-E14E-7E6B-B295-39FF301B326E}"/>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370C7831-E1A8-4876-C7CD-C4D3F2BD6840}"/>
              </a:ext>
            </a:extLst>
          </p:cNvPr>
          <p:cNvSpPr>
            <a:spLocks noGrp="1"/>
          </p:cNvSpPr>
          <p:nvPr>
            <p:ph type="subTitle" idx="1"/>
          </p:nvPr>
        </p:nvSpPr>
        <p:spPr/>
        <p:txBody>
          <a:bodyPr/>
          <a:lstStyle/>
          <a:p>
            <a:r>
              <a:rPr lang="en-US" dirty="0"/>
              <a:t>EPMP</a:t>
            </a:r>
          </a:p>
        </p:txBody>
      </p:sp>
      <p:sp>
        <p:nvSpPr>
          <p:cNvPr id="4" name="Slide Number Placeholder 3">
            <a:extLst>
              <a:ext uri="{FF2B5EF4-FFF2-40B4-BE49-F238E27FC236}">
                <a16:creationId xmlns:a16="http://schemas.microsoft.com/office/drawing/2014/main" id="{78B13F80-CABA-0EE3-3C59-886DC0114941}"/>
              </a:ext>
            </a:extLst>
          </p:cNvPr>
          <p:cNvSpPr>
            <a:spLocks noGrp="1"/>
          </p:cNvSpPr>
          <p:nvPr>
            <p:ph type="sldNum" sz="quarter" idx="12"/>
          </p:nvPr>
        </p:nvSpPr>
        <p:spPr/>
        <p:txBody>
          <a:bodyPr/>
          <a:lstStyle/>
          <a:p>
            <a:fld id="{682A9D49-871F-5640-BCE3-20634A9797B6}" type="slidenum">
              <a:rPr lang="en-US" smtClean="0"/>
              <a:t>5</a:t>
            </a:fld>
            <a:endParaRPr lang="en-US"/>
          </a:p>
        </p:txBody>
      </p:sp>
      <p:sp>
        <p:nvSpPr>
          <p:cNvPr id="5" name="Title 4">
            <a:extLst>
              <a:ext uri="{FF2B5EF4-FFF2-40B4-BE49-F238E27FC236}">
                <a16:creationId xmlns:a16="http://schemas.microsoft.com/office/drawing/2014/main" id="{EF50D0A5-2D83-72B2-C946-2AB1950C0F70}"/>
              </a:ext>
            </a:extLst>
          </p:cNvPr>
          <p:cNvSpPr>
            <a:spLocks noGrp="1"/>
          </p:cNvSpPr>
          <p:nvPr>
            <p:ph type="ctrTitle"/>
          </p:nvPr>
        </p:nvSpPr>
        <p:spPr>
          <a:prstGeom prst="rect">
            <a:avLst/>
          </a:prstGeom>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a:t>INFORMATION ARCHITECTURE DIAGRAM</a:t>
            </a:r>
          </a:p>
        </p:txBody>
      </p:sp>
      <p:sp>
        <p:nvSpPr>
          <p:cNvPr id="2" name="TextBox 1">
            <a:extLst>
              <a:ext uri="{FF2B5EF4-FFF2-40B4-BE49-F238E27FC236}">
                <a16:creationId xmlns:a16="http://schemas.microsoft.com/office/drawing/2014/main" id="{412C1E39-7308-69FE-8776-C625356F169F}"/>
              </a:ext>
            </a:extLst>
          </p:cNvPr>
          <p:cNvSpPr txBox="1"/>
          <p:nvPr/>
        </p:nvSpPr>
        <p:spPr>
          <a:xfrm>
            <a:off x="691376" y="345688"/>
            <a:ext cx="2821258" cy="369332"/>
          </a:xfrm>
          <a:prstGeom prst="rect">
            <a:avLst/>
          </a:prstGeom>
          <a:noFill/>
        </p:spPr>
        <p:txBody>
          <a:bodyPr wrap="square" rtlCol="0">
            <a:spAutoFit/>
          </a:bodyPr>
          <a:lstStyle/>
          <a:p>
            <a:r>
              <a:rPr lang="en-US" dirty="0"/>
              <a:t>Nabajyoti/ Sonal/Varun</a:t>
            </a:r>
          </a:p>
        </p:txBody>
      </p:sp>
    </p:spTree>
    <p:extLst>
      <p:ext uri="{BB962C8B-B14F-4D97-AF65-F5344CB8AC3E}">
        <p14:creationId xmlns:p14="http://schemas.microsoft.com/office/powerpoint/2010/main" val="5304362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E5248AB-BC87-82BB-47FC-EB1EDB384C07}"/>
              </a:ext>
            </a:extLst>
          </p:cNvPr>
          <p:cNvSpPr>
            <a:spLocks noGrp="1"/>
          </p:cNvSpPr>
          <p:nvPr>
            <p:ph type="sldNum" sz="quarter" idx="12"/>
          </p:nvPr>
        </p:nvSpPr>
        <p:spPr/>
        <p:txBody>
          <a:bodyPr/>
          <a:lstStyle/>
          <a:p>
            <a:fld id="{682A9D49-871F-5640-BCE3-20634A9797B6}" type="slidenum">
              <a:rPr lang="en-US" smtClean="0"/>
              <a:t>6</a:t>
            </a:fld>
            <a:endParaRPr lang="en-US"/>
          </a:p>
        </p:txBody>
      </p:sp>
      <p:pic>
        <p:nvPicPr>
          <p:cNvPr id="3" name="Picture 2">
            <a:extLst>
              <a:ext uri="{FF2B5EF4-FFF2-40B4-BE49-F238E27FC236}">
                <a16:creationId xmlns:a16="http://schemas.microsoft.com/office/drawing/2014/main" id="{E438F4E5-4407-5C43-C996-CC0FF3600AF8}"/>
              </a:ext>
            </a:extLst>
          </p:cNvPr>
          <p:cNvPicPr>
            <a:picLocks noChangeAspect="1"/>
          </p:cNvPicPr>
          <p:nvPr/>
        </p:nvPicPr>
        <p:blipFill>
          <a:blip r:embed="rId2"/>
          <a:stretch>
            <a:fillRect/>
          </a:stretch>
        </p:blipFill>
        <p:spPr>
          <a:xfrm>
            <a:off x="1170877" y="1236560"/>
            <a:ext cx="9532329" cy="4985819"/>
          </a:xfrm>
          <a:prstGeom prst="rect">
            <a:avLst/>
          </a:prstGeom>
        </p:spPr>
      </p:pic>
      <p:sp>
        <p:nvSpPr>
          <p:cNvPr id="4" name="Title 1">
            <a:extLst>
              <a:ext uri="{FF2B5EF4-FFF2-40B4-BE49-F238E27FC236}">
                <a16:creationId xmlns:a16="http://schemas.microsoft.com/office/drawing/2014/main" id="{BAC1E6C1-50FD-639F-6F01-B636FEED1D1A}"/>
              </a:ext>
            </a:extLst>
          </p:cNvPr>
          <p:cNvSpPr txBox="1">
            <a:spLocks/>
          </p:cNvSpPr>
          <p:nvPr/>
        </p:nvSpPr>
        <p:spPr>
          <a:xfrm>
            <a:off x="0" y="872505"/>
            <a:ext cx="2274849" cy="30952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400">
                <a:latin typeface="IBM Plex Sans" panose="020B0503050203000203" pitchFamily="34" charset="0"/>
              </a:rPr>
              <a:t>Integration Architecture</a:t>
            </a:r>
            <a:endParaRPr lang="en-US" sz="1400" dirty="0">
              <a:latin typeface="IBM Plex Sans" panose="020B0503050203000203" pitchFamily="34" charset="0"/>
            </a:endParaRPr>
          </a:p>
        </p:txBody>
      </p:sp>
    </p:spTree>
    <p:extLst>
      <p:ext uri="{BB962C8B-B14F-4D97-AF65-F5344CB8AC3E}">
        <p14:creationId xmlns:p14="http://schemas.microsoft.com/office/powerpoint/2010/main" val="33365727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6D6CFF0-DB03-A618-5097-9FE2BF67A904}"/>
              </a:ext>
            </a:extLst>
          </p:cNvPr>
          <p:cNvSpPr>
            <a:spLocks noGrp="1"/>
          </p:cNvSpPr>
          <p:nvPr>
            <p:ph type="subTitle" idx="1"/>
          </p:nvPr>
        </p:nvSpPr>
        <p:spPr/>
        <p:txBody>
          <a:bodyPr/>
          <a:lstStyle/>
          <a:p>
            <a:r>
              <a:rPr lang="en-US" dirty="0"/>
              <a:t>EPMP</a:t>
            </a:r>
          </a:p>
        </p:txBody>
      </p:sp>
      <p:sp>
        <p:nvSpPr>
          <p:cNvPr id="4" name="Slide Number Placeholder 3">
            <a:extLst>
              <a:ext uri="{FF2B5EF4-FFF2-40B4-BE49-F238E27FC236}">
                <a16:creationId xmlns:a16="http://schemas.microsoft.com/office/drawing/2014/main" id="{08FF7D9D-BDDD-A57B-0B01-8E368798CEAE}"/>
              </a:ext>
            </a:extLst>
          </p:cNvPr>
          <p:cNvSpPr>
            <a:spLocks noGrp="1"/>
          </p:cNvSpPr>
          <p:nvPr>
            <p:ph type="sldNum" sz="quarter" idx="12"/>
          </p:nvPr>
        </p:nvSpPr>
        <p:spPr/>
        <p:txBody>
          <a:bodyPr/>
          <a:lstStyle/>
          <a:p>
            <a:fld id="{682A9D49-871F-5640-BCE3-20634A9797B6}" type="slidenum">
              <a:rPr lang="en-US" smtClean="0"/>
              <a:t>7</a:t>
            </a:fld>
            <a:endParaRPr lang="en-US"/>
          </a:p>
        </p:txBody>
      </p:sp>
      <p:sp>
        <p:nvSpPr>
          <p:cNvPr id="5" name="Title 4">
            <a:extLst>
              <a:ext uri="{FF2B5EF4-FFF2-40B4-BE49-F238E27FC236}">
                <a16:creationId xmlns:a16="http://schemas.microsoft.com/office/drawing/2014/main" id="{D9D01C64-38DF-2E0B-D5E2-DCD21FB94F1C}"/>
              </a:ext>
            </a:extLst>
          </p:cNvPr>
          <p:cNvSpPr>
            <a:spLocks noGrp="1"/>
          </p:cNvSpPr>
          <p:nvPr>
            <p:ph type="ctrTitle"/>
          </p:nvPr>
        </p:nvSpPr>
        <p:spPr>
          <a:prstGeom prst="rect">
            <a:avLst/>
          </a:prstGeom>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t>APPLICATION ARCHITECTURE DIAGRAM</a:t>
            </a:r>
          </a:p>
        </p:txBody>
      </p:sp>
    </p:spTree>
    <p:extLst>
      <p:ext uri="{BB962C8B-B14F-4D97-AF65-F5344CB8AC3E}">
        <p14:creationId xmlns:p14="http://schemas.microsoft.com/office/powerpoint/2010/main" val="19324906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83F3551-AD01-EAA6-B7D5-42ABE73FE9E6}"/>
              </a:ext>
            </a:extLst>
          </p:cNvPr>
          <p:cNvSpPr>
            <a:spLocks noGrp="1"/>
          </p:cNvSpPr>
          <p:nvPr>
            <p:ph type="sldNum" sz="quarter" idx="12"/>
          </p:nvPr>
        </p:nvSpPr>
        <p:spPr/>
        <p:txBody>
          <a:bodyPr/>
          <a:lstStyle/>
          <a:p>
            <a:fld id="{682A9D49-871F-5640-BCE3-20634A9797B6}" type="slidenum">
              <a:rPr lang="en-US" smtClean="0"/>
              <a:t>8</a:t>
            </a:fld>
            <a:endParaRPr lang="en-US"/>
          </a:p>
        </p:txBody>
      </p:sp>
      <p:pic>
        <p:nvPicPr>
          <p:cNvPr id="6" name="Picture 5">
            <a:extLst>
              <a:ext uri="{FF2B5EF4-FFF2-40B4-BE49-F238E27FC236}">
                <a16:creationId xmlns:a16="http://schemas.microsoft.com/office/drawing/2014/main" id="{BD6DE3ED-0E00-B1C7-09A4-8FD3B14E25EF}"/>
              </a:ext>
            </a:extLst>
          </p:cNvPr>
          <p:cNvPicPr>
            <a:picLocks noChangeAspect="1"/>
          </p:cNvPicPr>
          <p:nvPr/>
        </p:nvPicPr>
        <p:blipFill>
          <a:blip r:embed="rId2"/>
          <a:stretch>
            <a:fillRect/>
          </a:stretch>
        </p:blipFill>
        <p:spPr>
          <a:xfrm>
            <a:off x="1015638" y="1006664"/>
            <a:ext cx="9399602" cy="5304926"/>
          </a:xfrm>
          <a:prstGeom prst="rect">
            <a:avLst/>
          </a:prstGeom>
        </p:spPr>
      </p:pic>
      <p:sp>
        <p:nvSpPr>
          <p:cNvPr id="3" name="Title 1">
            <a:extLst>
              <a:ext uri="{FF2B5EF4-FFF2-40B4-BE49-F238E27FC236}">
                <a16:creationId xmlns:a16="http://schemas.microsoft.com/office/drawing/2014/main" id="{1BE6132D-B0E2-5A35-09E5-A656871E1394}"/>
              </a:ext>
            </a:extLst>
          </p:cNvPr>
          <p:cNvSpPr txBox="1">
            <a:spLocks/>
          </p:cNvSpPr>
          <p:nvPr/>
        </p:nvSpPr>
        <p:spPr>
          <a:xfrm>
            <a:off x="0" y="872505"/>
            <a:ext cx="2274849" cy="30952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400" dirty="0">
                <a:latin typeface="IBM Plex Sans" panose="020B0503050203000203" pitchFamily="34" charset="0"/>
              </a:rPr>
              <a:t>Technical Architecture</a:t>
            </a:r>
          </a:p>
        </p:txBody>
      </p:sp>
    </p:spTree>
    <p:extLst>
      <p:ext uri="{BB962C8B-B14F-4D97-AF65-F5344CB8AC3E}">
        <p14:creationId xmlns:p14="http://schemas.microsoft.com/office/powerpoint/2010/main" val="32178984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657AFBF-6084-3BD4-03C3-3300385A0E22}"/>
              </a:ext>
            </a:extLst>
          </p:cNvPr>
          <p:cNvSpPr>
            <a:spLocks noGrp="1"/>
          </p:cNvSpPr>
          <p:nvPr>
            <p:ph type="sldNum" sz="quarter" idx="12"/>
          </p:nvPr>
        </p:nvSpPr>
        <p:spPr/>
        <p:txBody>
          <a:bodyPr/>
          <a:lstStyle/>
          <a:p>
            <a:fld id="{682A9D49-871F-5640-BCE3-20634A9797B6}" type="slidenum">
              <a:rPr lang="en-US" smtClean="0"/>
              <a:t>9</a:t>
            </a:fld>
            <a:endParaRPr lang="en-US"/>
          </a:p>
        </p:txBody>
      </p:sp>
      <p:graphicFrame>
        <p:nvGraphicFramePr>
          <p:cNvPr id="3" name="Table 2">
            <a:extLst>
              <a:ext uri="{FF2B5EF4-FFF2-40B4-BE49-F238E27FC236}">
                <a16:creationId xmlns:a16="http://schemas.microsoft.com/office/drawing/2014/main" id="{BE0F2B23-A405-2B78-BDBC-025948EBF6CA}"/>
              </a:ext>
            </a:extLst>
          </p:cNvPr>
          <p:cNvGraphicFramePr>
            <a:graphicFrameLocks noGrp="1"/>
          </p:cNvGraphicFramePr>
          <p:nvPr>
            <p:extLst>
              <p:ext uri="{D42A27DB-BD31-4B8C-83A1-F6EECF244321}">
                <p14:modId xmlns:p14="http://schemas.microsoft.com/office/powerpoint/2010/main" val="552050197"/>
              </p:ext>
            </p:extLst>
          </p:nvPr>
        </p:nvGraphicFramePr>
        <p:xfrm>
          <a:off x="117924" y="1193179"/>
          <a:ext cx="11520000" cy="5039999"/>
        </p:xfrm>
        <a:graphic>
          <a:graphicData uri="http://schemas.openxmlformats.org/drawingml/2006/table">
            <a:tbl>
              <a:tblPr firstRow="1" bandRow="1">
                <a:tableStyleId>{69012ECD-51FC-41F1-AA8D-1B2483CD663E}</a:tableStyleId>
              </a:tblPr>
              <a:tblGrid>
                <a:gridCol w="1309043">
                  <a:extLst>
                    <a:ext uri="{9D8B030D-6E8A-4147-A177-3AD203B41FA5}">
                      <a16:colId xmlns:a16="http://schemas.microsoft.com/office/drawing/2014/main" val="2440035316"/>
                    </a:ext>
                  </a:extLst>
                </a:gridCol>
                <a:gridCol w="2578641">
                  <a:extLst>
                    <a:ext uri="{9D8B030D-6E8A-4147-A177-3AD203B41FA5}">
                      <a16:colId xmlns:a16="http://schemas.microsoft.com/office/drawing/2014/main" val="1413565137"/>
                    </a:ext>
                  </a:extLst>
                </a:gridCol>
                <a:gridCol w="7632316">
                  <a:extLst>
                    <a:ext uri="{9D8B030D-6E8A-4147-A177-3AD203B41FA5}">
                      <a16:colId xmlns:a16="http://schemas.microsoft.com/office/drawing/2014/main" val="2610769581"/>
                    </a:ext>
                  </a:extLst>
                </a:gridCol>
              </a:tblGrid>
              <a:tr h="286284">
                <a:tc>
                  <a:txBody>
                    <a:bodyPr/>
                    <a:lstStyle/>
                    <a:p>
                      <a:pPr algn="ctr" fontAlgn="ctr">
                        <a:buNone/>
                      </a:pPr>
                      <a:r>
                        <a:rPr lang="en-IN" sz="1100" u="none" strike="noStrike" dirty="0">
                          <a:effectLst/>
                          <a:latin typeface="IBM Plex Sans" panose="020B0503050203000203" pitchFamily="34" charset="0"/>
                        </a:rPr>
                        <a:t>Layer</a:t>
                      </a:r>
                      <a:endParaRPr lang="en-IN" sz="1100" b="1" i="0" u="none" strike="noStrike" dirty="0">
                        <a:solidFill>
                          <a:srgbClr val="FFFFFF"/>
                        </a:solidFill>
                        <a:effectLst/>
                        <a:latin typeface="IBM Plex Sans" panose="020B0503050203000203" pitchFamily="34" charset="0"/>
                      </a:endParaRPr>
                    </a:p>
                  </a:txBody>
                  <a:tcPr marL="0" marR="0" marT="0" marB="0" anchor="ctr">
                    <a:lnB w="3175" cap="flat" cmpd="sng" algn="ctr">
                      <a:solidFill>
                        <a:schemeClr val="tx1"/>
                      </a:solidFill>
                      <a:prstDash val="solid"/>
                      <a:round/>
                      <a:headEnd type="none" w="med" len="med"/>
                      <a:tailEnd type="none" w="med" len="med"/>
                    </a:lnB>
                  </a:tcPr>
                </a:tc>
                <a:tc>
                  <a:txBody>
                    <a:bodyPr/>
                    <a:lstStyle/>
                    <a:p>
                      <a:pPr algn="ctr" fontAlgn="ctr">
                        <a:buNone/>
                      </a:pPr>
                      <a:r>
                        <a:rPr lang="en-IN" sz="1100" u="none" strike="noStrike" dirty="0">
                          <a:effectLst/>
                          <a:latin typeface="IBM Plex Sans" panose="020B0503050203000203" pitchFamily="34" charset="0"/>
                        </a:rPr>
                        <a:t>Component</a:t>
                      </a:r>
                      <a:endParaRPr lang="en-IN" sz="1100" b="1" i="0" u="none" strike="noStrike" dirty="0">
                        <a:solidFill>
                          <a:srgbClr val="FFFFFF"/>
                        </a:solidFill>
                        <a:effectLst/>
                        <a:latin typeface="IBM Plex Sans" panose="020B0503050203000203" pitchFamily="34" charset="0"/>
                      </a:endParaRPr>
                    </a:p>
                  </a:txBody>
                  <a:tcPr marL="0" marR="0" marT="0" marB="0" anchor="ctr">
                    <a:lnB w="3175" cap="flat" cmpd="sng" algn="ctr">
                      <a:solidFill>
                        <a:schemeClr val="tx1"/>
                      </a:solidFill>
                      <a:prstDash val="solid"/>
                      <a:round/>
                      <a:headEnd type="none" w="med" len="med"/>
                      <a:tailEnd type="none" w="med" len="med"/>
                    </a:lnB>
                  </a:tcPr>
                </a:tc>
                <a:tc>
                  <a:txBody>
                    <a:bodyPr/>
                    <a:lstStyle/>
                    <a:p>
                      <a:pPr algn="ctr" fontAlgn="ctr">
                        <a:buNone/>
                      </a:pPr>
                      <a:r>
                        <a:rPr lang="en-IN" sz="1100" u="none" strike="noStrike" dirty="0">
                          <a:effectLst/>
                          <a:latin typeface="IBM Plex Sans" panose="020B0503050203000203" pitchFamily="34" charset="0"/>
                        </a:rPr>
                        <a:t>Technical Description</a:t>
                      </a:r>
                      <a:endParaRPr lang="en-IN" sz="1100" b="1" i="0" u="none" strike="noStrike" dirty="0">
                        <a:solidFill>
                          <a:srgbClr val="FFFFFF"/>
                        </a:solidFill>
                        <a:effectLst/>
                        <a:latin typeface="IBM Plex Sans" panose="020B0503050203000203" pitchFamily="34" charset="0"/>
                      </a:endParaRPr>
                    </a:p>
                  </a:txBody>
                  <a:tcPr marL="0" marR="0" marT="0" marB="0" anchor="ctr">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08956512"/>
                  </a:ext>
                </a:extLst>
              </a:tr>
              <a:tr h="377363">
                <a:tc>
                  <a:txBody>
                    <a:bodyPr/>
                    <a:lstStyle/>
                    <a:p>
                      <a:pPr algn="l" fontAlgn="t">
                        <a:buNone/>
                      </a:pPr>
                      <a:r>
                        <a:rPr lang="en-IN" sz="1100" u="none" strike="noStrike" dirty="0">
                          <a:effectLst/>
                          <a:latin typeface="IBM Plex Sans" panose="020B0503050203000203" pitchFamily="34" charset="0"/>
                        </a:rPr>
                        <a:t>User Engagement</a:t>
                      </a:r>
                      <a:endParaRPr lang="en-IN" sz="1100" b="1"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100" u="none" strike="noStrike" dirty="0">
                          <a:effectLst/>
                          <a:latin typeface="IBM Plex Sans" panose="020B0503050203000203" pitchFamily="34" charset="0"/>
                        </a:rPr>
                        <a:t>EPMP Mobile App </a:t>
                      </a:r>
                      <a:endParaRPr lang="en-IN" sz="1100" b="1"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100" u="none" strike="noStrike" dirty="0">
                          <a:effectLst/>
                          <a:latin typeface="IBM Plex Sans" panose="020B0503050203000203" pitchFamily="34" charset="0"/>
                        </a:rPr>
                        <a:t>Mobile client delivering on-the-go access to approvals, task actions, status updates and alerts. Optimised for variable network conditions and simplified interaction patterns.</a:t>
                      </a:r>
                      <a:endParaRPr lang="en-IN" sz="1100" b="0"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8472809"/>
                  </a:ext>
                </a:extLst>
              </a:tr>
              <a:tr h="377363">
                <a:tc>
                  <a:txBody>
                    <a:bodyPr/>
                    <a:lstStyle/>
                    <a:p>
                      <a:pPr algn="l" fontAlgn="t">
                        <a:buNone/>
                      </a:pPr>
                      <a:r>
                        <a:rPr lang="en-IN" sz="1100" u="none" strike="noStrike" dirty="0">
                          <a:effectLst/>
                          <a:latin typeface="IBM Plex Sans" panose="020B0503050203000203" pitchFamily="34" charset="0"/>
                        </a:rPr>
                        <a:t>User Engagement</a:t>
                      </a:r>
                      <a:endParaRPr lang="en-IN" sz="1100" b="1"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100" u="none" strike="noStrike" dirty="0">
                          <a:effectLst/>
                          <a:latin typeface="IBM Plex Sans" panose="020B0503050203000203" pitchFamily="34" charset="0"/>
                        </a:rPr>
                        <a:t>EPMP Web Portal</a:t>
                      </a:r>
                      <a:endParaRPr lang="en-IN" sz="1100" b="1"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100" u="none" strike="noStrike" dirty="0">
                          <a:effectLst/>
                          <a:latin typeface="IBM Plex Sans" panose="020B0503050203000203" pitchFamily="34" charset="0"/>
                        </a:rPr>
                        <a:t>Primary browser-based application for dashboards, workflow actions, configuration, reporting and collaboration. Supports role-based UI composition and enterprise access controls.</a:t>
                      </a:r>
                      <a:endParaRPr lang="en-IN" sz="1100" b="0"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44951021"/>
                  </a:ext>
                </a:extLst>
              </a:tr>
              <a:tr h="515493">
                <a:tc>
                  <a:txBody>
                    <a:bodyPr/>
                    <a:lstStyle/>
                    <a:p>
                      <a:pPr marL="0" algn="l" defTabSz="914400" rtl="0" eaLnBrk="1" fontAlgn="t" latinLnBrk="0" hangingPunct="1">
                        <a:buNone/>
                      </a:pPr>
                      <a:r>
                        <a:rPr lang="en-IN" sz="1100" u="none" strike="noStrike" kern="1200" dirty="0">
                          <a:solidFill>
                            <a:schemeClr val="tx1"/>
                          </a:solidFill>
                          <a:effectLst/>
                          <a:latin typeface="IBM Plex Sans" panose="020B0503050203000203" pitchFamily="34" charset="0"/>
                          <a:ea typeface="+mn-ea"/>
                          <a:cs typeface="+mn-cs"/>
                        </a:rPr>
                        <a:t>Landing Zone</a:t>
                      </a: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algn="l" defTabSz="914400" rtl="0" eaLnBrk="1" fontAlgn="t" latinLnBrk="0" hangingPunct="1">
                        <a:buNone/>
                      </a:pPr>
                      <a:r>
                        <a:rPr lang="en-IN" sz="1100" u="none" strike="noStrike" kern="1200" dirty="0">
                          <a:solidFill>
                            <a:schemeClr val="tx1"/>
                          </a:solidFill>
                          <a:effectLst/>
                          <a:latin typeface="IBM Plex Sans" panose="020B0503050203000203" pitchFamily="34" charset="0"/>
                          <a:ea typeface="+mn-ea"/>
                          <a:cs typeface="+mn-cs"/>
                        </a:rPr>
                        <a:t>WAF (Web Application Firewall)</a:t>
                      </a:r>
                    </a:p>
                  </a:txBody>
                  <a:tcPr marL="9525" marR="9525" marT="952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algn="l" defTabSz="914400" rtl="0" eaLnBrk="1" fontAlgn="t" latinLnBrk="0" hangingPunct="1">
                        <a:buNone/>
                      </a:pPr>
                      <a:r>
                        <a:rPr lang="en-IN" sz="1100" u="none" strike="noStrike" kern="1200" dirty="0">
                          <a:solidFill>
                            <a:schemeClr val="tx1"/>
                          </a:solidFill>
                          <a:effectLst/>
                          <a:latin typeface="IBM Plex Sans" panose="020B0503050203000203" pitchFamily="34" charset="0"/>
                          <a:ea typeface="+mn-ea"/>
                          <a:cs typeface="+mn-cs"/>
                        </a:rPr>
                        <a:t>Protects EPMP web and API endpoints by inspecting HTTP/HTTPS requests and blocking malicious payloads such as SQL injection, XSS, and API abuse. Enforces rule-based filtering, rate limiting, and bot protection before traffic reaches the API Gateway.</a:t>
                      </a:r>
                    </a:p>
                  </a:txBody>
                  <a:tcPr marL="9525" marR="9525" marT="952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9183520"/>
                  </a:ext>
                </a:extLst>
              </a:tr>
              <a:tr h="515493">
                <a:tc>
                  <a:txBody>
                    <a:bodyPr/>
                    <a:lstStyle/>
                    <a:p>
                      <a:pPr marL="0" algn="l" defTabSz="914400" rtl="0" eaLnBrk="1" fontAlgn="t" latinLnBrk="0" hangingPunct="1">
                        <a:buNone/>
                      </a:pPr>
                      <a:r>
                        <a:rPr lang="en-IN" sz="1100" u="none" strike="noStrike" kern="1200" dirty="0">
                          <a:solidFill>
                            <a:schemeClr val="tx1"/>
                          </a:solidFill>
                          <a:effectLst/>
                          <a:latin typeface="IBM Plex Sans" panose="020B0503050203000203" pitchFamily="34" charset="0"/>
                          <a:ea typeface="+mn-ea"/>
                          <a:cs typeface="+mn-cs"/>
                        </a:rPr>
                        <a:t>Landing Zone</a:t>
                      </a: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algn="l" defTabSz="914400" rtl="0" eaLnBrk="1" fontAlgn="t" latinLnBrk="0" hangingPunct="1">
                        <a:buNone/>
                      </a:pPr>
                      <a:r>
                        <a:rPr lang="en-IN" sz="1100" u="none" strike="noStrike" kern="1200">
                          <a:solidFill>
                            <a:schemeClr val="tx1"/>
                          </a:solidFill>
                          <a:effectLst/>
                          <a:latin typeface="IBM Plex Sans" panose="020B0503050203000203" pitchFamily="34" charset="0"/>
                          <a:ea typeface="+mn-ea"/>
                          <a:cs typeface="+mn-cs"/>
                        </a:rPr>
                        <a:t>DDoS Protection</a:t>
                      </a:r>
                    </a:p>
                  </a:txBody>
                  <a:tcPr marL="9525" marR="9525" marT="952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algn="l" defTabSz="914400" rtl="0" eaLnBrk="1" fontAlgn="t" latinLnBrk="0" hangingPunct="1">
                        <a:buNone/>
                      </a:pPr>
                      <a:r>
                        <a:rPr lang="en-IN" sz="1100" u="none" strike="noStrike" kern="1200" dirty="0">
                          <a:solidFill>
                            <a:schemeClr val="tx1"/>
                          </a:solidFill>
                          <a:effectLst/>
                          <a:latin typeface="IBM Plex Sans" panose="020B0503050203000203" pitchFamily="34" charset="0"/>
                          <a:ea typeface="+mn-ea"/>
                          <a:cs typeface="+mn-cs"/>
                        </a:rPr>
                        <a:t>Safeguards EPMP availability by detecting and mitigating large-scale traffic floods (Layer 3/4/7 attacks). Automatically absorbs and filters volumetric attacks to ensure system uptime and consistent performance under abnormal traffic conditions.</a:t>
                      </a:r>
                    </a:p>
                  </a:txBody>
                  <a:tcPr marL="9525" marR="9525" marT="952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2164649"/>
                  </a:ext>
                </a:extLst>
              </a:tr>
              <a:tr h="515493">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IN" sz="1100" u="none" strike="noStrike" kern="1200" dirty="0">
                          <a:solidFill>
                            <a:schemeClr val="tx1"/>
                          </a:solidFill>
                          <a:effectLst/>
                          <a:latin typeface="IBM Plex Sans" panose="020B0503050203000203" pitchFamily="34" charset="0"/>
                          <a:ea typeface="+mn-ea"/>
                          <a:cs typeface="+mn-cs"/>
                        </a:rPr>
                        <a:t>Landing Zone</a:t>
                      </a:r>
                    </a:p>
                    <a:p>
                      <a:pPr marL="0" algn="l" defTabSz="914400" rtl="0" eaLnBrk="1" fontAlgn="t" latinLnBrk="0" hangingPunct="1">
                        <a:buNone/>
                      </a:pPr>
                      <a:endParaRPr lang="en-IN" sz="1100" u="none" strike="noStrike" kern="1200" dirty="0">
                        <a:solidFill>
                          <a:schemeClr val="tx1"/>
                        </a:solidFill>
                        <a:effectLst/>
                        <a:latin typeface="IBM Plex Sans" panose="020B0503050203000203" pitchFamily="34" charset="0"/>
                        <a:ea typeface="+mn-ea"/>
                        <a:cs typeface="+mn-cs"/>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algn="l" defTabSz="914400" rtl="0" eaLnBrk="1" fontAlgn="t" latinLnBrk="0" hangingPunct="1">
                        <a:buNone/>
                      </a:pPr>
                      <a:r>
                        <a:rPr lang="en-IN" sz="1100" u="none" strike="noStrike" kern="1200">
                          <a:solidFill>
                            <a:schemeClr val="tx1"/>
                          </a:solidFill>
                          <a:effectLst/>
                          <a:latin typeface="IBM Plex Sans" panose="020B0503050203000203" pitchFamily="34" charset="0"/>
                          <a:ea typeface="+mn-ea"/>
                          <a:cs typeface="+mn-cs"/>
                        </a:rPr>
                        <a:t>Firewall</a:t>
                      </a:r>
                    </a:p>
                  </a:txBody>
                  <a:tcPr marL="9525" marR="9525" marT="952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algn="l" defTabSz="914400" rtl="0" eaLnBrk="1" fontAlgn="t" latinLnBrk="0" hangingPunct="1">
                        <a:buNone/>
                      </a:pPr>
                      <a:r>
                        <a:rPr lang="en-IN" sz="1100" u="none" strike="noStrike" kern="1200" dirty="0">
                          <a:solidFill>
                            <a:schemeClr val="tx1"/>
                          </a:solidFill>
                          <a:effectLst/>
                          <a:latin typeface="IBM Plex Sans" panose="020B0503050203000203" pitchFamily="34" charset="0"/>
                          <a:ea typeface="+mn-ea"/>
                          <a:cs typeface="+mn-cs"/>
                        </a:rPr>
                        <a:t>Controls inbound and outbound network traffic using predefined security rules. Segregates EPMP environments (public, private, internal services) and restricts access to only trusted IP ranges, ports, and protocols, forming a foundational network security boundary.</a:t>
                      </a:r>
                    </a:p>
                  </a:txBody>
                  <a:tcPr marL="9525" marR="9525" marT="952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0530356"/>
                  </a:ext>
                </a:extLst>
              </a:tr>
              <a:tr h="515493">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IN" sz="1100" u="none" strike="noStrike" kern="1200" dirty="0">
                          <a:solidFill>
                            <a:schemeClr val="tx1"/>
                          </a:solidFill>
                          <a:effectLst/>
                          <a:latin typeface="IBM Plex Sans" panose="020B0503050203000203" pitchFamily="34" charset="0"/>
                          <a:ea typeface="+mn-ea"/>
                          <a:cs typeface="+mn-cs"/>
                        </a:rPr>
                        <a:t>Landing Zone</a:t>
                      </a:r>
                    </a:p>
                    <a:p>
                      <a:pPr marL="0" algn="l" defTabSz="914400" rtl="0" eaLnBrk="1" fontAlgn="t" latinLnBrk="0" hangingPunct="1">
                        <a:buNone/>
                      </a:pPr>
                      <a:endParaRPr lang="en-IN" sz="1100" u="none" strike="noStrike" kern="1200" dirty="0">
                        <a:solidFill>
                          <a:schemeClr val="tx1"/>
                        </a:solidFill>
                        <a:effectLst/>
                        <a:latin typeface="IBM Plex Sans" panose="020B0503050203000203" pitchFamily="34" charset="0"/>
                        <a:ea typeface="+mn-ea"/>
                        <a:cs typeface="+mn-cs"/>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algn="l" defTabSz="914400" rtl="0" eaLnBrk="1" fontAlgn="t" latinLnBrk="0" hangingPunct="1">
                        <a:buNone/>
                      </a:pPr>
                      <a:r>
                        <a:rPr lang="en-IN" sz="1100" u="none" strike="noStrike" kern="1200">
                          <a:solidFill>
                            <a:schemeClr val="tx1"/>
                          </a:solidFill>
                          <a:effectLst/>
                          <a:latin typeface="IBM Plex Sans" panose="020B0503050203000203" pitchFamily="34" charset="0"/>
                          <a:ea typeface="+mn-ea"/>
                          <a:cs typeface="+mn-cs"/>
                        </a:rPr>
                        <a:t>IDS/IPS</a:t>
                      </a:r>
                    </a:p>
                  </a:txBody>
                  <a:tcPr marL="9525" marR="9525" marT="952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algn="l" defTabSz="914400" rtl="0" eaLnBrk="1" fontAlgn="t" latinLnBrk="0" hangingPunct="1">
                        <a:buNone/>
                      </a:pPr>
                      <a:r>
                        <a:rPr lang="en-IN" sz="1100" u="none" strike="noStrike" kern="1200" dirty="0">
                          <a:solidFill>
                            <a:schemeClr val="tx1"/>
                          </a:solidFill>
                          <a:effectLst/>
                          <a:latin typeface="IBM Plex Sans" panose="020B0503050203000203" pitchFamily="34" charset="0"/>
                          <a:ea typeface="+mn-ea"/>
                          <a:cs typeface="+mn-cs"/>
                        </a:rPr>
                        <a:t>Monitors and </a:t>
                      </a:r>
                      <a:r>
                        <a:rPr lang="en-IN" sz="1100" u="none" strike="noStrike" kern="1200" dirty="0" err="1">
                          <a:solidFill>
                            <a:schemeClr val="tx1"/>
                          </a:solidFill>
                          <a:effectLst/>
                          <a:latin typeface="IBM Plex Sans" panose="020B0503050203000203" pitchFamily="34" charset="0"/>
                          <a:ea typeface="+mn-ea"/>
                          <a:cs typeface="+mn-cs"/>
                        </a:rPr>
                        <a:t>analyzes</a:t>
                      </a:r>
                      <a:r>
                        <a:rPr lang="en-IN" sz="1100" u="none" strike="noStrike" kern="1200" dirty="0">
                          <a:solidFill>
                            <a:schemeClr val="tx1"/>
                          </a:solidFill>
                          <a:effectLst/>
                          <a:latin typeface="IBM Plex Sans" panose="020B0503050203000203" pitchFamily="34" charset="0"/>
                          <a:ea typeface="+mn-ea"/>
                          <a:cs typeface="+mn-cs"/>
                        </a:rPr>
                        <a:t> network traffic for suspicious or malicious activity. IDS provides real-time detection and alerting, while IPS actively blocks or prevents identified threats. Enhances EPMP security through deep packet inspection and anomaly detection across internal and external traffic flows.</a:t>
                      </a:r>
                    </a:p>
                  </a:txBody>
                  <a:tcPr marL="9525" marR="9525" marT="952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28618732"/>
                  </a:ext>
                </a:extLst>
              </a:tr>
              <a:tr h="377363">
                <a:tc>
                  <a:txBody>
                    <a:bodyPr/>
                    <a:lstStyle/>
                    <a:p>
                      <a:pPr algn="l" fontAlgn="t">
                        <a:buNone/>
                      </a:pPr>
                      <a:r>
                        <a:rPr lang="en-IN" sz="1100" u="none" strike="noStrike" dirty="0">
                          <a:effectLst/>
                          <a:latin typeface="IBM Plex Sans" panose="020B0503050203000203" pitchFamily="34" charset="0"/>
                        </a:rPr>
                        <a:t>DMZ</a:t>
                      </a:r>
                      <a:endParaRPr lang="en-IN" sz="1100" b="1"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100" u="none" strike="noStrike" dirty="0">
                          <a:effectLst/>
                          <a:latin typeface="IBM Plex Sans" panose="020B0503050203000203" pitchFamily="34" charset="0"/>
                        </a:rPr>
                        <a:t>Content Delivery Network</a:t>
                      </a:r>
                      <a:endParaRPr lang="en-IN" sz="1100" b="1"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100" u="none" strike="noStrike" dirty="0">
                          <a:effectLst/>
                          <a:latin typeface="IBM Plex Sans" panose="020B0503050203000203" pitchFamily="34" charset="0"/>
                        </a:rPr>
                        <a:t>Edge distribution layer for static content, API acceleration and low-latency delivery. Also helps absorb traffic bursts and improves end-user response time.</a:t>
                      </a:r>
                      <a:endParaRPr lang="en-IN" sz="1100" b="0"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18733457"/>
                  </a:ext>
                </a:extLst>
              </a:tr>
              <a:tr h="377363">
                <a:tc>
                  <a:txBody>
                    <a:bodyPr/>
                    <a:lstStyle/>
                    <a:p>
                      <a:pPr algn="l" fontAlgn="t">
                        <a:buNone/>
                      </a:pPr>
                      <a:r>
                        <a:rPr lang="en-IN" sz="1100" u="none" strike="noStrike">
                          <a:effectLst/>
                          <a:latin typeface="IBM Plex Sans" panose="020B0503050203000203" pitchFamily="34" charset="0"/>
                        </a:rPr>
                        <a:t>DMZ</a:t>
                      </a:r>
                      <a:endParaRPr lang="en-IN" sz="1100" b="1" i="0" u="none" strike="noStrike">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100" u="none" strike="noStrike" dirty="0">
                          <a:effectLst/>
                          <a:latin typeface="IBM Plex Sans" panose="020B0503050203000203" pitchFamily="34" charset="0"/>
                        </a:rPr>
                        <a:t>Reverse Proxy / </a:t>
                      </a:r>
                    </a:p>
                    <a:p>
                      <a:pPr algn="l" fontAlgn="t">
                        <a:buNone/>
                      </a:pPr>
                      <a:r>
                        <a:rPr lang="en-IN" sz="1100" u="none" strike="noStrike" dirty="0">
                          <a:effectLst/>
                          <a:latin typeface="IBM Plex Sans" panose="020B0503050203000203" pitchFamily="34" charset="0"/>
                        </a:rPr>
                        <a:t>Load Balancer Layer</a:t>
                      </a:r>
                      <a:endParaRPr lang="en-IN" sz="1100" b="1"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100" u="none" strike="noStrike" dirty="0">
                          <a:effectLst/>
                          <a:latin typeface="IBM Plex Sans" panose="020B0503050203000203" pitchFamily="34" charset="0"/>
                        </a:rPr>
                        <a:t>Ingress layer that terminates TLS, balances traffic and forwards requests to APIs or BFF services. Supports high availability and routing controls.</a:t>
                      </a:r>
                      <a:endParaRPr lang="en-IN" sz="1100" b="0"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45707135"/>
                  </a:ext>
                </a:extLst>
              </a:tr>
              <a:tr h="1182291">
                <a:tc>
                  <a:txBody>
                    <a:bodyPr/>
                    <a:lstStyle/>
                    <a:p>
                      <a:pPr algn="l" fontAlgn="t">
                        <a:buNone/>
                      </a:pPr>
                      <a:r>
                        <a:rPr lang="en-IN" sz="1100" u="none" strike="noStrike">
                          <a:effectLst/>
                          <a:latin typeface="IBM Plex Sans" panose="020B0503050203000203" pitchFamily="34" charset="0"/>
                        </a:rPr>
                        <a:t>DMZ</a:t>
                      </a:r>
                      <a:endParaRPr lang="en-IN" sz="1100" b="1" i="0" u="none" strike="noStrike">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100" u="none" strike="noStrike" dirty="0">
                          <a:effectLst/>
                          <a:latin typeface="IBM Plex Sans" panose="020B0503050203000203" pitchFamily="34" charset="0"/>
                        </a:rPr>
                        <a:t>API Gateway</a:t>
                      </a:r>
                      <a:endParaRPr lang="en-IN" sz="1100" b="1"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IN" sz="1100" u="none" strike="noStrike" dirty="0">
                          <a:effectLst/>
                          <a:latin typeface="IBM Plex Sans" panose="020B0503050203000203" pitchFamily="34" charset="0"/>
                        </a:rPr>
                        <a:t>Single entry point for client and partner APIs, handling authentication, routing, throttling, request validation and observability. Enforces consistent API governance. Request handling rules such as header checks, schema validation, conditional routing and consumer-specific behaviour at the gateway edge. Security and governance policies including auth enforcement, CORS, request/response transformation and consumer access constraints. Rate Limiting controls request volumes to protect downstream services and ensure fair usage for channels and external consumers.</a:t>
                      </a:r>
                      <a:endParaRPr lang="en-IN" sz="1100" b="0" u="none" strike="noStrike" dirty="0">
                        <a:solidFill>
                          <a:srgbClr val="000000"/>
                        </a:solidFill>
                        <a:effectLst/>
                        <a:latin typeface="IBM Plex Sans" panose="020B0503050203000203" pitchFamily="34" charset="0"/>
                      </a:endParaRPr>
                    </a:p>
                    <a:p>
                      <a:pPr algn="l" fontAlgn="t">
                        <a:buNone/>
                      </a:pPr>
                      <a:endParaRPr lang="en-IN" sz="1100" b="0"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65108556"/>
                  </a:ext>
                </a:extLst>
              </a:tr>
            </a:tbl>
          </a:graphicData>
        </a:graphic>
      </p:graphicFrame>
      <p:sp>
        <p:nvSpPr>
          <p:cNvPr id="4" name="TextBox 3">
            <a:extLst>
              <a:ext uri="{FF2B5EF4-FFF2-40B4-BE49-F238E27FC236}">
                <a16:creationId xmlns:a16="http://schemas.microsoft.com/office/drawing/2014/main" id="{41D58556-84E2-70DE-6260-EDDEA25F7D57}"/>
              </a:ext>
            </a:extLst>
          </p:cNvPr>
          <p:cNvSpPr txBox="1"/>
          <p:nvPr/>
        </p:nvSpPr>
        <p:spPr>
          <a:xfrm>
            <a:off x="0" y="931569"/>
            <a:ext cx="2687444" cy="261610"/>
          </a:xfrm>
          <a:prstGeom prst="rect">
            <a:avLst/>
          </a:prstGeom>
          <a:noFill/>
        </p:spPr>
        <p:txBody>
          <a:bodyPr wrap="square" rtlCol="0">
            <a:spAutoFit/>
          </a:bodyPr>
          <a:lstStyle/>
          <a:p>
            <a:r>
              <a:rPr lang="en-US" sz="1100" dirty="0">
                <a:latin typeface="IBM Plex Sans" panose="020B0503050203000203" pitchFamily="34" charset="0"/>
              </a:rPr>
              <a:t>Component Descriptions</a:t>
            </a:r>
          </a:p>
        </p:txBody>
      </p:sp>
    </p:spTree>
    <p:extLst>
      <p:ext uri="{BB962C8B-B14F-4D97-AF65-F5344CB8AC3E}">
        <p14:creationId xmlns:p14="http://schemas.microsoft.com/office/powerpoint/2010/main" val="35333837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09B3292-4211-9CF4-E1D7-592306273D77}"/>
              </a:ext>
            </a:extLst>
          </p:cNvPr>
          <p:cNvSpPr>
            <a:spLocks noGrp="1"/>
          </p:cNvSpPr>
          <p:nvPr>
            <p:ph type="sldNum" sz="quarter" idx="12"/>
          </p:nvPr>
        </p:nvSpPr>
        <p:spPr/>
        <p:txBody>
          <a:bodyPr/>
          <a:lstStyle/>
          <a:p>
            <a:fld id="{682A9D49-871F-5640-BCE3-20634A9797B6}" type="slidenum">
              <a:rPr lang="en-US" smtClean="0"/>
              <a:t>10</a:t>
            </a:fld>
            <a:endParaRPr lang="en-US"/>
          </a:p>
        </p:txBody>
      </p:sp>
      <p:graphicFrame>
        <p:nvGraphicFramePr>
          <p:cNvPr id="3" name="Table 2">
            <a:extLst>
              <a:ext uri="{FF2B5EF4-FFF2-40B4-BE49-F238E27FC236}">
                <a16:creationId xmlns:a16="http://schemas.microsoft.com/office/drawing/2014/main" id="{A9EF7F51-BD84-A699-DFB6-8F549E4CC6C1}"/>
              </a:ext>
            </a:extLst>
          </p:cNvPr>
          <p:cNvGraphicFramePr>
            <a:graphicFrameLocks noGrp="1"/>
          </p:cNvGraphicFramePr>
          <p:nvPr>
            <p:extLst>
              <p:ext uri="{D42A27DB-BD31-4B8C-83A1-F6EECF244321}">
                <p14:modId xmlns:p14="http://schemas.microsoft.com/office/powerpoint/2010/main" val="1642925083"/>
              </p:ext>
            </p:extLst>
          </p:nvPr>
        </p:nvGraphicFramePr>
        <p:xfrm>
          <a:off x="144966" y="1193179"/>
          <a:ext cx="11520000" cy="5040002"/>
        </p:xfrm>
        <a:graphic>
          <a:graphicData uri="http://schemas.openxmlformats.org/drawingml/2006/table">
            <a:tbl>
              <a:tblPr firstRow="1" bandRow="1">
                <a:tableStyleId>{69012ECD-51FC-41F1-AA8D-1B2483CD663E}</a:tableStyleId>
              </a:tblPr>
              <a:tblGrid>
                <a:gridCol w="1309043">
                  <a:extLst>
                    <a:ext uri="{9D8B030D-6E8A-4147-A177-3AD203B41FA5}">
                      <a16:colId xmlns:a16="http://schemas.microsoft.com/office/drawing/2014/main" val="2440035316"/>
                    </a:ext>
                  </a:extLst>
                </a:gridCol>
                <a:gridCol w="2578642">
                  <a:extLst>
                    <a:ext uri="{9D8B030D-6E8A-4147-A177-3AD203B41FA5}">
                      <a16:colId xmlns:a16="http://schemas.microsoft.com/office/drawing/2014/main" val="1413565137"/>
                    </a:ext>
                  </a:extLst>
                </a:gridCol>
                <a:gridCol w="7632315">
                  <a:extLst>
                    <a:ext uri="{9D8B030D-6E8A-4147-A177-3AD203B41FA5}">
                      <a16:colId xmlns:a16="http://schemas.microsoft.com/office/drawing/2014/main" val="2610769581"/>
                    </a:ext>
                  </a:extLst>
                </a:gridCol>
              </a:tblGrid>
              <a:tr h="458182">
                <a:tc>
                  <a:txBody>
                    <a:bodyPr/>
                    <a:lstStyle/>
                    <a:p>
                      <a:pPr algn="ctr" fontAlgn="ctr">
                        <a:buNone/>
                      </a:pPr>
                      <a:r>
                        <a:rPr lang="en-IN" sz="1200" u="none" strike="noStrike" dirty="0">
                          <a:effectLst/>
                          <a:latin typeface="IBM Plex Sans" panose="020B0503050203000203" pitchFamily="34" charset="0"/>
                        </a:rPr>
                        <a:t>Layer</a:t>
                      </a:r>
                      <a:endParaRPr lang="en-IN" sz="1200" b="1" i="0" u="none" strike="noStrike" dirty="0">
                        <a:solidFill>
                          <a:srgbClr val="FFFFFF"/>
                        </a:solidFill>
                        <a:effectLst/>
                        <a:latin typeface="IBM Plex Sans" panose="020B0503050203000203" pitchFamily="34" charset="0"/>
                      </a:endParaRPr>
                    </a:p>
                  </a:txBody>
                  <a:tcPr marL="0" marR="0" marT="0" marB="0" anchor="ctr">
                    <a:lnB w="3175" cap="flat" cmpd="sng" algn="ctr">
                      <a:solidFill>
                        <a:schemeClr val="tx1"/>
                      </a:solidFill>
                      <a:prstDash val="solid"/>
                      <a:round/>
                      <a:headEnd type="none" w="med" len="med"/>
                      <a:tailEnd type="none" w="med" len="med"/>
                    </a:lnB>
                  </a:tcPr>
                </a:tc>
                <a:tc>
                  <a:txBody>
                    <a:bodyPr/>
                    <a:lstStyle/>
                    <a:p>
                      <a:pPr algn="ctr" fontAlgn="ctr">
                        <a:buNone/>
                      </a:pPr>
                      <a:r>
                        <a:rPr lang="en-IN" sz="1200" u="none" strike="noStrike" dirty="0">
                          <a:effectLst/>
                          <a:latin typeface="IBM Plex Sans" panose="020B0503050203000203" pitchFamily="34" charset="0"/>
                        </a:rPr>
                        <a:t>Component</a:t>
                      </a:r>
                      <a:endParaRPr lang="en-IN" sz="1200" b="1" i="0" u="none" strike="noStrike" dirty="0">
                        <a:solidFill>
                          <a:srgbClr val="FFFFFF"/>
                        </a:solidFill>
                        <a:effectLst/>
                        <a:latin typeface="IBM Plex Sans" panose="020B0503050203000203" pitchFamily="34" charset="0"/>
                      </a:endParaRPr>
                    </a:p>
                  </a:txBody>
                  <a:tcPr marL="0" marR="0" marT="0" marB="0" anchor="ctr">
                    <a:lnB w="3175" cap="flat" cmpd="sng" algn="ctr">
                      <a:solidFill>
                        <a:schemeClr val="tx1"/>
                      </a:solidFill>
                      <a:prstDash val="solid"/>
                      <a:round/>
                      <a:headEnd type="none" w="med" len="med"/>
                      <a:tailEnd type="none" w="med" len="med"/>
                    </a:lnB>
                  </a:tcPr>
                </a:tc>
                <a:tc>
                  <a:txBody>
                    <a:bodyPr/>
                    <a:lstStyle/>
                    <a:p>
                      <a:pPr algn="ctr" fontAlgn="ctr">
                        <a:buNone/>
                      </a:pPr>
                      <a:r>
                        <a:rPr lang="en-IN" sz="1200" u="none" strike="noStrike" dirty="0">
                          <a:effectLst/>
                          <a:latin typeface="IBM Plex Sans" panose="020B0503050203000203" pitchFamily="34" charset="0"/>
                        </a:rPr>
                        <a:t>Technical Description</a:t>
                      </a:r>
                      <a:endParaRPr lang="en-IN" sz="1200" b="1" i="0" u="none" strike="noStrike" dirty="0">
                        <a:solidFill>
                          <a:srgbClr val="FFFFFF"/>
                        </a:solidFill>
                        <a:effectLst/>
                        <a:latin typeface="IBM Plex Sans" panose="020B0503050203000203" pitchFamily="34" charset="0"/>
                      </a:endParaRPr>
                    </a:p>
                  </a:txBody>
                  <a:tcPr marL="0" marR="0" marT="0" marB="0" anchor="ctr">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08956512"/>
                  </a:ext>
                </a:extLst>
              </a:tr>
              <a:tr h="458182">
                <a:tc>
                  <a:txBody>
                    <a:bodyPr/>
                    <a:lstStyle/>
                    <a:p>
                      <a:pPr algn="l" fontAlgn="t">
                        <a:buNone/>
                      </a:pPr>
                      <a:r>
                        <a:rPr lang="en-IN" sz="1200" u="none" strike="noStrike" dirty="0">
                          <a:effectLst/>
                          <a:latin typeface="IBM Plex Sans" panose="020B0503050203000203" pitchFamily="34" charset="0"/>
                        </a:rPr>
                        <a:t>Identity</a:t>
                      </a:r>
                      <a:endParaRPr lang="en-IN" sz="1200" b="1"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200" u="none" strike="noStrike" dirty="0">
                          <a:effectLst/>
                          <a:latin typeface="IBM Plex Sans" panose="020B0503050203000203" pitchFamily="34" charset="0"/>
                        </a:rPr>
                        <a:t>Authorization Server - MSIL Entra AD</a:t>
                      </a:r>
                      <a:endParaRPr lang="en-IN" sz="1200" b="1"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200" u="none" strike="noStrike" dirty="0">
                          <a:effectLst/>
                          <a:latin typeface="IBM Plex Sans" panose="020B0503050203000203" pitchFamily="34" charset="0"/>
                        </a:rPr>
                        <a:t>Enterprise identity provider issuing tokens and managing SSO, group membership and access lifecycle for MSIL EPMP users.</a:t>
                      </a:r>
                      <a:endParaRPr lang="en-IN" sz="1200" b="0"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14558288"/>
                  </a:ext>
                </a:extLst>
              </a:tr>
              <a:tr h="458182">
                <a:tc>
                  <a:txBody>
                    <a:bodyPr/>
                    <a:lstStyle/>
                    <a:p>
                      <a:pPr algn="l" fontAlgn="t">
                        <a:buNone/>
                      </a:pPr>
                      <a:r>
                        <a:rPr lang="en-IN" sz="1200" u="none" strike="noStrike" dirty="0">
                          <a:effectLst/>
                          <a:latin typeface="IBM Plex Sans" panose="020B0503050203000203" pitchFamily="34" charset="0"/>
                        </a:rPr>
                        <a:t>Identity</a:t>
                      </a:r>
                      <a:endParaRPr lang="en-IN" sz="1200" b="1"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200" u="none" strike="noStrike" dirty="0">
                          <a:effectLst/>
                          <a:latin typeface="IBM Plex Sans" panose="020B0503050203000203" pitchFamily="34" charset="0"/>
                        </a:rPr>
                        <a:t>Authorization Server – MSIL Common Services </a:t>
                      </a:r>
                      <a:endParaRPr lang="en-IN" sz="1200" b="1"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200" u="none" strike="noStrike" dirty="0">
                          <a:effectLst/>
                          <a:latin typeface="IBM Plex Sans" panose="020B0503050203000203" pitchFamily="34" charset="0"/>
                        </a:rPr>
                        <a:t>Enterprise identity provider issuing tokens and managing SSO, group membership and access lifecycle for external users.</a:t>
                      </a:r>
                      <a:endParaRPr lang="en-IN" sz="1200" b="0"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10174039"/>
                  </a:ext>
                </a:extLst>
              </a:tr>
              <a:tr h="458182">
                <a:tc>
                  <a:txBody>
                    <a:bodyPr/>
                    <a:lstStyle/>
                    <a:p>
                      <a:pPr algn="l" fontAlgn="t">
                        <a:buNone/>
                      </a:pPr>
                      <a:r>
                        <a:rPr lang="en-IN" sz="1200" u="none" strike="noStrike" dirty="0">
                          <a:effectLst/>
                          <a:latin typeface="IBM Plex Sans" panose="020B0503050203000203" pitchFamily="34" charset="0"/>
                        </a:rPr>
                        <a:t>BFF</a:t>
                      </a:r>
                      <a:endParaRPr lang="en-IN" sz="1200" b="1"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200" u="none" strike="noStrike" dirty="0">
                          <a:effectLst/>
                          <a:latin typeface="IBM Plex Sans" panose="020B0503050203000203" pitchFamily="34" charset="0"/>
                        </a:rPr>
                        <a:t>Web BFF</a:t>
                      </a:r>
                      <a:endParaRPr lang="en-IN" sz="1200" b="1"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200" u="none" strike="noStrike" dirty="0">
                          <a:effectLst/>
                          <a:latin typeface="IBM Plex Sans" panose="020B0503050203000203" pitchFamily="34" charset="0"/>
                        </a:rPr>
                        <a:t>Client-specific backend that aggregates data for the web portal, reduces chatty calls and performs light response shaping for dashboards and screens.</a:t>
                      </a:r>
                      <a:endParaRPr lang="en-IN" sz="1200" b="0"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82822899"/>
                  </a:ext>
                </a:extLst>
              </a:tr>
              <a:tr h="458182">
                <a:tc>
                  <a:txBody>
                    <a:bodyPr/>
                    <a:lstStyle/>
                    <a:p>
                      <a:pPr algn="l" fontAlgn="t">
                        <a:buNone/>
                      </a:pPr>
                      <a:r>
                        <a:rPr lang="en-IN" sz="1200" u="none" strike="noStrike" dirty="0">
                          <a:effectLst/>
                          <a:latin typeface="IBM Plex Sans" panose="020B0503050203000203" pitchFamily="34" charset="0"/>
                        </a:rPr>
                        <a:t>BFF</a:t>
                      </a:r>
                      <a:endParaRPr lang="en-IN" sz="1200" b="1"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200" u="none" strike="noStrike">
                          <a:effectLst/>
                          <a:latin typeface="IBM Plex Sans" panose="020B0503050203000203" pitchFamily="34" charset="0"/>
                        </a:rPr>
                        <a:t>Mobile BFF</a:t>
                      </a:r>
                      <a:endParaRPr lang="en-IN" sz="1200" b="1" i="0" u="none" strike="noStrike">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200" u="none" strike="noStrike" dirty="0">
                          <a:effectLst/>
                          <a:latin typeface="IBM Plex Sans" panose="020B0503050203000203" pitchFamily="34" charset="0"/>
                        </a:rPr>
                        <a:t>Mobile-optimised backend exposing lean payloads, mobile-specific orchestration and channel-specific controls for latency and bandwidth efficiency.</a:t>
                      </a:r>
                      <a:endParaRPr lang="en-IN" sz="1200" b="0"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3309855"/>
                  </a:ext>
                </a:extLst>
              </a:tr>
              <a:tr h="458182">
                <a:tc>
                  <a:txBody>
                    <a:bodyPr/>
                    <a:lstStyle/>
                    <a:p>
                      <a:pPr algn="l" fontAlgn="t">
                        <a:buNone/>
                      </a:pPr>
                      <a:r>
                        <a:rPr lang="en-IN" sz="1100" u="none" strike="noStrike" dirty="0">
                          <a:effectLst/>
                          <a:latin typeface="IBM Plex Sans" panose="020B0503050203000203" pitchFamily="34" charset="0"/>
                        </a:rPr>
                        <a:t>Application</a:t>
                      </a:r>
                      <a:endParaRPr lang="en-IN" sz="1100" b="1"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100" u="none" strike="noStrike" dirty="0">
                          <a:effectLst/>
                          <a:latin typeface="IBM Plex Sans" panose="020B0503050203000203" pitchFamily="34" charset="0"/>
                        </a:rPr>
                        <a:t>Biz Microservices</a:t>
                      </a:r>
                      <a:endParaRPr lang="en-IN" sz="1100" b="1"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100" u="none" strike="noStrike" dirty="0">
                          <a:effectLst/>
                          <a:latin typeface="IBM Plex Sans" panose="020B0503050203000203" pitchFamily="34" charset="0"/>
                        </a:rPr>
                        <a:t>Core domain microservices implementing ideation, project initiation, WBS, execution, closure and related business capabilities. Own their business logic and service contracts.</a:t>
                      </a:r>
                      <a:endParaRPr lang="en-IN" sz="1100" b="0"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6846351"/>
                  </a:ext>
                </a:extLst>
              </a:tr>
              <a:tr h="458182">
                <a:tc>
                  <a:txBody>
                    <a:bodyPr/>
                    <a:lstStyle/>
                    <a:p>
                      <a:pPr algn="l" fontAlgn="t">
                        <a:buNone/>
                      </a:pPr>
                      <a:r>
                        <a:rPr lang="en-IN" sz="1100" u="none" strike="noStrike" dirty="0">
                          <a:effectLst/>
                          <a:latin typeface="IBM Plex Sans" panose="020B0503050203000203" pitchFamily="34" charset="0"/>
                        </a:rPr>
                        <a:t>Application</a:t>
                      </a:r>
                      <a:endParaRPr lang="en-IN" sz="1100" b="1"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100" u="none" strike="noStrike" dirty="0">
                          <a:effectLst/>
                          <a:latin typeface="IBM Plex Sans" panose="020B0503050203000203" pitchFamily="34" charset="0"/>
                        </a:rPr>
                        <a:t>Journey Orchestrator</a:t>
                      </a:r>
                      <a:endParaRPr lang="en-IN" sz="1100" b="1"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100" u="none" strike="noStrike" dirty="0">
                          <a:effectLst/>
                          <a:latin typeface="IBM Plex Sans" panose="020B0503050203000203" pitchFamily="34" charset="0"/>
                        </a:rPr>
                        <a:t>Coordinates long-running workflows such as campaign creation, WBS progression, approvals and closure using state management, retries and timeout handling.</a:t>
                      </a:r>
                      <a:endParaRPr lang="en-IN" sz="1100" b="0"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2005418"/>
                  </a:ext>
                </a:extLst>
              </a:tr>
              <a:tr h="458182">
                <a:tc>
                  <a:txBody>
                    <a:bodyPr/>
                    <a:lstStyle/>
                    <a:p>
                      <a:pPr algn="l" fontAlgn="t">
                        <a:buNone/>
                      </a:pPr>
                      <a:r>
                        <a:rPr lang="en-IN" sz="1100" u="none" strike="noStrike" dirty="0">
                          <a:effectLst/>
                          <a:latin typeface="IBM Plex Sans" panose="020B0503050203000203" pitchFamily="34" charset="0"/>
                        </a:rPr>
                        <a:t>Application</a:t>
                      </a:r>
                      <a:endParaRPr lang="en-IN" sz="1100" b="1"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100" u="none" strike="noStrike" dirty="0">
                          <a:effectLst/>
                          <a:latin typeface="IBM Plex Sans" panose="020B0503050203000203" pitchFamily="34" charset="0"/>
                        </a:rPr>
                        <a:t>AI Orchestrator</a:t>
                      </a:r>
                      <a:endParaRPr lang="en-IN" sz="1100" b="1"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100" u="none" strike="noStrike" dirty="0">
                          <a:effectLst/>
                          <a:latin typeface="IBM Plex Sans" panose="020B0503050203000203" pitchFamily="34" charset="0"/>
                        </a:rPr>
                        <a:t>Coordinates AI Agent workflows .</a:t>
                      </a:r>
                      <a:endParaRPr lang="en-IN" sz="1100" b="0"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07084705"/>
                  </a:ext>
                </a:extLst>
              </a:tr>
              <a:tr h="458182">
                <a:tc>
                  <a:txBody>
                    <a:bodyPr/>
                    <a:lstStyle/>
                    <a:p>
                      <a:pPr algn="l" fontAlgn="t">
                        <a:buNone/>
                      </a:pPr>
                      <a:r>
                        <a:rPr lang="en-IN" sz="1100" u="none" strike="noStrike" dirty="0">
                          <a:effectLst/>
                          <a:latin typeface="IBM Plex Sans" panose="020B0503050203000203" pitchFamily="34" charset="0"/>
                        </a:rPr>
                        <a:t>Application</a:t>
                      </a:r>
                      <a:endParaRPr lang="en-IN" sz="1100" b="1"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100" u="none" strike="noStrike" dirty="0">
                          <a:effectLst/>
                          <a:latin typeface="IBM Plex Sans" panose="020B0503050203000203" pitchFamily="34" charset="0"/>
                        </a:rPr>
                        <a:t>Rule Engine</a:t>
                      </a:r>
                      <a:endParaRPr lang="en-IN" sz="1100" b="1"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100" u="none" strike="noStrike" dirty="0">
                          <a:effectLst/>
                          <a:latin typeface="IBM Plex Sans" panose="020B0503050203000203" pitchFamily="34" charset="0"/>
                        </a:rPr>
                        <a:t>Executes configurable decision logic such as approval matrix, rules, validations and threshold-based policies. Should support admin-managed changes.</a:t>
                      </a:r>
                      <a:endParaRPr lang="en-IN" sz="1100" b="0"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75435630"/>
                  </a:ext>
                </a:extLst>
              </a:tr>
              <a:tr h="458182">
                <a:tc>
                  <a:txBody>
                    <a:bodyPr/>
                    <a:lstStyle/>
                    <a:p>
                      <a:pPr marL="0" algn="l" defTabSz="914400" rtl="0" eaLnBrk="1" fontAlgn="t" latinLnBrk="0" hangingPunct="1">
                        <a:buNone/>
                      </a:pPr>
                      <a:r>
                        <a:rPr lang="en-IN" sz="1100" u="none" strike="noStrike" kern="1200" dirty="0">
                          <a:solidFill>
                            <a:schemeClr val="tx1"/>
                          </a:solidFill>
                          <a:effectLst/>
                          <a:latin typeface="IBM Plex Sans" panose="020B0503050203000203" pitchFamily="34" charset="0"/>
                          <a:ea typeface="+mn-ea"/>
                          <a:cs typeface="+mn-cs"/>
                        </a:rPr>
                        <a:t>Application</a:t>
                      </a: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algn="l" defTabSz="914400" rtl="0" eaLnBrk="1" fontAlgn="t" latinLnBrk="0" hangingPunct="1">
                        <a:buNone/>
                      </a:pPr>
                      <a:r>
                        <a:rPr lang="en-IN" sz="1100" u="none" strike="noStrike" kern="1200" dirty="0">
                          <a:solidFill>
                            <a:schemeClr val="tx1"/>
                          </a:solidFill>
                          <a:effectLst/>
                          <a:latin typeface="IBM Plex Sans" panose="020B0503050203000203" pitchFamily="34" charset="0"/>
                          <a:ea typeface="+mn-ea"/>
                          <a:cs typeface="+mn-cs"/>
                        </a:rPr>
                        <a:t>Caching</a:t>
                      </a: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algn="l" defTabSz="914400" rtl="0" eaLnBrk="1" fontAlgn="t" latinLnBrk="0" hangingPunct="1">
                        <a:buNone/>
                      </a:pPr>
                      <a:r>
                        <a:rPr lang="en-IN" sz="1100" u="none" strike="noStrike" kern="1200" dirty="0">
                          <a:solidFill>
                            <a:schemeClr val="tx1"/>
                          </a:solidFill>
                          <a:effectLst/>
                          <a:latin typeface="IBM Plex Sans" panose="020B0503050203000203" pitchFamily="34" charset="0"/>
                          <a:ea typeface="+mn-ea"/>
                          <a:cs typeface="+mn-cs"/>
                        </a:rPr>
                        <a:t>In-memory cache for frequently accessed reference data, session-adjacent data, hot reads and derived responses to reduce latency and backend load.</a:t>
                      </a: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5330556"/>
                  </a:ext>
                </a:extLst>
              </a:tr>
              <a:tr h="458182">
                <a:tc>
                  <a:txBody>
                    <a:bodyPr/>
                    <a:lstStyle/>
                    <a:p>
                      <a:pPr algn="l" fontAlgn="t">
                        <a:buNone/>
                      </a:pPr>
                      <a:r>
                        <a:rPr lang="en-IN" sz="1100" u="none" strike="noStrike" dirty="0">
                          <a:effectLst/>
                          <a:latin typeface="IBM Plex Sans" panose="020B0503050203000203" pitchFamily="34" charset="0"/>
                        </a:rPr>
                        <a:t>Application</a:t>
                      </a:r>
                      <a:endParaRPr lang="en-IN" sz="1100" b="1"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100" u="none" strike="noStrike" dirty="0">
                          <a:effectLst/>
                          <a:latin typeface="IBM Plex Sans" panose="020B0503050203000203" pitchFamily="34" charset="0"/>
                        </a:rPr>
                        <a:t>Integration Microservices</a:t>
                      </a:r>
                      <a:endParaRPr lang="en-IN" sz="1100" b="1"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100" u="none" strike="noStrike" dirty="0">
                          <a:effectLst/>
                          <a:latin typeface="IBM Plex Sans" panose="020B0503050203000203" pitchFamily="34" charset="0"/>
                        </a:rPr>
                        <a:t>Anti-corruption services that isolate EPMP core from external systems through protocol conversion, mapping, retries and resilience controls.</a:t>
                      </a:r>
                      <a:endParaRPr lang="en-IN" sz="1100" b="0"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58333525"/>
                  </a:ext>
                </a:extLst>
              </a:tr>
            </a:tbl>
          </a:graphicData>
        </a:graphic>
      </p:graphicFrame>
      <p:sp>
        <p:nvSpPr>
          <p:cNvPr id="4" name="TextBox 3">
            <a:extLst>
              <a:ext uri="{FF2B5EF4-FFF2-40B4-BE49-F238E27FC236}">
                <a16:creationId xmlns:a16="http://schemas.microsoft.com/office/drawing/2014/main" id="{A2D267A2-AA0F-A0C7-B222-01C3BFD82645}"/>
              </a:ext>
            </a:extLst>
          </p:cNvPr>
          <p:cNvSpPr txBox="1"/>
          <p:nvPr/>
        </p:nvSpPr>
        <p:spPr>
          <a:xfrm>
            <a:off x="0" y="931569"/>
            <a:ext cx="2687444" cy="261610"/>
          </a:xfrm>
          <a:prstGeom prst="rect">
            <a:avLst/>
          </a:prstGeom>
          <a:noFill/>
        </p:spPr>
        <p:txBody>
          <a:bodyPr wrap="square" rtlCol="0">
            <a:spAutoFit/>
          </a:bodyPr>
          <a:lstStyle/>
          <a:p>
            <a:r>
              <a:rPr lang="en-US" sz="1100" dirty="0">
                <a:latin typeface="IBM Plex Sans" panose="020B0503050203000203" pitchFamily="34" charset="0"/>
              </a:rPr>
              <a:t>Component Descriptions</a:t>
            </a:r>
          </a:p>
        </p:txBody>
      </p:sp>
    </p:spTree>
    <p:extLst>
      <p:ext uri="{BB962C8B-B14F-4D97-AF65-F5344CB8AC3E}">
        <p14:creationId xmlns:p14="http://schemas.microsoft.com/office/powerpoint/2010/main" val="36155752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F261B67-8892-6312-201E-D39AE7BD1B9D}"/>
              </a:ext>
            </a:extLst>
          </p:cNvPr>
          <p:cNvSpPr>
            <a:spLocks noGrp="1"/>
          </p:cNvSpPr>
          <p:nvPr>
            <p:ph type="sldNum" sz="quarter" idx="12"/>
          </p:nvPr>
        </p:nvSpPr>
        <p:spPr/>
        <p:txBody>
          <a:bodyPr/>
          <a:lstStyle/>
          <a:p>
            <a:fld id="{682A9D49-871F-5640-BCE3-20634A9797B6}" type="slidenum">
              <a:rPr lang="en-US" smtClean="0"/>
              <a:t>11</a:t>
            </a:fld>
            <a:endParaRPr lang="en-US"/>
          </a:p>
        </p:txBody>
      </p:sp>
      <p:graphicFrame>
        <p:nvGraphicFramePr>
          <p:cNvPr id="3" name="Table 2">
            <a:extLst>
              <a:ext uri="{FF2B5EF4-FFF2-40B4-BE49-F238E27FC236}">
                <a16:creationId xmlns:a16="http://schemas.microsoft.com/office/drawing/2014/main" id="{C10FADF0-A5AE-6F2B-6D56-6E79D6C212AA}"/>
              </a:ext>
            </a:extLst>
          </p:cNvPr>
          <p:cNvGraphicFramePr>
            <a:graphicFrameLocks noGrp="1"/>
          </p:cNvGraphicFramePr>
          <p:nvPr>
            <p:extLst>
              <p:ext uri="{D42A27DB-BD31-4B8C-83A1-F6EECF244321}">
                <p14:modId xmlns:p14="http://schemas.microsoft.com/office/powerpoint/2010/main" val="3617704688"/>
              </p:ext>
            </p:extLst>
          </p:nvPr>
        </p:nvGraphicFramePr>
        <p:xfrm>
          <a:off x="119039" y="1229413"/>
          <a:ext cx="11520000" cy="5080275"/>
        </p:xfrm>
        <a:graphic>
          <a:graphicData uri="http://schemas.openxmlformats.org/drawingml/2006/table">
            <a:tbl>
              <a:tblPr firstRow="1" bandRow="1">
                <a:tableStyleId>{69012ECD-51FC-41F1-AA8D-1B2483CD663E}</a:tableStyleId>
              </a:tblPr>
              <a:tblGrid>
                <a:gridCol w="1309043">
                  <a:extLst>
                    <a:ext uri="{9D8B030D-6E8A-4147-A177-3AD203B41FA5}">
                      <a16:colId xmlns:a16="http://schemas.microsoft.com/office/drawing/2014/main" val="2599324594"/>
                    </a:ext>
                  </a:extLst>
                </a:gridCol>
                <a:gridCol w="2578641">
                  <a:extLst>
                    <a:ext uri="{9D8B030D-6E8A-4147-A177-3AD203B41FA5}">
                      <a16:colId xmlns:a16="http://schemas.microsoft.com/office/drawing/2014/main" val="3201611379"/>
                    </a:ext>
                  </a:extLst>
                </a:gridCol>
                <a:gridCol w="7632316">
                  <a:extLst>
                    <a:ext uri="{9D8B030D-6E8A-4147-A177-3AD203B41FA5}">
                      <a16:colId xmlns:a16="http://schemas.microsoft.com/office/drawing/2014/main" val="3062496666"/>
                    </a:ext>
                  </a:extLst>
                </a:gridCol>
              </a:tblGrid>
              <a:tr h="149951">
                <a:tc>
                  <a:txBody>
                    <a:bodyPr/>
                    <a:lstStyle/>
                    <a:p>
                      <a:pPr algn="ctr" fontAlgn="ctr">
                        <a:buNone/>
                      </a:pPr>
                      <a:r>
                        <a:rPr lang="en-IN" sz="1050" u="none" strike="noStrike" dirty="0">
                          <a:effectLst/>
                          <a:latin typeface="IBM Plex Sans" panose="020B0503050203000203" pitchFamily="34" charset="0"/>
                        </a:rPr>
                        <a:t>Layer</a:t>
                      </a:r>
                      <a:endParaRPr lang="en-IN" sz="1050" b="1" i="0" u="none" strike="noStrike" dirty="0">
                        <a:solidFill>
                          <a:srgbClr val="FFFFFF"/>
                        </a:solidFill>
                        <a:effectLst/>
                        <a:latin typeface="IBM Plex Sans" panose="020B0503050203000203" pitchFamily="34" charset="0"/>
                      </a:endParaRPr>
                    </a:p>
                  </a:txBody>
                  <a:tcPr marL="0" marR="0" marT="0" marB="0" anchor="ctr">
                    <a:lnB w="3175" cap="flat" cmpd="sng" algn="ctr">
                      <a:solidFill>
                        <a:schemeClr val="tx1"/>
                      </a:solidFill>
                      <a:prstDash val="solid"/>
                      <a:round/>
                      <a:headEnd type="none" w="med" len="med"/>
                      <a:tailEnd type="none" w="med" len="med"/>
                    </a:lnB>
                  </a:tcPr>
                </a:tc>
                <a:tc>
                  <a:txBody>
                    <a:bodyPr/>
                    <a:lstStyle/>
                    <a:p>
                      <a:pPr algn="ctr" fontAlgn="ctr">
                        <a:buNone/>
                      </a:pPr>
                      <a:r>
                        <a:rPr lang="en-IN" sz="1050" u="none" strike="noStrike" dirty="0">
                          <a:effectLst/>
                          <a:latin typeface="IBM Plex Sans" panose="020B0503050203000203" pitchFamily="34" charset="0"/>
                        </a:rPr>
                        <a:t>Component</a:t>
                      </a:r>
                      <a:endParaRPr lang="en-IN" sz="1050" b="1" i="0" u="none" strike="noStrike" dirty="0">
                        <a:solidFill>
                          <a:srgbClr val="FFFFFF"/>
                        </a:solidFill>
                        <a:effectLst/>
                        <a:latin typeface="IBM Plex Sans" panose="020B0503050203000203" pitchFamily="34" charset="0"/>
                      </a:endParaRPr>
                    </a:p>
                  </a:txBody>
                  <a:tcPr marL="0" marR="0" marT="0" marB="0" anchor="ctr">
                    <a:lnB w="3175" cap="flat" cmpd="sng" algn="ctr">
                      <a:solidFill>
                        <a:schemeClr val="tx1"/>
                      </a:solidFill>
                      <a:prstDash val="solid"/>
                      <a:round/>
                      <a:headEnd type="none" w="med" len="med"/>
                      <a:tailEnd type="none" w="med" len="med"/>
                    </a:lnB>
                  </a:tcPr>
                </a:tc>
                <a:tc>
                  <a:txBody>
                    <a:bodyPr/>
                    <a:lstStyle/>
                    <a:p>
                      <a:pPr algn="ctr" fontAlgn="ctr">
                        <a:buNone/>
                      </a:pPr>
                      <a:r>
                        <a:rPr lang="en-IN" sz="1050" u="none" strike="noStrike" dirty="0">
                          <a:effectLst/>
                          <a:latin typeface="IBM Plex Sans" panose="020B0503050203000203" pitchFamily="34" charset="0"/>
                        </a:rPr>
                        <a:t>Technical Description</a:t>
                      </a:r>
                      <a:endParaRPr lang="en-IN" sz="1050" b="1" i="0" u="none" strike="noStrike" dirty="0">
                        <a:solidFill>
                          <a:srgbClr val="FFFFFF"/>
                        </a:solidFill>
                        <a:effectLst/>
                        <a:latin typeface="IBM Plex Sans" panose="020B0503050203000203" pitchFamily="34" charset="0"/>
                      </a:endParaRPr>
                    </a:p>
                  </a:txBody>
                  <a:tcPr marL="0" marR="0" marT="0" marB="0" anchor="ctr">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1176588"/>
                  </a:ext>
                </a:extLst>
              </a:tr>
              <a:tr h="392325">
                <a:tc>
                  <a:txBody>
                    <a:bodyPr/>
                    <a:lstStyle/>
                    <a:p>
                      <a:pPr algn="l" fontAlgn="t">
                        <a:buNone/>
                      </a:pPr>
                      <a:r>
                        <a:rPr lang="en-IN" sz="1100" u="none" strike="noStrike" dirty="0">
                          <a:effectLst/>
                          <a:latin typeface="IBM Plex Sans" panose="020B0503050203000203" pitchFamily="34" charset="0"/>
                        </a:rPr>
                        <a:t>Data / Analytics</a:t>
                      </a:r>
                      <a:endParaRPr lang="en-IN" sz="1100" b="1"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100" u="none" strike="noStrike" dirty="0">
                          <a:effectLst/>
                          <a:latin typeface="IBM Plex Sans" panose="020B0503050203000203" pitchFamily="34" charset="0"/>
                        </a:rPr>
                        <a:t>BI Dashboard and Reporting</a:t>
                      </a:r>
                      <a:endParaRPr lang="en-IN" sz="1100" b="1"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50" u="none" strike="noStrike" dirty="0">
                          <a:effectLst/>
                          <a:latin typeface="IBM Plex Sans" panose="020B0503050203000203" pitchFamily="34" charset="0"/>
                        </a:rPr>
                        <a:t>Provides MIS, KPI dashboards, portfolio reporting and executive decision-making. </a:t>
                      </a:r>
                      <a:endParaRPr lang="en-IN" sz="1050" b="0"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1863989"/>
                  </a:ext>
                </a:extLst>
              </a:tr>
              <a:tr h="404787">
                <a:tc>
                  <a:txBody>
                    <a:bodyPr/>
                    <a:lstStyle/>
                    <a:p>
                      <a:pPr algn="l" fontAlgn="t">
                        <a:buNone/>
                      </a:pPr>
                      <a:r>
                        <a:rPr lang="en-IN" sz="1100" u="none" strike="noStrike" dirty="0">
                          <a:effectLst/>
                          <a:latin typeface="IBM Plex Sans" panose="020B0503050203000203" pitchFamily="34" charset="0"/>
                        </a:rPr>
                        <a:t>Data / Analytics</a:t>
                      </a:r>
                      <a:endParaRPr lang="en-IN" sz="1100" b="1"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100" u="none" strike="noStrike" dirty="0">
                          <a:effectLst/>
                          <a:latin typeface="IBM Plex Sans" panose="020B0503050203000203" pitchFamily="34" charset="0"/>
                        </a:rPr>
                        <a:t>Enterprise Data Platform</a:t>
                      </a:r>
                      <a:endParaRPr lang="en-IN" sz="1100" b="1"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50" u="none" strike="noStrike" dirty="0">
                          <a:effectLst/>
                          <a:latin typeface="IBM Plex Sans" panose="020B0503050203000203" pitchFamily="34" charset="0"/>
                        </a:rPr>
                        <a:t>Separates analytical consumption from transactional workload.</a:t>
                      </a:r>
                      <a:endParaRPr lang="en-IN" sz="1050" b="0"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55476629"/>
                  </a:ext>
                </a:extLst>
              </a:tr>
              <a:tr h="449852">
                <a:tc>
                  <a:txBody>
                    <a:bodyPr/>
                    <a:lstStyle/>
                    <a:p>
                      <a:pPr algn="l" fontAlgn="t">
                        <a:buNone/>
                      </a:pPr>
                      <a:r>
                        <a:rPr lang="en-IN" sz="1100" u="none" strike="noStrike" dirty="0">
                          <a:effectLst/>
                          <a:latin typeface="IBM Plex Sans" panose="020B0503050203000203" pitchFamily="34" charset="0"/>
                        </a:rPr>
                        <a:t>Data / Content</a:t>
                      </a:r>
                      <a:endParaRPr lang="en-IN" sz="1100" b="1"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100" u="none" strike="noStrike" dirty="0">
                          <a:effectLst/>
                          <a:latin typeface="IBM Plex Sans" panose="020B0503050203000203" pitchFamily="34" charset="0"/>
                        </a:rPr>
                        <a:t>Document Repository</a:t>
                      </a:r>
                      <a:endParaRPr lang="en-IN" sz="1100" b="1"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50" u="none" strike="noStrike" dirty="0">
                          <a:effectLst/>
                          <a:latin typeface="IBM Plex Sans" panose="020B0503050203000203" pitchFamily="34" charset="0"/>
                        </a:rPr>
                        <a:t>Stores project artefacts, supporting documents, evidence and attachments with controlled access, metadata and retrieval support. ECM ( </a:t>
                      </a:r>
                      <a:r>
                        <a:rPr lang="en-IN" sz="1050" u="none" strike="noStrike" dirty="0" err="1">
                          <a:effectLst/>
                          <a:latin typeface="IBM Plex Sans" panose="020B0503050203000203" pitchFamily="34" charset="0"/>
                        </a:rPr>
                        <a:t>Opentext</a:t>
                      </a:r>
                      <a:r>
                        <a:rPr lang="en-IN" sz="1050" u="none" strike="noStrike" dirty="0">
                          <a:effectLst/>
                          <a:latin typeface="IBM Plex Sans" panose="020B0503050203000203" pitchFamily="34" charset="0"/>
                        </a:rPr>
                        <a:t>) will be used to store documents. ECM is deployed MISIL on premises and presently being authenticated with MSIL Entra ID.</a:t>
                      </a:r>
                      <a:endParaRPr lang="en-IN" sz="1050" b="0"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87706293"/>
                  </a:ext>
                </a:extLst>
              </a:tr>
              <a:tr h="404787">
                <a:tc>
                  <a:txBody>
                    <a:bodyPr/>
                    <a:lstStyle/>
                    <a:p>
                      <a:pPr algn="l" fontAlgn="t">
                        <a:buNone/>
                      </a:pPr>
                      <a:r>
                        <a:rPr lang="en-IN" sz="1100" u="none" strike="noStrike" dirty="0">
                          <a:effectLst/>
                          <a:latin typeface="IBM Plex Sans" panose="020B0503050203000203" pitchFamily="34" charset="0"/>
                        </a:rPr>
                        <a:t>Data</a:t>
                      </a:r>
                      <a:endParaRPr lang="en-IN" sz="1100" b="1"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100" u="none" strike="noStrike" dirty="0">
                          <a:effectLst/>
                          <a:latin typeface="IBM Plex Sans" panose="020B0503050203000203" pitchFamily="34" charset="0"/>
                        </a:rPr>
                        <a:t>RDBMS</a:t>
                      </a:r>
                      <a:endParaRPr lang="en-IN" sz="1100" b="1"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50" u="none" strike="noStrike" dirty="0">
                          <a:effectLst/>
                          <a:latin typeface="IBM Plex Sans" panose="020B0503050203000203" pitchFamily="34" charset="0"/>
                        </a:rPr>
                        <a:t>Relational system of record for structured transactional data such as projects, tasks, approvals, master data references and audit-linked entities.</a:t>
                      </a:r>
                      <a:endParaRPr lang="en-IN" sz="1050" b="0"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9559903"/>
                  </a:ext>
                </a:extLst>
              </a:tr>
              <a:tr h="404787">
                <a:tc>
                  <a:txBody>
                    <a:bodyPr/>
                    <a:lstStyle/>
                    <a:p>
                      <a:pPr algn="l" fontAlgn="t">
                        <a:buNone/>
                      </a:pPr>
                      <a:r>
                        <a:rPr lang="en-IN" sz="1100" u="none" strike="noStrike" dirty="0">
                          <a:effectLst/>
                          <a:latin typeface="IBM Plex Sans" panose="020B0503050203000203" pitchFamily="34" charset="0"/>
                        </a:rPr>
                        <a:t>Data</a:t>
                      </a:r>
                      <a:endParaRPr lang="en-IN" sz="1100" b="1"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100" u="none" strike="noStrike" dirty="0">
                          <a:effectLst/>
                          <a:latin typeface="IBM Plex Sans" panose="020B0503050203000203" pitchFamily="34" charset="0"/>
                        </a:rPr>
                        <a:t>NoSQL</a:t>
                      </a:r>
                      <a:endParaRPr lang="en-IN" sz="1100" b="1"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50" u="none" strike="noStrike" dirty="0">
                          <a:effectLst/>
                          <a:latin typeface="IBM Plex Sans" panose="020B0503050203000203" pitchFamily="34" charset="0"/>
                        </a:rPr>
                        <a:t>Schema-flexible store for high-volume metadata, activity streams, de-normalised views, session-like data or selective event-driven materialisations and logging data.</a:t>
                      </a:r>
                      <a:endParaRPr lang="en-IN" sz="1050" b="0"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86813219"/>
                  </a:ext>
                </a:extLst>
              </a:tr>
              <a:tr h="404787">
                <a:tc>
                  <a:txBody>
                    <a:bodyPr/>
                    <a:lstStyle/>
                    <a:p>
                      <a:pPr algn="l" fontAlgn="t">
                        <a:buNone/>
                      </a:pPr>
                      <a:r>
                        <a:rPr lang="en-IN" sz="1100" u="none" strike="noStrike" dirty="0">
                          <a:effectLst/>
                          <a:latin typeface="IBM Plex Sans" panose="020B0503050203000203" pitchFamily="34" charset="0"/>
                        </a:rPr>
                        <a:t>Data</a:t>
                      </a:r>
                      <a:endParaRPr lang="en-IN" sz="1100" b="1"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100" u="none" strike="noStrike" dirty="0">
                          <a:effectLst/>
                          <a:latin typeface="IBM Plex Sans" panose="020B0503050203000203" pitchFamily="34" charset="0"/>
                        </a:rPr>
                        <a:t>Search Service</a:t>
                      </a:r>
                      <a:endParaRPr lang="en-IN" sz="1100" b="1"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50" u="none" strike="noStrike" dirty="0">
                          <a:effectLst/>
                          <a:latin typeface="IBM Plex Sans" panose="020B0503050203000203" pitchFamily="34" charset="0"/>
                        </a:rPr>
                        <a:t>Indexing and query service enabling fast full-text search, faceting, filters and relevance-based retrieval across projects, WBS, documents and metadata.</a:t>
                      </a:r>
                      <a:endParaRPr lang="en-IN" sz="1050" b="0"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95367936"/>
                  </a:ext>
                </a:extLst>
              </a:tr>
              <a:tr h="404787">
                <a:tc>
                  <a:txBody>
                    <a:bodyPr/>
                    <a:lstStyle/>
                    <a:p>
                      <a:pPr algn="l" fontAlgn="t">
                        <a:buNone/>
                      </a:pPr>
                      <a:r>
                        <a:rPr lang="en-IN" sz="1100" u="none" strike="noStrike" dirty="0">
                          <a:effectLst/>
                          <a:latin typeface="IBM Plex Sans" panose="020B0503050203000203" pitchFamily="34" charset="0"/>
                        </a:rPr>
                        <a:t>Integration</a:t>
                      </a:r>
                      <a:endParaRPr lang="en-IN" sz="1100" b="1"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100" u="none" strike="noStrike" dirty="0">
                          <a:effectLst/>
                          <a:latin typeface="IBM Plex Sans" panose="020B0503050203000203" pitchFamily="34" charset="0"/>
                        </a:rPr>
                        <a:t>Event Messaging Platform</a:t>
                      </a:r>
                      <a:endParaRPr lang="en-IN" sz="1100" b="1"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50" u="none" strike="noStrike" dirty="0">
                          <a:effectLst/>
                          <a:latin typeface="IBM Plex Sans" panose="020B0503050203000203" pitchFamily="34" charset="0"/>
                        </a:rPr>
                        <a:t>Provides asynchronous communication backbone for system events, decoupled processing, notifications and integration triggers.</a:t>
                      </a:r>
                      <a:endParaRPr lang="en-IN" sz="1050" b="0"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40734336"/>
                  </a:ext>
                </a:extLst>
              </a:tr>
              <a:tr h="404787">
                <a:tc>
                  <a:txBody>
                    <a:bodyPr/>
                    <a:lstStyle/>
                    <a:p>
                      <a:pPr marL="0" algn="l" defTabSz="914400" rtl="0" eaLnBrk="1" fontAlgn="t" latinLnBrk="0" hangingPunct="1">
                        <a:buNone/>
                      </a:pPr>
                      <a:r>
                        <a:rPr lang="en-IN" sz="1100" u="none" strike="noStrike" kern="1200" dirty="0">
                          <a:solidFill>
                            <a:schemeClr val="tx1"/>
                          </a:solidFill>
                          <a:effectLst/>
                          <a:latin typeface="IBM Plex Sans" panose="020B0503050203000203" pitchFamily="34" charset="0"/>
                          <a:ea typeface="+mn-ea"/>
                          <a:cs typeface="+mn-cs"/>
                        </a:rPr>
                        <a:t>Gen AI</a:t>
                      </a:r>
                    </a:p>
                  </a:txBody>
                  <a:tcPr marL="9525" marR="9525" marT="952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algn="l" defTabSz="914400" rtl="0" eaLnBrk="1" fontAlgn="t" latinLnBrk="0" hangingPunct="1">
                        <a:buNone/>
                      </a:pPr>
                      <a:r>
                        <a:rPr lang="en-IN" sz="1100" u="none" strike="noStrike" kern="1200" dirty="0">
                          <a:solidFill>
                            <a:schemeClr val="tx1"/>
                          </a:solidFill>
                          <a:effectLst/>
                          <a:latin typeface="IBM Plex Sans" panose="020B0503050203000203" pitchFamily="34" charset="0"/>
                          <a:ea typeface="+mn-ea"/>
                          <a:cs typeface="+mn-cs"/>
                        </a:rPr>
                        <a:t>AI Orchestrator</a:t>
                      </a:r>
                    </a:p>
                  </a:txBody>
                  <a:tcPr marL="9525" marR="9525" marT="952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algn="l" defTabSz="914400" rtl="0" eaLnBrk="1" fontAlgn="t" latinLnBrk="0" hangingPunct="1">
                        <a:buNone/>
                      </a:pPr>
                      <a:r>
                        <a:rPr lang="en-IN" sz="1050" u="none" strike="noStrike" kern="1200">
                          <a:solidFill>
                            <a:schemeClr val="tx1"/>
                          </a:solidFill>
                          <a:effectLst/>
                          <a:latin typeface="IBM Plex Sans" panose="020B0503050203000203" pitchFamily="34" charset="0"/>
                          <a:ea typeface="+mn-ea"/>
                          <a:cs typeface="+mn-cs"/>
                        </a:rPr>
                        <a:t>Coordinates GenAI workflows by routing requests, invoking appropriate models/agents, and managing multi-step reasoning or tool execution.</a:t>
                      </a:r>
                    </a:p>
                  </a:txBody>
                  <a:tcPr marL="9525" marR="9525" marT="952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8809300"/>
                  </a:ext>
                </a:extLst>
              </a:tr>
              <a:tr h="404787">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IN" sz="1100" u="none" strike="noStrike" kern="1200" noProof="0">
                          <a:solidFill>
                            <a:schemeClr val="tx1"/>
                          </a:solidFill>
                          <a:effectLst/>
                          <a:latin typeface="IBM Plex Sans" panose="020B0503050203000203" pitchFamily="34" charset="0"/>
                          <a:ea typeface="+mn-ea"/>
                          <a:cs typeface="+mn-cs"/>
                        </a:rPr>
                        <a:t>Gen AI</a:t>
                      </a:r>
                      <a:endParaRPr lang="en-IN" sz="1100" u="none" strike="noStrike" kern="1200" noProof="0" dirty="0">
                        <a:solidFill>
                          <a:schemeClr val="tx1"/>
                        </a:solidFill>
                        <a:effectLst/>
                        <a:latin typeface="IBM Plex Sans" panose="020B0503050203000203" pitchFamily="34" charset="0"/>
                        <a:ea typeface="+mn-ea"/>
                        <a:cs typeface="+mn-cs"/>
                      </a:endParaRPr>
                    </a:p>
                  </a:txBody>
                  <a:tcPr marL="9525" marR="9525" marT="952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algn="l" defTabSz="914400" rtl="0" eaLnBrk="1" fontAlgn="t" latinLnBrk="0" hangingPunct="1">
                        <a:buNone/>
                      </a:pPr>
                      <a:r>
                        <a:rPr lang="en-IN" sz="1100" u="none" strike="noStrike" kern="1200" dirty="0">
                          <a:solidFill>
                            <a:schemeClr val="tx1"/>
                          </a:solidFill>
                          <a:effectLst/>
                          <a:latin typeface="IBM Plex Sans" panose="020B0503050203000203" pitchFamily="34" charset="0"/>
                          <a:ea typeface="+mn-ea"/>
                          <a:cs typeface="+mn-cs"/>
                        </a:rPr>
                        <a:t>Persona-Based Agents</a:t>
                      </a:r>
                    </a:p>
                  </a:txBody>
                  <a:tcPr marL="9525" marR="9525" marT="952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algn="l" defTabSz="914400" rtl="0" eaLnBrk="1" fontAlgn="t" latinLnBrk="0" hangingPunct="1">
                        <a:buNone/>
                      </a:pPr>
                      <a:r>
                        <a:rPr lang="en-IN" sz="1050" u="none" strike="noStrike" kern="1200" dirty="0">
                          <a:solidFill>
                            <a:schemeClr val="tx1"/>
                          </a:solidFill>
                          <a:effectLst/>
                          <a:latin typeface="IBM Plex Sans" panose="020B0503050203000203" pitchFamily="34" charset="0"/>
                          <a:ea typeface="+mn-ea"/>
                          <a:cs typeface="+mn-cs"/>
                        </a:rPr>
                        <a:t>Task-specific AI agents aligned to user roles (e.g., PM, </a:t>
                      </a:r>
                      <a:r>
                        <a:rPr lang="en-IN" sz="1050" u="none" strike="noStrike" kern="1200" dirty="0" err="1">
                          <a:solidFill>
                            <a:schemeClr val="tx1"/>
                          </a:solidFill>
                          <a:effectLst/>
                          <a:latin typeface="IBM Plex Sans" panose="020B0503050203000203" pitchFamily="34" charset="0"/>
                          <a:ea typeface="+mn-ea"/>
                          <a:cs typeface="+mn-cs"/>
                        </a:rPr>
                        <a:t>CoE</a:t>
                      </a:r>
                      <a:r>
                        <a:rPr lang="en-IN" sz="1050" u="none" strike="noStrike" kern="1200" dirty="0">
                          <a:solidFill>
                            <a:schemeClr val="tx1"/>
                          </a:solidFill>
                          <a:effectLst/>
                          <a:latin typeface="IBM Plex Sans" panose="020B0503050203000203" pitchFamily="34" charset="0"/>
                          <a:ea typeface="+mn-ea"/>
                          <a:cs typeface="+mn-cs"/>
                        </a:rPr>
                        <a:t> Head) that execute contextual actions, reasoning, and decision support within EPMS workflows.</a:t>
                      </a:r>
                    </a:p>
                  </a:txBody>
                  <a:tcPr marL="9525" marR="9525" marT="952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90062967"/>
                  </a:ext>
                </a:extLst>
              </a:tr>
              <a:tr h="404787">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IN" sz="1100" u="none" strike="noStrike" kern="1200" noProof="0">
                          <a:solidFill>
                            <a:schemeClr val="tx1"/>
                          </a:solidFill>
                          <a:effectLst/>
                          <a:latin typeface="IBM Plex Sans" panose="020B0503050203000203" pitchFamily="34" charset="0"/>
                          <a:ea typeface="+mn-ea"/>
                          <a:cs typeface="+mn-cs"/>
                        </a:rPr>
                        <a:t>Gen AI</a:t>
                      </a:r>
                      <a:endParaRPr lang="en-IN" sz="1100" u="none" strike="noStrike" kern="1200" noProof="0" dirty="0">
                        <a:solidFill>
                          <a:schemeClr val="tx1"/>
                        </a:solidFill>
                        <a:effectLst/>
                        <a:latin typeface="IBM Plex Sans" panose="020B0503050203000203" pitchFamily="34" charset="0"/>
                        <a:ea typeface="+mn-ea"/>
                        <a:cs typeface="+mn-cs"/>
                      </a:endParaRPr>
                    </a:p>
                  </a:txBody>
                  <a:tcPr marL="9525" marR="9525" marT="952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algn="l" defTabSz="914400" rtl="0" eaLnBrk="1" fontAlgn="t" latinLnBrk="0" hangingPunct="1">
                        <a:buNone/>
                      </a:pPr>
                      <a:r>
                        <a:rPr lang="en-IN" sz="1100" u="none" strike="noStrike" kern="1200" dirty="0">
                          <a:solidFill>
                            <a:schemeClr val="tx1"/>
                          </a:solidFill>
                          <a:effectLst/>
                          <a:latin typeface="IBM Plex Sans" panose="020B0503050203000203" pitchFamily="34" charset="0"/>
                          <a:ea typeface="+mn-ea"/>
                          <a:cs typeface="+mn-cs"/>
                        </a:rPr>
                        <a:t>LLM (Large Language Model)</a:t>
                      </a:r>
                    </a:p>
                  </a:txBody>
                  <a:tcPr marL="9525" marR="9525" marT="952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algn="l" defTabSz="914400" rtl="0" eaLnBrk="1" fontAlgn="t" latinLnBrk="0" hangingPunct="1">
                        <a:buNone/>
                      </a:pPr>
                      <a:r>
                        <a:rPr lang="en-IN" sz="1050" u="none" strike="noStrike" kern="1200" dirty="0">
                          <a:solidFill>
                            <a:schemeClr val="tx1"/>
                          </a:solidFill>
                          <a:effectLst/>
                          <a:latin typeface="IBM Plex Sans" panose="020B0503050203000203" pitchFamily="34" charset="0"/>
                          <a:ea typeface="+mn-ea"/>
                          <a:cs typeface="+mn-cs"/>
                        </a:rPr>
                        <a:t>Core AI model that processes natural language, generates responses, and performs reasoning based on prompts and contextual inputs.</a:t>
                      </a:r>
                    </a:p>
                  </a:txBody>
                  <a:tcPr marL="9525" marR="9525" marT="952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1231976"/>
                  </a:ext>
                </a:extLst>
              </a:tr>
              <a:tr h="404787">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IN" sz="1100" u="none" strike="noStrike" kern="1200" noProof="0">
                          <a:solidFill>
                            <a:schemeClr val="tx1"/>
                          </a:solidFill>
                          <a:effectLst/>
                          <a:latin typeface="IBM Plex Sans" panose="020B0503050203000203" pitchFamily="34" charset="0"/>
                          <a:ea typeface="+mn-ea"/>
                          <a:cs typeface="+mn-cs"/>
                        </a:rPr>
                        <a:t>Gen AI</a:t>
                      </a:r>
                      <a:endParaRPr lang="en-IN" sz="1100" u="none" strike="noStrike" kern="1200" noProof="0" dirty="0">
                        <a:solidFill>
                          <a:schemeClr val="tx1"/>
                        </a:solidFill>
                        <a:effectLst/>
                        <a:latin typeface="IBM Plex Sans" panose="020B0503050203000203" pitchFamily="34" charset="0"/>
                        <a:ea typeface="+mn-ea"/>
                        <a:cs typeface="+mn-cs"/>
                      </a:endParaRPr>
                    </a:p>
                  </a:txBody>
                  <a:tcPr marL="9525" marR="9525" marT="952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algn="l" defTabSz="914400" rtl="0" eaLnBrk="1" fontAlgn="t" latinLnBrk="0" hangingPunct="1">
                        <a:buNone/>
                      </a:pPr>
                      <a:r>
                        <a:rPr lang="en-IN" sz="1100" u="none" strike="noStrike" kern="1200" dirty="0">
                          <a:solidFill>
                            <a:schemeClr val="tx1"/>
                          </a:solidFill>
                          <a:effectLst/>
                          <a:latin typeface="IBM Plex Sans" panose="020B0503050203000203" pitchFamily="34" charset="0"/>
                          <a:ea typeface="+mn-ea"/>
                          <a:cs typeface="+mn-cs"/>
                        </a:rPr>
                        <a:t>Vector Database</a:t>
                      </a:r>
                    </a:p>
                  </a:txBody>
                  <a:tcPr marL="9525" marR="9525" marT="952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algn="l" defTabSz="914400" rtl="0" eaLnBrk="1" fontAlgn="t" latinLnBrk="0" hangingPunct="1">
                        <a:buNone/>
                      </a:pPr>
                      <a:r>
                        <a:rPr lang="en-IN" sz="1050" u="none" strike="noStrike" kern="1200" dirty="0">
                          <a:solidFill>
                            <a:schemeClr val="tx1"/>
                          </a:solidFill>
                          <a:effectLst/>
                          <a:latin typeface="IBM Plex Sans" panose="020B0503050203000203" pitchFamily="34" charset="0"/>
                          <a:ea typeface="+mn-ea"/>
                          <a:cs typeface="+mn-cs"/>
                        </a:rPr>
                        <a:t>Stores embeddings of EPMS data to enable semantic search, retrieval-augmented generation (RAG), and context-aware AI responses.</a:t>
                      </a:r>
                    </a:p>
                  </a:txBody>
                  <a:tcPr marL="9525" marR="9525" marT="952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4001443"/>
                  </a:ext>
                </a:extLst>
              </a:tr>
              <a:tr h="404787">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IN" sz="1100" u="none" strike="noStrike" kern="1200" noProof="0" dirty="0">
                          <a:solidFill>
                            <a:schemeClr val="tx1"/>
                          </a:solidFill>
                          <a:effectLst/>
                          <a:latin typeface="IBM Plex Sans" panose="020B0503050203000203" pitchFamily="34" charset="0"/>
                          <a:ea typeface="+mn-ea"/>
                          <a:cs typeface="+mn-cs"/>
                        </a:rPr>
                        <a:t>Gen AI</a:t>
                      </a:r>
                    </a:p>
                  </a:txBody>
                  <a:tcPr marL="9525" marR="9525" marT="952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algn="l" defTabSz="914400" rtl="0" eaLnBrk="1" fontAlgn="t" latinLnBrk="0" hangingPunct="1">
                        <a:buNone/>
                      </a:pPr>
                      <a:r>
                        <a:rPr lang="en-IN" sz="1100" u="none" strike="noStrike" kern="1200" dirty="0">
                          <a:solidFill>
                            <a:schemeClr val="tx1"/>
                          </a:solidFill>
                          <a:effectLst/>
                          <a:latin typeface="IBM Plex Sans" panose="020B0503050203000203" pitchFamily="34" charset="0"/>
                          <a:ea typeface="+mn-ea"/>
                          <a:cs typeface="+mn-cs"/>
                        </a:rPr>
                        <a:t>GenAI Platform</a:t>
                      </a:r>
                    </a:p>
                  </a:txBody>
                  <a:tcPr marL="9525" marR="9525" marT="952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algn="l" defTabSz="914400" rtl="0" eaLnBrk="1" fontAlgn="t" latinLnBrk="0" hangingPunct="1">
                        <a:buNone/>
                      </a:pPr>
                      <a:r>
                        <a:rPr lang="en-IN" sz="1050" u="none" strike="noStrike" kern="1200" dirty="0">
                          <a:solidFill>
                            <a:schemeClr val="tx1"/>
                          </a:solidFill>
                          <a:effectLst/>
                          <a:latin typeface="IBM Plex Sans" panose="020B0503050203000203" pitchFamily="34" charset="0"/>
                          <a:ea typeface="+mn-ea"/>
                          <a:cs typeface="+mn-cs"/>
                        </a:rPr>
                        <a:t>Provides foundational capabilities for model hosting, prompt management, guardrails, monitoring, and integration of AI services within EPMS.</a:t>
                      </a:r>
                    </a:p>
                  </a:txBody>
                  <a:tcPr marL="9525" marR="9525" marT="952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30796605"/>
                  </a:ext>
                </a:extLst>
              </a:tr>
            </a:tbl>
          </a:graphicData>
        </a:graphic>
      </p:graphicFrame>
      <p:sp>
        <p:nvSpPr>
          <p:cNvPr id="4" name="TextBox 3">
            <a:extLst>
              <a:ext uri="{FF2B5EF4-FFF2-40B4-BE49-F238E27FC236}">
                <a16:creationId xmlns:a16="http://schemas.microsoft.com/office/drawing/2014/main" id="{087C9361-8193-E915-590B-019143D7F1F9}"/>
              </a:ext>
            </a:extLst>
          </p:cNvPr>
          <p:cNvSpPr txBox="1"/>
          <p:nvPr/>
        </p:nvSpPr>
        <p:spPr>
          <a:xfrm>
            <a:off x="0" y="931569"/>
            <a:ext cx="2687444" cy="261610"/>
          </a:xfrm>
          <a:prstGeom prst="rect">
            <a:avLst/>
          </a:prstGeom>
          <a:noFill/>
        </p:spPr>
        <p:txBody>
          <a:bodyPr wrap="square" rtlCol="0">
            <a:spAutoFit/>
          </a:bodyPr>
          <a:lstStyle/>
          <a:p>
            <a:r>
              <a:rPr lang="en-US" sz="1100" dirty="0">
                <a:latin typeface="IBM Plex Sans" panose="020B0503050203000203" pitchFamily="34" charset="0"/>
              </a:rPr>
              <a:t>Component Descriptions</a:t>
            </a:r>
          </a:p>
        </p:txBody>
      </p:sp>
    </p:spTree>
    <p:extLst>
      <p:ext uri="{BB962C8B-B14F-4D97-AF65-F5344CB8AC3E}">
        <p14:creationId xmlns:p14="http://schemas.microsoft.com/office/powerpoint/2010/main" val="33186607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F53E386-F81C-0CC2-B00F-CCDFA3695308}"/>
              </a:ext>
            </a:extLst>
          </p:cNvPr>
          <p:cNvSpPr>
            <a:spLocks noGrp="1"/>
          </p:cNvSpPr>
          <p:nvPr>
            <p:ph type="sldNum" sz="quarter" idx="12"/>
          </p:nvPr>
        </p:nvSpPr>
        <p:spPr/>
        <p:txBody>
          <a:bodyPr/>
          <a:lstStyle/>
          <a:p>
            <a:fld id="{682A9D49-871F-5640-BCE3-20634A9797B6}" type="slidenum">
              <a:rPr lang="en-US" smtClean="0"/>
              <a:t>12</a:t>
            </a:fld>
            <a:endParaRPr lang="en-US"/>
          </a:p>
        </p:txBody>
      </p:sp>
      <p:graphicFrame>
        <p:nvGraphicFramePr>
          <p:cNvPr id="3" name="Table 2">
            <a:extLst>
              <a:ext uri="{FF2B5EF4-FFF2-40B4-BE49-F238E27FC236}">
                <a16:creationId xmlns:a16="http://schemas.microsoft.com/office/drawing/2014/main" id="{E516AB28-B439-1BAF-2FD2-4CD65E4D1E4A}"/>
              </a:ext>
            </a:extLst>
          </p:cNvPr>
          <p:cNvGraphicFramePr>
            <a:graphicFrameLocks noGrp="1"/>
          </p:cNvGraphicFramePr>
          <p:nvPr>
            <p:extLst>
              <p:ext uri="{D42A27DB-BD31-4B8C-83A1-F6EECF244321}">
                <p14:modId xmlns:p14="http://schemas.microsoft.com/office/powerpoint/2010/main" val="1800973521"/>
              </p:ext>
            </p:extLst>
          </p:nvPr>
        </p:nvGraphicFramePr>
        <p:xfrm>
          <a:off x="175285" y="1290866"/>
          <a:ext cx="11520001" cy="2880001"/>
        </p:xfrm>
        <a:graphic>
          <a:graphicData uri="http://schemas.openxmlformats.org/drawingml/2006/table">
            <a:tbl>
              <a:tblPr firstRow="1" bandRow="1">
                <a:tableStyleId>{69012ECD-51FC-41F1-AA8D-1B2483CD663E}</a:tableStyleId>
              </a:tblPr>
              <a:tblGrid>
                <a:gridCol w="1649413">
                  <a:extLst>
                    <a:ext uri="{9D8B030D-6E8A-4147-A177-3AD203B41FA5}">
                      <a16:colId xmlns:a16="http://schemas.microsoft.com/office/drawing/2014/main" val="2440035316"/>
                    </a:ext>
                  </a:extLst>
                </a:gridCol>
                <a:gridCol w="2036431">
                  <a:extLst>
                    <a:ext uri="{9D8B030D-6E8A-4147-A177-3AD203B41FA5}">
                      <a16:colId xmlns:a16="http://schemas.microsoft.com/office/drawing/2014/main" val="1413565137"/>
                    </a:ext>
                  </a:extLst>
                </a:gridCol>
                <a:gridCol w="7834157">
                  <a:extLst>
                    <a:ext uri="{9D8B030D-6E8A-4147-A177-3AD203B41FA5}">
                      <a16:colId xmlns:a16="http://schemas.microsoft.com/office/drawing/2014/main" val="2610769581"/>
                    </a:ext>
                  </a:extLst>
                </a:gridCol>
              </a:tblGrid>
              <a:tr h="241637">
                <a:tc>
                  <a:txBody>
                    <a:bodyPr/>
                    <a:lstStyle/>
                    <a:p>
                      <a:pPr algn="ctr" fontAlgn="ctr">
                        <a:buNone/>
                      </a:pPr>
                      <a:r>
                        <a:rPr lang="en-IN" sz="1100" u="none" strike="noStrike" dirty="0">
                          <a:effectLst/>
                          <a:latin typeface="IBM Plex Sans" panose="020B0503050203000203" pitchFamily="34" charset="0"/>
                        </a:rPr>
                        <a:t>Layer</a:t>
                      </a:r>
                      <a:endParaRPr lang="en-IN" sz="1100" b="1" i="0" u="none" strike="noStrike" dirty="0">
                        <a:solidFill>
                          <a:srgbClr val="FFFFFF"/>
                        </a:solidFill>
                        <a:effectLst/>
                        <a:latin typeface="IBM Plex Sans" panose="020B0503050203000203" pitchFamily="34" charset="0"/>
                      </a:endParaRPr>
                    </a:p>
                  </a:txBody>
                  <a:tcPr marL="0" marR="0" marT="0" marB="0" anchor="ctr">
                    <a:lnB w="3175" cap="flat" cmpd="sng" algn="ctr">
                      <a:solidFill>
                        <a:schemeClr val="tx1"/>
                      </a:solidFill>
                      <a:prstDash val="solid"/>
                      <a:round/>
                      <a:headEnd type="none" w="med" len="med"/>
                      <a:tailEnd type="none" w="med" len="med"/>
                    </a:lnB>
                  </a:tcPr>
                </a:tc>
                <a:tc>
                  <a:txBody>
                    <a:bodyPr/>
                    <a:lstStyle/>
                    <a:p>
                      <a:pPr algn="ctr" fontAlgn="ctr">
                        <a:buNone/>
                      </a:pPr>
                      <a:r>
                        <a:rPr lang="en-IN" sz="1100" u="none" strike="noStrike" dirty="0">
                          <a:effectLst/>
                          <a:latin typeface="IBM Plex Sans" panose="020B0503050203000203" pitchFamily="34" charset="0"/>
                        </a:rPr>
                        <a:t>Component</a:t>
                      </a:r>
                      <a:endParaRPr lang="en-IN" sz="1100" b="1" i="0" u="none" strike="noStrike" dirty="0">
                        <a:solidFill>
                          <a:srgbClr val="FFFFFF"/>
                        </a:solidFill>
                        <a:effectLst/>
                        <a:latin typeface="IBM Plex Sans" panose="020B0503050203000203" pitchFamily="34" charset="0"/>
                      </a:endParaRPr>
                    </a:p>
                  </a:txBody>
                  <a:tcPr marL="0" marR="0" marT="0" marB="0" anchor="ctr">
                    <a:lnB w="3175" cap="flat" cmpd="sng" algn="ctr">
                      <a:solidFill>
                        <a:schemeClr val="tx1"/>
                      </a:solidFill>
                      <a:prstDash val="solid"/>
                      <a:round/>
                      <a:headEnd type="none" w="med" len="med"/>
                      <a:tailEnd type="none" w="med" len="med"/>
                    </a:lnB>
                  </a:tcPr>
                </a:tc>
                <a:tc>
                  <a:txBody>
                    <a:bodyPr/>
                    <a:lstStyle/>
                    <a:p>
                      <a:pPr algn="ctr" fontAlgn="ctr">
                        <a:buNone/>
                      </a:pPr>
                      <a:r>
                        <a:rPr lang="en-IN" sz="1100" u="none" strike="noStrike" dirty="0">
                          <a:effectLst/>
                          <a:latin typeface="IBM Plex Sans" panose="020B0503050203000203" pitchFamily="34" charset="0"/>
                        </a:rPr>
                        <a:t>Technical Description</a:t>
                      </a:r>
                      <a:endParaRPr lang="en-IN" sz="1100" b="1" i="0" u="none" strike="noStrike" dirty="0">
                        <a:solidFill>
                          <a:srgbClr val="FFFFFF"/>
                        </a:solidFill>
                        <a:effectLst/>
                        <a:latin typeface="IBM Plex Sans" panose="020B0503050203000203" pitchFamily="34" charset="0"/>
                      </a:endParaRPr>
                    </a:p>
                  </a:txBody>
                  <a:tcPr marL="0" marR="0" marT="0" marB="0" anchor="ctr">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08956512"/>
                  </a:ext>
                </a:extLst>
              </a:tr>
              <a:tr h="428647">
                <a:tc>
                  <a:txBody>
                    <a:bodyPr/>
                    <a:lstStyle/>
                    <a:p>
                      <a:pPr algn="l" fontAlgn="t">
                        <a:buNone/>
                      </a:pPr>
                      <a:r>
                        <a:rPr lang="en-IN" sz="1100" u="none" strike="noStrike" dirty="0">
                          <a:effectLst/>
                          <a:latin typeface="IBM Plex Sans" panose="020B0503050203000203" pitchFamily="34" charset="0"/>
                        </a:rPr>
                        <a:t>Observability / Platform</a:t>
                      </a:r>
                      <a:endParaRPr lang="en-IN" sz="1100" b="1"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100" u="none" strike="noStrike" dirty="0">
                          <a:effectLst/>
                          <a:latin typeface="IBM Plex Sans" panose="020B0503050203000203" pitchFamily="34" charset="0"/>
                        </a:rPr>
                        <a:t>Log Agent</a:t>
                      </a:r>
                      <a:endParaRPr lang="en-IN" sz="1100" b="1"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100" u="none" strike="noStrike" dirty="0">
                          <a:effectLst/>
                          <a:latin typeface="IBM Plex Sans" panose="020B0503050203000203" pitchFamily="34" charset="0"/>
                        </a:rPr>
                        <a:t>Collects application and infrastructure logs, metrics and traces from services and runtime components for monitoring and troubleshooting.</a:t>
                      </a:r>
                      <a:endParaRPr lang="en-IN" sz="1100" b="0"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7758705"/>
                  </a:ext>
                </a:extLst>
              </a:tr>
              <a:tr h="368836">
                <a:tc>
                  <a:txBody>
                    <a:bodyPr/>
                    <a:lstStyle/>
                    <a:p>
                      <a:pPr algn="l" fontAlgn="t">
                        <a:buNone/>
                      </a:pPr>
                      <a:r>
                        <a:rPr lang="en-IN" sz="1100" u="none" strike="noStrike">
                          <a:effectLst/>
                          <a:latin typeface="IBM Plex Sans" panose="020B0503050203000203" pitchFamily="34" charset="0"/>
                        </a:rPr>
                        <a:t>Observability / Platform</a:t>
                      </a:r>
                      <a:endParaRPr lang="en-IN" sz="1100" b="1" i="0" u="none" strike="noStrike">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100" u="none" strike="noStrike" dirty="0">
                          <a:effectLst/>
                          <a:latin typeface="IBM Plex Sans" panose="020B0503050203000203" pitchFamily="34" charset="0"/>
                        </a:rPr>
                        <a:t> Service Mesh</a:t>
                      </a:r>
                      <a:endParaRPr lang="en-IN" sz="1100" b="1"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100" u="none" strike="noStrike" dirty="0">
                          <a:effectLst/>
                          <a:latin typeface="IBM Plex Sans" panose="020B0503050203000203" pitchFamily="34" charset="0"/>
                        </a:rPr>
                        <a:t>Provides service-to-service traffic control, </a:t>
                      </a:r>
                      <a:r>
                        <a:rPr lang="en-IN" sz="1100" u="none" strike="noStrike" dirty="0" err="1">
                          <a:effectLst/>
                          <a:latin typeface="IBM Plex Sans" panose="020B0503050203000203" pitchFamily="34" charset="0"/>
                        </a:rPr>
                        <a:t>mTLS</a:t>
                      </a:r>
                      <a:r>
                        <a:rPr lang="en-IN" sz="1100" u="none" strike="noStrike" dirty="0">
                          <a:effectLst/>
                          <a:latin typeface="IBM Plex Sans" panose="020B0503050203000203" pitchFamily="34" charset="0"/>
                        </a:rPr>
                        <a:t>, observability and policy enforcement for microservice communication.</a:t>
                      </a:r>
                      <a:endParaRPr lang="en-IN" sz="1100" b="0"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93669035"/>
                  </a:ext>
                </a:extLst>
              </a:tr>
              <a:tr h="338931">
                <a:tc>
                  <a:txBody>
                    <a:bodyPr/>
                    <a:lstStyle/>
                    <a:p>
                      <a:pPr algn="l" fontAlgn="t">
                        <a:buNone/>
                      </a:pPr>
                      <a:r>
                        <a:rPr lang="en-IN" sz="1100" u="none" strike="noStrike" dirty="0">
                          <a:effectLst/>
                          <a:latin typeface="IBM Plex Sans" panose="020B0503050203000203" pitchFamily="34" charset="0"/>
                        </a:rPr>
                        <a:t>External Systems</a:t>
                      </a:r>
                      <a:endParaRPr lang="en-IN" sz="1100" b="1"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100" u="none" strike="noStrike" dirty="0">
                          <a:effectLst/>
                          <a:latin typeface="IBM Plex Sans" panose="020B0503050203000203" pitchFamily="34" charset="0"/>
                        </a:rPr>
                        <a:t>JIRA</a:t>
                      </a:r>
                      <a:endParaRPr lang="en-IN" sz="1100" b="1"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100" u="none" strike="noStrike" dirty="0">
                          <a:effectLst/>
                          <a:latin typeface="IBM Plex Sans" panose="020B0503050203000203" pitchFamily="34" charset="0"/>
                        </a:rPr>
                        <a:t>Third-party project, issue or development tracking platform integrated with EPMP for synchronisation of tickets or status.</a:t>
                      </a:r>
                      <a:endParaRPr lang="en-IN" sz="1100" b="0"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5500287"/>
                  </a:ext>
                </a:extLst>
              </a:tr>
              <a:tr h="408710">
                <a:tc>
                  <a:txBody>
                    <a:bodyPr/>
                    <a:lstStyle/>
                    <a:p>
                      <a:pPr algn="l" fontAlgn="t">
                        <a:buNone/>
                      </a:pPr>
                      <a:r>
                        <a:rPr lang="en-IN" sz="1100" u="none" strike="noStrike">
                          <a:effectLst/>
                          <a:latin typeface="IBM Plex Sans" panose="020B0503050203000203" pitchFamily="34" charset="0"/>
                        </a:rPr>
                        <a:t>External Systems</a:t>
                      </a:r>
                      <a:endParaRPr lang="en-IN" sz="1100" b="1" i="0" u="none" strike="noStrike">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100" u="none" strike="noStrike" dirty="0">
                          <a:effectLst/>
                          <a:latin typeface="IBM Plex Sans" panose="020B0503050203000203" pitchFamily="34" charset="0"/>
                        </a:rPr>
                        <a:t>Jenkins</a:t>
                      </a:r>
                      <a:endParaRPr lang="en-IN" sz="1100" b="1"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100" u="none" strike="noStrike" dirty="0">
                          <a:effectLst/>
                          <a:latin typeface="IBM Plex Sans" panose="020B0503050203000203" pitchFamily="34" charset="0"/>
                        </a:rPr>
                        <a:t>Build and deployment automation tool that may exchange pipeline status, package metadata or automation triggers with EPMP platform.</a:t>
                      </a:r>
                      <a:endParaRPr lang="en-IN" sz="1100" b="0"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38795002"/>
                  </a:ext>
                </a:extLst>
              </a:tr>
              <a:tr h="398742">
                <a:tc>
                  <a:txBody>
                    <a:bodyPr/>
                    <a:lstStyle/>
                    <a:p>
                      <a:pPr algn="l" fontAlgn="t">
                        <a:buNone/>
                      </a:pPr>
                      <a:r>
                        <a:rPr lang="en-IN" sz="1100" u="none" strike="noStrike">
                          <a:effectLst/>
                          <a:latin typeface="IBM Plex Sans" panose="020B0503050203000203" pitchFamily="34" charset="0"/>
                        </a:rPr>
                        <a:t>External Systems</a:t>
                      </a:r>
                      <a:endParaRPr lang="en-IN" sz="1100" b="1" i="0" u="none" strike="noStrike">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100" u="none" strike="noStrike" dirty="0">
                          <a:effectLst/>
                          <a:latin typeface="IBM Plex Sans" panose="020B0503050203000203" pitchFamily="34" charset="0"/>
                        </a:rPr>
                        <a:t>SuccessFactors</a:t>
                      </a:r>
                      <a:endParaRPr lang="en-IN" sz="1100" b="1"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100" u="none" strike="noStrike" dirty="0">
                          <a:effectLst/>
                          <a:latin typeface="IBM Plex Sans" panose="020B0503050203000203" pitchFamily="34" charset="0"/>
                        </a:rPr>
                        <a:t>HR platform used for employee, organisation, role or resource-related reference data in EPMP.</a:t>
                      </a:r>
                      <a:endParaRPr lang="en-IN" sz="1100" b="0"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89538576"/>
                  </a:ext>
                </a:extLst>
              </a:tr>
              <a:tr h="694498">
                <a:tc>
                  <a:txBody>
                    <a:bodyPr/>
                    <a:lstStyle/>
                    <a:p>
                      <a:pPr algn="l" fontAlgn="t">
                        <a:buNone/>
                      </a:pPr>
                      <a:r>
                        <a:rPr lang="en-IN" sz="1100" u="none" strike="noStrike">
                          <a:effectLst/>
                          <a:latin typeface="IBM Plex Sans" panose="020B0503050203000203" pitchFamily="34" charset="0"/>
                        </a:rPr>
                        <a:t>External Systems</a:t>
                      </a:r>
                      <a:endParaRPr lang="en-IN" sz="1100" b="1" i="0" u="none" strike="noStrike">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100" u="none" strike="noStrike" dirty="0">
                          <a:effectLst/>
                          <a:latin typeface="IBM Plex Sans" panose="020B0503050203000203" pitchFamily="34" charset="0"/>
                        </a:rPr>
                        <a:t>Zendesk</a:t>
                      </a:r>
                      <a:endParaRPr lang="en-IN" sz="1100" b="1"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100" u="none" strike="noStrike" dirty="0">
                          <a:effectLst/>
                          <a:latin typeface="IBM Plex Sans" panose="020B0503050203000203" pitchFamily="34" charset="0"/>
                        </a:rPr>
                        <a:t>Customer/support platform that can provide ticketing data, issue references or support workflow integration into EPMP.</a:t>
                      </a:r>
                      <a:endParaRPr lang="en-IN" sz="1100" b="0" i="0" u="none" strike="noStrike" dirty="0">
                        <a:solidFill>
                          <a:srgbClr val="000000"/>
                        </a:solidFill>
                        <a:effectLst/>
                        <a:latin typeface="IBM Plex Sans" panose="020B0503050203000203" pitchFamily="34" charset="0"/>
                      </a:endParaRPr>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27859012"/>
                  </a:ext>
                </a:extLst>
              </a:tr>
            </a:tbl>
          </a:graphicData>
        </a:graphic>
      </p:graphicFrame>
      <p:sp>
        <p:nvSpPr>
          <p:cNvPr id="4" name="TextBox 3">
            <a:extLst>
              <a:ext uri="{FF2B5EF4-FFF2-40B4-BE49-F238E27FC236}">
                <a16:creationId xmlns:a16="http://schemas.microsoft.com/office/drawing/2014/main" id="{25EDC168-A1BB-C900-6707-29A675D75EAB}"/>
              </a:ext>
            </a:extLst>
          </p:cNvPr>
          <p:cNvSpPr txBox="1"/>
          <p:nvPr/>
        </p:nvSpPr>
        <p:spPr>
          <a:xfrm>
            <a:off x="0" y="979505"/>
            <a:ext cx="2687444" cy="261610"/>
          </a:xfrm>
          <a:prstGeom prst="rect">
            <a:avLst/>
          </a:prstGeom>
          <a:noFill/>
        </p:spPr>
        <p:txBody>
          <a:bodyPr wrap="square" rtlCol="0">
            <a:spAutoFit/>
          </a:bodyPr>
          <a:lstStyle/>
          <a:p>
            <a:r>
              <a:rPr lang="en-US" sz="1100" dirty="0">
                <a:latin typeface="IBM Plex Sans" panose="020B0503050203000203" pitchFamily="34" charset="0"/>
              </a:rPr>
              <a:t>Component Descriptions</a:t>
            </a:r>
          </a:p>
        </p:txBody>
      </p:sp>
    </p:spTree>
    <p:extLst>
      <p:ext uri="{BB962C8B-B14F-4D97-AF65-F5344CB8AC3E}">
        <p14:creationId xmlns:p14="http://schemas.microsoft.com/office/powerpoint/2010/main" val="30668074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1A8409A-2CD6-0C0A-D87E-D54AA86BF2C0}"/>
              </a:ext>
            </a:extLst>
          </p:cNvPr>
          <p:cNvSpPr>
            <a:spLocks noGrp="1"/>
          </p:cNvSpPr>
          <p:nvPr>
            <p:ph type="sldNum" sz="quarter" idx="12"/>
          </p:nvPr>
        </p:nvSpPr>
        <p:spPr/>
        <p:txBody>
          <a:bodyPr/>
          <a:lstStyle/>
          <a:p>
            <a:fld id="{682A9D49-871F-5640-BCE3-20634A9797B6}" type="slidenum">
              <a:rPr lang="en-US" smtClean="0"/>
              <a:t>13</a:t>
            </a:fld>
            <a:endParaRPr lang="en-US"/>
          </a:p>
        </p:txBody>
      </p:sp>
      <p:sp>
        <p:nvSpPr>
          <p:cNvPr id="5" name="Subtitle 2">
            <a:extLst>
              <a:ext uri="{FF2B5EF4-FFF2-40B4-BE49-F238E27FC236}">
                <a16:creationId xmlns:a16="http://schemas.microsoft.com/office/drawing/2014/main" id="{6C5FB77E-4AD5-2734-8F42-7396F8AC17E9}"/>
              </a:ext>
            </a:extLst>
          </p:cNvPr>
          <p:cNvSpPr txBox="1">
            <a:spLocks/>
          </p:cNvSpPr>
          <p:nvPr/>
        </p:nvSpPr>
        <p:spPr>
          <a:xfrm>
            <a:off x="1524000" y="3602038"/>
            <a:ext cx="9144000" cy="1655762"/>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algn="ctr"/>
            <a:r>
              <a:rPr lang="en-US" dirty="0"/>
              <a:t>EPMP</a:t>
            </a:r>
          </a:p>
        </p:txBody>
      </p:sp>
      <p:sp>
        <p:nvSpPr>
          <p:cNvPr id="6" name="Title 4">
            <a:extLst>
              <a:ext uri="{FF2B5EF4-FFF2-40B4-BE49-F238E27FC236}">
                <a16:creationId xmlns:a16="http://schemas.microsoft.com/office/drawing/2014/main" id="{CD3B6F47-063C-75EA-FEB0-1A7EFD99B50A}"/>
              </a:ext>
            </a:extLst>
          </p:cNvPr>
          <p:cNvSpPr txBox="1">
            <a:spLocks/>
          </p:cNvSpPr>
          <p:nvPr/>
        </p:nvSpPr>
        <p:spPr>
          <a:xfrm>
            <a:off x="1524000" y="1122363"/>
            <a:ext cx="9144000" cy="2387600"/>
          </a:xfrm>
          <a:prstGeom prst="rect">
            <a:avLst/>
          </a:prstGeom>
          <a:ln w="6350" cap="flat" cmpd="sng" algn="ctr">
            <a:solidFill>
              <a:schemeClr val="accent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60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1000" b="1" dirty="0"/>
              <a:t>TECHNICAL  ARCHITECTURE DIAGRAM</a:t>
            </a:r>
          </a:p>
        </p:txBody>
      </p:sp>
    </p:spTree>
    <p:extLst>
      <p:ext uri="{BB962C8B-B14F-4D97-AF65-F5344CB8AC3E}">
        <p14:creationId xmlns:p14="http://schemas.microsoft.com/office/powerpoint/2010/main" val="42707305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89A3545-B454-A055-1FEA-B076AC6A560A}"/>
              </a:ext>
            </a:extLst>
          </p:cNvPr>
          <p:cNvSpPr>
            <a:spLocks noGrp="1"/>
          </p:cNvSpPr>
          <p:nvPr>
            <p:ph type="sldNum" sz="quarter" idx="12"/>
          </p:nvPr>
        </p:nvSpPr>
        <p:spPr/>
        <p:txBody>
          <a:bodyPr/>
          <a:lstStyle/>
          <a:p>
            <a:fld id="{682A9D49-871F-5640-BCE3-20634A9797B6}" type="slidenum">
              <a:rPr lang="en-US" smtClean="0"/>
              <a:t>14</a:t>
            </a:fld>
            <a:endParaRPr lang="en-US"/>
          </a:p>
        </p:txBody>
      </p:sp>
      <p:pic>
        <p:nvPicPr>
          <p:cNvPr id="4" name="Picture 3">
            <a:extLst>
              <a:ext uri="{FF2B5EF4-FFF2-40B4-BE49-F238E27FC236}">
                <a16:creationId xmlns:a16="http://schemas.microsoft.com/office/drawing/2014/main" id="{208C6116-7582-7AB0-A75D-A6EB65230A10}"/>
              </a:ext>
            </a:extLst>
          </p:cNvPr>
          <p:cNvPicPr>
            <a:picLocks noChangeAspect="1"/>
          </p:cNvPicPr>
          <p:nvPr/>
        </p:nvPicPr>
        <p:blipFill>
          <a:blip r:embed="rId2"/>
          <a:stretch>
            <a:fillRect/>
          </a:stretch>
        </p:blipFill>
        <p:spPr>
          <a:xfrm>
            <a:off x="374073" y="1060899"/>
            <a:ext cx="11563503" cy="4785719"/>
          </a:xfrm>
          <a:prstGeom prst="rect">
            <a:avLst/>
          </a:prstGeom>
        </p:spPr>
      </p:pic>
      <p:sp>
        <p:nvSpPr>
          <p:cNvPr id="3" name="Title 1">
            <a:extLst>
              <a:ext uri="{FF2B5EF4-FFF2-40B4-BE49-F238E27FC236}">
                <a16:creationId xmlns:a16="http://schemas.microsoft.com/office/drawing/2014/main" id="{F0CCD3D5-180E-7BB3-40EB-8ADC03BAF2D0}"/>
              </a:ext>
            </a:extLst>
          </p:cNvPr>
          <p:cNvSpPr txBox="1">
            <a:spLocks/>
          </p:cNvSpPr>
          <p:nvPr/>
        </p:nvSpPr>
        <p:spPr>
          <a:xfrm>
            <a:off x="0" y="872505"/>
            <a:ext cx="2274849" cy="30952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400" dirty="0">
                <a:latin typeface="IBM Plex Sans" panose="020B0503050203000203" pitchFamily="34" charset="0"/>
              </a:rPr>
              <a:t>Deployment Architecture</a:t>
            </a:r>
          </a:p>
        </p:txBody>
      </p:sp>
    </p:spTree>
    <p:extLst>
      <p:ext uri="{BB962C8B-B14F-4D97-AF65-F5344CB8AC3E}">
        <p14:creationId xmlns:p14="http://schemas.microsoft.com/office/powerpoint/2010/main" val="40600054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B46AC-834D-3EA2-B85E-29A4BB6F281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BDC0E56-FAAE-29E8-74A5-140A2B85F197}"/>
              </a:ext>
            </a:extLst>
          </p:cNvPr>
          <p:cNvSpPr>
            <a:spLocks noGrp="1"/>
          </p:cNvSpPr>
          <p:nvPr>
            <p:ph type="sldNum" sz="quarter" idx="12"/>
          </p:nvPr>
        </p:nvSpPr>
        <p:spPr/>
        <p:txBody>
          <a:bodyPr/>
          <a:lstStyle/>
          <a:p>
            <a:fld id="{682A9D49-871F-5640-BCE3-20634A9797B6}" type="slidenum">
              <a:rPr lang="en-US" smtClean="0"/>
              <a:t>15</a:t>
            </a:fld>
            <a:endParaRPr lang="en-US"/>
          </a:p>
        </p:txBody>
      </p:sp>
      <p:sp>
        <p:nvSpPr>
          <p:cNvPr id="5" name="Subtitle 2">
            <a:extLst>
              <a:ext uri="{FF2B5EF4-FFF2-40B4-BE49-F238E27FC236}">
                <a16:creationId xmlns:a16="http://schemas.microsoft.com/office/drawing/2014/main" id="{21C4B36E-EF78-ED79-A603-9C0C2930E0C6}"/>
              </a:ext>
            </a:extLst>
          </p:cNvPr>
          <p:cNvSpPr txBox="1">
            <a:spLocks/>
          </p:cNvSpPr>
          <p:nvPr/>
        </p:nvSpPr>
        <p:spPr>
          <a:xfrm>
            <a:off x="1524000" y="3602038"/>
            <a:ext cx="9144000" cy="1655762"/>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algn="ctr"/>
            <a:r>
              <a:rPr lang="en-US" dirty="0"/>
              <a:t>EPMP</a:t>
            </a:r>
          </a:p>
        </p:txBody>
      </p:sp>
      <p:sp>
        <p:nvSpPr>
          <p:cNvPr id="6" name="Title 4">
            <a:extLst>
              <a:ext uri="{FF2B5EF4-FFF2-40B4-BE49-F238E27FC236}">
                <a16:creationId xmlns:a16="http://schemas.microsoft.com/office/drawing/2014/main" id="{1226E591-11D6-4881-7E59-C7688C37FE21}"/>
              </a:ext>
            </a:extLst>
          </p:cNvPr>
          <p:cNvSpPr txBox="1">
            <a:spLocks/>
          </p:cNvSpPr>
          <p:nvPr/>
        </p:nvSpPr>
        <p:spPr>
          <a:xfrm>
            <a:off x="1524000" y="1122363"/>
            <a:ext cx="9144000" cy="2387600"/>
          </a:xfrm>
          <a:prstGeom prst="rect">
            <a:avLst/>
          </a:prstGeom>
          <a:ln w="6350" cap="flat" cmpd="sng" algn="ctr">
            <a:solidFill>
              <a:schemeClr val="accent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60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1000" b="1" dirty="0"/>
              <a:t>SECURITY  ARCHITECTURE DIAGRAM</a:t>
            </a:r>
          </a:p>
        </p:txBody>
      </p:sp>
    </p:spTree>
    <p:extLst>
      <p:ext uri="{BB962C8B-B14F-4D97-AF65-F5344CB8AC3E}">
        <p14:creationId xmlns:p14="http://schemas.microsoft.com/office/powerpoint/2010/main" val="27332345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1DA56E5-3E0C-5CE5-0C84-F6C341E11FF0}"/>
              </a:ext>
            </a:extLst>
          </p:cNvPr>
          <p:cNvSpPr>
            <a:spLocks noGrp="1"/>
          </p:cNvSpPr>
          <p:nvPr>
            <p:ph type="sldNum" sz="quarter" idx="12"/>
          </p:nvPr>
        </p:nvSpPr>
        <p:spPr/>
        <p:txBody>
          <a:bodyPr/>
          <a:lstStyle/>
          <a:p>
            <a:fld id="{682A9D49-871F-5640-BCE3-20634A9797B6}" type="slidenum">
              <a:rPr lang="en-US" smtClean="0"/>
              <a:t>16</a:t>
            </a:fld>
            <a:endParaRPr lang="en-US"/>
          </a:p>
        </p:txBody>
      </p:sp>
      <p:cxnSp>
        <p:nvCxnSpPr>
          <p:cNvPr id="5" name="Straight Arrow Connector 4">
            <a:extLst>
              <a:ext uri="{FF2B5EF4-FFF2-40B4-BE49-F238E27FC236}">
                <a16:creationId xmlns:a16="http://schemas.microsoft.com/office/drawing/2014/main" id="{5BF3405C-1F3F-BCD5-1412-58C3A5C96B0A}"/>
              </a:ext>
            </a:extLst>
          </p:cNvPr>
          <p:cNvCxnSpPr>
            <a:cxnSpLocks/>
          </p:cNvCxnSpPr>
          <p:nvPr/>
        </p:nvCxnSpPr>
        <p:spPr>
          <a:xfrm>
            <a:off x="9040779" y="1775336"/>
            <a:ext cx="0" cy="23020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nvGrpSpPr>
          <p:cNvPr id="6" name="Group 5">
            <a:extLst>
              <a:ext uri="{FF2B5EF4-FFF2-40B4-BE49-F238E27FC236}">
                <a16:creationId xmlns:a16="http://schemas.microsoft.com/office/drawing/2014/main" id="{6D56662E-991D-781F-A3E5-92C55067D011}"/>
              </a:ext>
            </a:extLst>
          </p:cNvPr>
          <p:cNvGrpSpPr/>
          <p:nvPr/>
        </p:nvGrpSpPr>
        <p:grpSpPr>
          <a:xfrm>
            <a:off x="1025912" y="970156"/>
            <a:ext cx="9266664" cy="5475249"/>
            <a:chOff x="794277" y="572033"/>
            <a:chExt cx="9440743" cy="5500521"/>
          </a:xfrm>
        </p:grpSpPr>
        <p:pic>
          <p:nvPicPr>
            <p:cNvPr id="7" name="Picture 6">
              <a:extLst>
                <a:ext uri="{FF2B5EF4-FFF2-40B4-BE49-F238E27FC236}">
                  <a16:creationId xmlns:a16="http://schemas.microsoft.com/office/drawing/2014/main" id="{AACF45A6-A9D5-AE33-9216-B3EA0763C194}"/>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794277" y="1477108"/>
              <a:ext cx="9440743" cy="4595446"/>
            </a:xfrm>
            <a:prstGeom prst="rect">
              <a:avLst/>
            </a:prstGeom>
          </p:spPr>
        </p:pic>
        <p:pic>
          <p:nvPicPr>
            <p:cNvPr id="8" name="Picture 7">
              <a:extLst>
                <a:ext uri="{FF2B5EF4-FFF2-40B4-BE49-F238E27FC236}">
                  <a16:creationId xmlns:a16="http://schemas.microsoft.com/office/drawing/2014/main" id="{3AE07E34-432C-508C-8FC9-F94DE20BA92F}"/>
                </a:ext>
              </a:extLst>
            </p:cNvPr>
            <p:cNvPicPr>
              <a:picLocks noChangeAspect="1"/>
            </p:cNvPicPr>
            <p:nvPr/>
          </p:nvPicPr>
          <p:blipFill>
            <a:blip r:embed="rId4">
              <a:duotone>
                <a:prstClr val="black"/>
                <a:schemeClr val="tx2">
                  <a:tint val="45000"/>
                  <a:satMod val="400000"/>
                </a:schemeClr>
              </a:duotone>
              <a:extLst>
                <a:ext uri="{BEBA8EAE-BF5A-486C-A8C5-ECC9F3942E4B}">
                  <a14:imgProps xmlns:a14="http://schemas.microsoft.com/office/drawing/2010/main">
                    <a14:imgLayer r:embed="rId5">
                      <a14:imgEffect>
                        <a14:colorTemperature colorTemp="5300"/>
                      </a14:imgEffect>
                    </a14:imgLayer>
                  </a14:imgProps>
                </a:ext>
              </a:extLst>
            </a:blip>
            <a:stretch>
              <a:fillRect/>
            </a:stretch>
          </p:blipFill>
          <p:spPr>
            <a:xfrm>
              <a:off x="1617785" y="572033"/>
              <a:ext cx="7772400" cy="1059872"/>
            </a:xfrm>
            <a:prstGeom prst="rect">
              <a:avLst/>
            </a:prstGeom>
          </p:spPr>
        </p:pic>
      </p:grpSp>
      <p:sp>
        <p:nvSpPr>
          <p:cNvPr id="12" name="TextBox 11">
            <a:extLst>
              <a:ext uri="{FF2B5EF4-FFF2-40B4-BE49-F238E27FC236}">
                <a16:creationId xmlns:a16="http://schemas.microsoft.com/office/drawing/2014/main" id="{5D0664CF-1708-8CA3-E295-9C31F9E8175D}"/>
              </a:ext>
            </a:extLst>
          </p:cNvPr>
          <p:cNvSpPr txBox="1"/>
          <p:nvPr/>
        </p:nvSpPr>
        <p:spPr>
          <a:xfrm>
            <a:off x="9612351" y="1371600"/>
            <a:ext cx="659291" cy="369332"/>
          </a:xfrm>
          <a:prstGeom prst="rect">
            <a:avLst/>
          </a:prstGeom>
          <a:noFill/>
        </p:spPr>
        <p:txBody>
          <a:bodyPr wrap="square" rtlCol="0">
            <a:spAutoFit/>
          </a:bodyPr>
          <a:lstStyle/>
          <a:p>
            <a:pPr algn="r"/>
            <a:r>
              <a:rPr lang="en-US" dirty="0"/>
              <a:t>DMZ</a:t>
            </a:r>
          </a:p>
        </p:txBody>
      </p:sp>
      <p:sp>
        <p:nvSpPr>
          <p:cNvPr id="13" name="TextBox 12">
            <a:extLst>
              <a:ext uri="{FF2B5EF4-FFF2-40B4-BE49-F238E27FC236}">
                <a16:creationId xmlns:a16="http://schemas.microsoft.com/office/drawing/2014/main" id="{C332E084-1E21-84E0-475A-AC653C53BEE1}"/>
              </a:ext>
            </a:extLst>
          </p:cNvPr>
          <p:cNvSpPr txBox="1"/>
          <p:nvPr/>
        </p:nvSpPr>
        <p:spPr>
          <a:xfrm>
            <a:off x="9612351" y="2025158"/>
            <a:ext cx="659291" cy="369332"/>
          </a:xfrm>
          <a:prstGeom prst="rect">
            <a:avLst/>
          </a:prstGeom>
          <a:noFill/>
        </p:spPr>
        <p:txBody>
          <a:bodyPr wrap="square" rtlCol="0">
            <a:spAutoFit/>
          </a:bodyPr>
          <a:lstStyle/>
          <a:p>
            <a:pPr algn="r"/>
            <a:r>
              <a:rPr lang="en-US" dirty="0"/>
              <a:t>MZ</a:t>
            </a:r>
          </a:p>
        </p:txBody>
      </p:sp>
      <p:sp>
        <p:nvSpPr>
          <p:cNvPr id="3" name="Title 1">
            <a:extLst>
              <a:ext uri="{FF2B5EF4-FFF2-40B4-BE49-F238E27FC236}">
                <a16:creationId xmlns:a16="http://schemas.microsoft.com/office/drawing/2014/main" id="{6D792416-9456-358D-25D5-39F0897C57BE}"/>
              </a:ext>
            </a:extLst>
          </p:cNvPr>
          <p:cNvSpPr txBox="1">
            <a:spLocks/>
          </p:cNvSpPr>
          <p:nvPr/>
        </p:nvSpPr>
        <p:spPr>
          <a:xfrm>
            <a:off x="0" y="872505"/>
            <a:ext cx="2274849" cy="30952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400" dirty="0">
                <a:latin typeface="IBM Plex Sans" panose="020B0503050203000203" pitchFamily="34" charset="0"/>
              </a:rPr>
              <a:t>Security Architecture</a:t>
            </a:r>
          </a:p>
        </p:txBody>
      </p:sp>
    </p:spTree>
    <p:extLst>
      <p:ext uri="{BB962C8B-B14F-4D97-AF65-F5344CB8AC3E}">
        <p14:creationId xmlns:p14="http://schemas.microsoft.com/office/powerpoint/2010/main" val="28954127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49E1A69-B8CF-6EEE-F1A1-DC984A523567}"/>
              </a:ext>
            </a:extLst>
          </p:cNvPr>
          <p:cNvSpPr>
            <a:spLocks noGrp="1"/>
          </p:cNvSpPr>
          <p:nvPr>
            <p:ph type="sldNum" sz="quarter" idx="12"/>
          </p:nvPr>
        </p:nvSpPr>
        <p:spPr/>
        <p:txBody>
          <a:bodyPr/>
          <a:lstStyle/>
          <a:p>
            <a:fld id="{682A9D49-871F-5640-BCE3-20634A9797B6}" type="slidenum">
              <a:rPr lang="en-US" smtClean="0"/>
              <a:t>17</a:t>
            </a:fld>
            <a:endParaRPr lang="en-US"/>
          </a:p>
        </p:txBody>
      </p:sp>
      <p:graphicFrame>
        <p:nvGraphicFramePr>
          <p:cNvPr id="3" name="Table 2">
            <a:extLst>
              <a:ext uri="{FF2B5EF4-FFF2-40B4-BE49-F238E27FC236}">
                <a16:creationId xmlns:a16="http://schemas.microsoft.com/office/drawing/2014/main" id="{AA164DFD-CFB5-A33C-E012-FDA5F89D6992}"/>
              </a:ext>
            </a:extLst>
          </p:cNvPr>
          <p:cNvGraphicFramePr>
            <a:graphicFrameLocks noGrp="1"/>
          </p:cNvGraphicFramePr>
          <p:nvPr>
            <p:extLst>
              <p:ext uri="{D42A27DB-BD31-4B8C-83A1-F6EECF244321}">
                <p14:modId xmlns:p14="http://schemas.microsoft.com/office/powerpoint/2010/main" val="1215770842"/>
              </p:ext>
            </p:extLst>
          </p:nvPr>
        </p:nvGraphicFramePr>
        <p:xfrm>
          <a:off x="161058" y="1306268"/>
          <a:ext cx="11667600" cy="5040005"/>
        </p:xfrm>
        <a:graphic>
          <a:graphicData uri="http://schemas.openxmlformats.org/drawingml/2006/table">
            <a:tbl>
              <a:tblPr firstRow="1">
                <a:tableStyleId>{B301B821-A1FF-4177-AEE7-76D212191A09}</a:tableStyleId>
              </a:tblPr>
              <a:tblGrid>
                <a:gridCol w="1174826">
                  <a:extLst>
                    <a:ext uri="{9D8B030D-6E8A-4147-A177-3AD203B41FA5}">
                      <a16:colId xmlns:a16="http://schemas.microsoft.com/office/drawing/2014/main" val="4172832457"/>
                    </a:ext>
                  </a:extLst>
                </a:gridCol>
                <a:gridCol w="1334090">
                  <a:extLst>
                    <a:ext uri="{9D8B030D-6E8A-4147-A177-3AD203B41FA5}">
                      <a16:colId xmlns:a16="http://schemas.microsoft.com/office/drawing/2014/main" val="2624204398"/>
                    </a:ext>
                  </a:extLst>
                </a:gridCol>
                <a:gridCol w="1458575">
                  <a:extLst>
                    <a:ext uri="{9D8B030D-6E8A-4147-A177-3AD203B41FA5}">
                      <a16:colId xmlns:a16="http://schemas.microsoft.com/office/drawing/2014/main" val="3233534868"/>
                    </a:ext>
                  </a:extLst>
                </a:gridCol>
                <a:gridCol w="1180726">
                  <a:extLst>
                    <a:ext uri="{9D8B030D-6E8A-4147-A177-3AD203B41FA5}">
                      <a16:colId xmlns:a16="http://schemas.microsoft.com/office/drawing/2014/main" val="392934916"/>
                    </a:ext>
                  </a:extLst>
                </a:gridCol>
                <a:gridCol w="1625085">
                  <a:extLst>
                    <a:ext uri="{9D8B030D-6E8A-4147-A177-3AD203B41FA5}">
                      <a16:colId xmlns:a16="http://schemas.microsoft.com/office/drawing/2014/main" val="2008825267"/>
                    </a:ext>
                  </a:extLst>
                </a:gridCol>
                <a:gridCol w="2450323">
                  <a:extLst>
                    <a:ext uri="{9D8B030D-6E8A-4147-A177-3AD203B41FA5}">
                      <a16:colId xmlns:a16="http://schemas.microsoft.com/office/drawing/2014/main" val="2726536259"/>
                    </a:ext>
                  </a:extLst>
                </a:gridCol>
                <a:gridCol w="2443975">
                  <a:extLst>
                    <a:ext uri="{9D8B030D-6E8A-4147-A177-3AD203B41FA5}">
                      <a16:colId xmlns:a16="http://schemas.microsoft.com/office/drawing/2014/main" val="2829526044"/>
                    </a:ext>
                  </a:extLst>
                </a:gridCol>
              </a:tblGrid>
              <a:tr h="287836">
                <a:tc>
                  <a:txBody>
                    <a:bodyPr/>
                    <a:lstStyle/>
                    <a:p>
                      <a:pPr algn="l" fontAlgn="b">
                        <a:buNone/>
                      </a:pPr>
                      <a:r>
                        <a:rPr lang="en-IN" sz="900" u="none" strike="noStrike" dirty="0">
                          <a:effectLst/>
                          <a:latin typeface="IBM Plex Sans" panose="020B0503050203000203" pitchFamily="34" charset="0"/>
                        </a:rPr>
                        <a:t>Source Component</a:t>
                      </a:r>
                      <a:endParaRPr lang="en-IN" sz="900" b="1" i="0" u="none" strike="noStrike" dirty="0">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buNone/>
                      </a:pPr>
                      <a:r>
                        <a:rPr lang="en-IN" sz="900" u="none" strike="noStrike" dirty="0">
                          <a:effectLst/>
                          <a:latin typeface="IBM Plex Sans" panose="020B0503050203000203" pitchFamily="34" charset="0"/>
                        </a:rPr>
                        <a:t>Target Component</a:t>
                      </a:r>
                      <a:endParaRPr lang="en-IN" sz="900" b="1" i="0" u="none" strike="noStrike" dirty="0">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buNone/>
                      </a:pPr>
                      <a:r>
                        <a:rPr lang="en-IN" sz="900" u="none" strike="noStrike">
                          <a:effectLst/>
                          <a:latin typeface="IBM Plex Sans" panose="020B0503050203000203" pitchFamily="34" charset="0"/>
                        </a:rPr>
                        <a:t>Communication Purpose</a:t>
                      </a:r>
                      <a:endParaRPr lang="en-IN" sz="900" b="1"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buNone/>
                      </a:pPr>
                      <a:r>
                        <a:rPr lang="en-IN" sz="900" u="none" strike="noStrike">
                          <a:effectLst/>
                          <a:latin typeface="IBM Plex Sans" panose="020B0503050203000203" pitchFamily="34" charset="0"/>
                        </a:rPr>
                        <a:t>Protocol / Communication Type</a:t>
                      </a:r>
                      <a:endParaRPr lang="en-IN" sz="900" b="1"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buNone/>
                      </a:pPr>
                      <a:r>
                        <a:rPr lang="en-IN" sz="900" u="none" strike="noStrike">
                          <a:effectLst/>
                          <a:latin typeface="IBM Plex Sans" panose="020B0503050203000203" pitchFamily="34" charset="0"/>
                        </a:rPr>
                        <a:t>Security Mechanism</a:t>
                      </a:r>
                      <a:endParaRPr lang="en-IN" sz="900" b="1"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buNone/>
                      </a:pPr>
                      <a:r>
                        <a:rPr lang="en-IN" sz="900" u="none" strike="noStrike">
                          <a:effectLst/>
                          <a:latin typeface="IBM Plex Sans" panose="020B0503050203000203" pitchFamily="34" charset="0"/>
                        </a:rPr>
                        <a:t>Authentication / Authorization</a:t>
                      </a:r>
                      <a:endParaRPr lang="en-IN" sz="900" b="1"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buNone/>
                      </a:pPr>
                      <a:r>
                        <a:rPr lang="en-IN" sz="900" u="none" strike="noStrike">
                          <a:effectLst/>
                          <a:latin typeface="IBM Plex Sans" panose="020B0503050203000203" pitchFamily="34" charset="0"/>
                        </a:rPr>
                        <a:t>Remarks</a:t>
                      </a:r>
                      <a:endParaRPr lang="en-IN" sz="900" b="1"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6407361"/>
                  </a:ext>
                </a:extLst>
              </a:tr>
              <a:tr h="287836">
                <a:tc>
                  <a:txBody>
                    <a:bodyPr/>
                    <a:lstStyle/>
                    <a:p>
                      <a:pPr algn="l" fontAlgn="b">
                        <a:buNone/>
                      </a:pPr>
                      <a:r>
                        <a:rPr lang="en-IN" sz="900" u="none" strike="noStrike" dirty="0">
                          <a:effectLst/>
                          <a:latin typeface="IBM Plex Sans" panose="020B0503050203000203" pitchFamily="34" charset="0"/>
                        </a:rPr>
                        <a:t>User Browser / Mobile App</a:t>
                      </a:r>
                      <a:endParaRPr lang="en-IN" sz="900" b="0" i="0" u="none" strike="noStrike" dirty="0">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CDN</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dirty="0">
                          <a:effectLst/>
                          <a:latin typeface="IBM Plex Sans" panose="020B0503050203000203" pitchFamily="34" charset="0"/>
                        </a:rPr>
                        <a:t>Access static content, web assets</a:t>
                      </a:r>
                      <a:endParaRPr lang="en-IN" sz="900" b="0" i="0" u="none" strike="noStrike" dirty="0">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HTTPS</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TLS 1.2+ / 1.3</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Public access or token-aware access as applicable</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CDN should enforce HTTPS only</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27803385"/>
                  </a:ext>
                </a:extLst>
              </a:tr>
              <a:tr h="287836">
                <a:tc>
                  <a:txBody>
                    <a:bodyPr/>
                    <a:lstStyle/>
                    <a:p>
                      <a:pPr algn="l" fontAlgn="b">
                        <a:buNone/>
                      </a:pPr>
                      <a:r>
                        <a:rPr lang="en-IN" sz="900" u="none" strike="noStrike">
                          <a:effectLst/>
                          <a:latin typeface="IBM Plex Sans" panose="020B0503050203000203" pitchFamily="34" charset="0"/>
                        </a:rPr>
                        <a:t>User Browser / Mobile App</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dirty="0">
                          <a:effectLst/>
                          <a:latin typeface="IBM Plex Sans" panose="020B0503050203000203" pitchFamily="34" charset="0"/>
                        </a:rPr>
                        <a:t>Reverse Proxy / Load Balancer</a:t>
                      </a:r>
                      <a:endParaRPr lang="en-IN" sz="900" b="0" i="0" u="none" strike="noStrike" dirty="0">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dirty="0">
                          <a:effectLst/>
                          <a:latin typeface="IBM Plex Sans" panose="020B0503050203000203" pitchFamily="34" charset="0"/>
                        </a:rPr>
                        <a:t>Entry point for UI/API traffic</a:t>
                      </a:r>
                      <a:endParaRPr lang="en-IN" sz="900" b="0" i="0" u="none" strike="noStrike" dirty="0">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dirty="0">
                          <a:effectLst/>
                          <a:latin typeface="IBM Plex Sans" panose="020B0503050203000203" pitchFamily="34" charset="0"/>
                        </a:rPr>
                        <a:t>HTTPS</a:t>
                      </a:r>
                      <a:endParaRPr lang="en-IN" sz="900" b="0" i="0" u="none" strike="noStrike" dirty="0">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TLS 1.2+ / 1.3</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dirty="0">
                          <a:effectLst/>
                          <a:latin typeface="IBM Plex Sans" panose="020B0503050203000203" pitchFamily="34" charset="0"/>
                        </a:rPr>
                        <a:t>Token forwarding / session propagation/MFA</a:t>
                      </a:r>
                      <a:endParaRPr lang="en-IN" sz="900" b="0" i="0" u="none" strike="noStrike" dirty="0">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SSL termination can happen at LB or gateway as per design</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1274550"/>
                  </a:ext>
                </a:extLst>
              </a:tr>
              <a:tr h="287836">
                <a:tc>
                  <a:txBody>
                    <a:bodyPr/>
                    <a:lstStyle/>
                    <a:p>
                      <a:pPr algn="l" fontAlgn="b">
                        <a:buNone/>
                      </a:pPr>
                      <a:r>
                        <a:rPr lang="en-IN" sz="900" u="none" strike="noStrike">
                          <a:effectLst/>
                          <a:latin typeface="IBM Plex Sans" panose="020B0503050203000203" pitchFamily="34" charset="0"/>
                        </a:rPr>
                        <a:t>External User</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Web Portal</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dirty="0">
                          <a:effectLst/>
                          <a:latin typeface="IBM Plex Sans" panose="020B0503050203000203" pitchFamily="34" charset="0"/>
                        </a:rPr>
                        <a:t>Access EPMS over internet</a:t>
                      </a:r>
                      <a:endParaRPr lang="en-IN" sz="900" b="0" i="0" u="none" strike="noStrike" dirty="0">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dirty="0">
                          <a:effectLst/>
                          <a:latin typeface="IBM Plex Sans" panose="020B0503050203000203" pitchFamily="34" charset="0"/>
                        </a:rPr>
                        <a:t>HTTPS</a:t>
                      </a:r>
                      <a:endParaRPr lang="en-IN" sz="900" b="0" i="0" u="none" strike="noStrike" dirty="0">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dirty="0">
                          <a:effectLst/>
                          <a:latin typeface="IBM Plex Sans" panose="020B0503050203000203" pitchFamily="34" charset="0"/>
                        </a:rPr>
                        <a:t>TLS 1.2+ / 1.3, WAF rules, </a:t>
                      </a:r>
                    </a:p>
                    <a:p>
                      <a:pPr algn="l" fontAlgn="b">
                        <a:buNone/>
                      </a:pPr>
                      <a:r>
                        <a:rPr lang="en-IN" sz="900" u="none" strike="noStrike" dirty="0">
                          <a:effectLst/>
                          <a:latin typeface="IBM Plex Sans" panose="020B0503050203000203" pitchFamily="34" charset="0"/>
                        </a:rPr>
                        <a:t>DDoS protection</a:t>
                      </a:r>
                      <a:endParaRPr lang="en-IN" sz="900" b="0" i="0" u="none" strike="noStrike" dirty="0">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dirty="0">
                          <a:effectLst/>
                          <a:latin typeface="IBM Plex Sans" panose="020B0503050203000203" pitchFamily="34" charset="0"/>
                        </a:rPr>
                        <a:t>JWT / SSO via Azure AD/MFA</a:t>
                      </a:r>
                      <a:endParaRPr lang="en-IN" sz="900" b="0" i="0" u="none" strike="noStrike" dirty="0">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External user access should be restricted via policy and role checks</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4546728"/>
                  </a:ext>
                </a:extLst>
              </a:tr>
              <a:tr h="287836">
                <a:tc>
                  <a:txBody>
                    <a:bodyPr/>
                    <a:lstStyle/>
                    <a:p>
                      <a:pPr algn="l" fontAlgn="b">
                        <a:buNone/>
                      </a:pPr>
                      <a:r>
                        <a:rPr lang="en-IN" sz="900" u="none" strike="noStrike">
                          <a:effectLst/>
                          <a:latin typeface="IBM Plex Sans" panose="020B0503050203000203" pitchFamily="34" charset="0"/>
                        </a:rPr>
                        <a:t>Reverse Proxy / Load Balancer</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API Gateway</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Route application/API requests</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dirty="0">
                          <a:effectLst/>
                          <a:latin typeface="IBM Plex Sans" panose="020B0503050203000203" pitchFamily="34" charset="0"/>
                        </a:rPr>
                        <a:t>HTTPS</a:t>
                      </a:r>
                      <a:endParaRPr lang="en-IN" sz="900" b="0" i="0" u="none" strike="noStrike" dirty="0">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dirty="0">
                          <a:effectLst/>
                          <a:latin typeface="IBM Plex Sans" panose="020B0503050203000203" pitchFamily="34" charset="0"/>
                        </a:rPr>
                        <a:t>TLS</a:t>
                      </a:r>
                      <a:endParaRPr lang="en-IN" sz="900" b="0" i="0" u="none" strike="noStrike" dirty="0">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Mutual trust within controlled zone, optional mTLS</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Prefer encrypted internal hop also</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4858013"/>
                  </a:ext>
                </a:extLst>
              </a:tr>
              <a:tr h="287836">
                <a:tc>
                  <a:txBody>
                    <a:bodyPr/>
                    <a:lstStyle/>
                    <a:p>
                      <a:pPr algn="l" fontAlgn="b">
                        <a:buNone/>
                      </a:pPr>
                      <a:r>
                        <a:rPr lang="en-IN" sz="900" u="none" strike="noStrike">
                          <a:effectLst/>
                          <a:latin typeface="IBM Plex Sans" panose="020B0503050203000203" pitchFamily="34" charset="0"/>
                        </a:rPr>
                        <a:t>API Gateway</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Azure AD / Authorization Server</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Authentication and token validation</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dirty="0">
                          <a:effectLst/>
                          <a:latin typeface="IBM Plex Sans" panose="020B0503050203000203" pitchFamily="34" charset="0"/>
                        </a:rPr>
                        <a:t>HTTPS/REST</a:t>
                      </a:r>
                      <a:endParaRPr lang="en-IN" sz="900" b="0" i="0" u="none" strike="noStrike" dirty="0">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dirty="0">
                          <a:effectLst/>
                          <a:latin typeface="IBM Plex Sans" panose="020B0503050203000203" pitchFamily="34" charset="0"/>
                        </a:rPr>
                        <a:t>TLS</a:t>
                      </a:r>
                      <a:endParaRPr lang="en-IN" sz="900" b="0" i="0" u="none" strike="noStrike" dirty="0">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OAuth 2.0 / OpenID Connect / JWT validation</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Gateway validates issuer, audience, expiry, signature</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85276"/>
                  </a:ext>
                </a:extLst>
              </a:tr>
              <a:tr h="287836">
                <a:tc>
                  <a:txBody>
                    <a:bodyPr/>
                    <a:lstStyle/>
                    <a:p>
                      <a:pPr algn="l" fontAlgn="b">
                        <a:buNone/>
                      </a:pPr>
                      <a:r>
                        <a:rPr lang="en-IN" sz="900" u="none" strike="noStrike">
                          <a:effectLst/>
                          <a:latin typeface="IBM Plex Sans" panose="020B0503050203000203" pitchFamily="34" charset="0"/>
                        </a:rPr>
                        <a:t>API Gateway</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MSIL Common Services</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dirty="0">
                          <a:effectLst/>
                          <a:latin typeface="IBM Plex Sans" panose="020B0503050203000203" pitchFamily="34" charset="0"/>
                        </a:rPr>
                        <a:t>Enterprise service </a:t>
                      </a:r>
                    </a:p>
                    <a:p>
                      <a:pPr algn="l" fontAlgn="b">
                        <a:buNone/>
                      </a:pPr>
                      <a:r>
                        <a:rPr lang="en-IN" sz="900" u="none" strike="noStrike" dirty="0">
                          <a:effectLst/>
                          <a:latin typeface="IBM Plex Sans" panose="020B0503050203000203" pitchFamily="34" charset="0"/>
                        </a:rPr>
                        <a:t>access</a:t>
                      </a:r>
                      <a:endParaRPr lang="en-IN" sz="900" b="0" i="0" u="none" strike="noStrike" dirty="0">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HTTPS / REST</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dirty="0">
                          <a:effectLst/>
                          <a:latin typeface="IBM Plex Sans" panose="020B0503050203000203" pitchFamily="34" charset="0"/>
                        </a:rPr>
                        <a:t>TLS</a:t>
                      </a:r>
                      <a:endParaRPr lang="en-IN" sz="900" b="0" i="0" u="none" strike="noStrike" dirty="0">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Service account / OAuth2 / JWT</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Depends on common service contract</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779548"/>
                  </a:ext>
                </a:extLst>
              </a:tr>
              <a:tr h="287836">
                <a:tc>
                  <a:txBody>
                    <a:bodyPr/>
                    <a:lstStyle/>
                    <a:p>
                      <a:pPr algn="l" fontAlgn="b">
                        <a:buNone/>
                      </a:pPr>
                      <a:r>
                        <a:rPr lang="en-IN" sz="900" u="none" strike="noStrike">
                          <a:effectLst/>
                          <a:latin typeface="IBM Plex Sans" panose="020B0503050203000203" pitchFamily="34" charset="0"/>
                        </a:rPr>
                        <a:t>API Gateway</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Web BFF / Mobile BFF</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Forward authenticated API requests</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dirty="0">
                          <a:effectLst/>
                          <a:latin typeface="IBM Plex Sans" panose="020B0503050203000203" pitchFamily="34" charset="0"/>
                        </a:rPr>
                        <a:t>HTTPS / REST</a:t>
                      </a:r>
                      <a:endParaRPr lang="en-IN" sz="900" b="0" i="0" u="none" strike="noStrike" dirty="0">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TLS</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JWT propagation</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Gateway should pass validated user claims</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98559806"/>
                  </a:ext>
                </a:extLst>
              </a:tr>
              <a:tr h="287836">
                <a:tc>
                  <a:txBody>
                    <a:bodyPr/>
                    <a:lstStyle/>
                    <a:p>
                      <a:pPr algn="l" fontAlgn="b">
                        <a:buNone/>
                      </a:pPr>
                      <a:r>
                        <a:rPr lang="en-IN" sz="900" u="none" strike="noStrike">
                          <a:effectLst/>
                          <a:latin typeface="IBM Plex Sans" panose="020B0503050203000203" pitchFamily="34" charset="0"/>
                        </a:rPr>
                        <a:t>Web BFF / Mobile BFF</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Caching Layer</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Session/context/cache lookup</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TLS-enabled Redis protocol</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dirty="0">
                          <a:effectLst/>
                          <a:latin typeface="IBM Plex Sans" panose="020B0503050203000203" pitchFamily="34" charset="0"/>
                        </a:rPr>
                        <a:t>TLS, network isolation</a:t>
                      </a:r>
                      <a:endParaRPr lang="en-IN" sz="900" b="0" i="0" u="none" strike="noStrike" dirty="0">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Auth token / Redis auth / IAM as applicable</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Do not keep sensitive business data in plain cache</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78189131"/>
                  </a:ext>
                </a:extLst>
              </a:tr>
              <a:tr h="287836">
                <a:tc>
                  <a:txBody>
                    <a:bodyPr/>
                    <a:lstStyle/>
                    <a:p>
                      <a:pPr algn="l" fontAlgn="b">
                        <a:buNone/>
                      </a:pPr>
                      <a:r>
                        <a:rPr lang="en-IN" sz="900" u="none" strike="noStrike">
                          <a:effectLst/>
                          <a:latin typeface="IBM Plex Sans" panose="020B0503050203000203" pitchFamily="34" charset="0"/>
                        </a:rPr>
                        <a:t>Web BFF / Mobile BFF</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Biz Microservices</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Business API calls</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dirty="0">
                          <a:effectLst/>
                          <a:latin typeface="IBM Plex Sans" panose="020B0503050203000203" pitchFamily="34" charset="0"/>
                        </a:rPr>
                        <a:t>HTTPS / REST or </a:t>
                      </a:r>
                      <a:r>
                        <a:rPr lang="en-IN" sz="900" u="none" strike="noStrike" dirty="0" err="1">
                          <a:effectLst/>
                          <a:latin typeface="IBM Plex Sans" panose="020B0503050203000203" pitchFamily="34" charset="0"/>
                        </a:rPr>
                        <a:t>gRPC</a:t>
                      </a:r>
                      <a:endParaRPr lang="en-IN" sz="900" b="0" i="0" u="none" strike="noStrike" dirty="0">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dirty="0">
                          <a:effectLst/>
                          <a:latin typeface="IBM Plex Sans" panose="020B0503050203000203" pitchFamily="34" charset="0"/>
                        </a:rPr>
                        <a:t>TLS, preferably </a:t>
                      </a:r>
                      <a:r>
                        <a:rPr lang="en-IN" sz="900" u="none" strike="noStrike" dirty="0" err="1">
                          <a:effectLst/>
                          <a:latin typeface="IBM Plex Sans" panose="020B0503050203000203" pitchFamily="34" charset="0"/>
                        </a:rPr>
                        <a:t>mTLS</a:t>
                      </a:r>
                      <a:r>
                        <a:rPr lang="en-IN" sz="900" u="none" strike="noStrike" dirty="0">
                          <a:effectLst/>
                          <a:latin typeface="IBM Plex Sans" panose="020B0503050203000203" pitchFamily="34" charset="0"/>
                        </a:rPr>
                        <a:t> in service mesh environments</a:t>
                      </a:r>
                      <a:endParaRPr lang="en-IN" sz="900" b="0" i="0" u="none" strike="noStrike" dirty="0">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JWT propagation, service authorization</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User claims may be forwarded for downstream authorization</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60288404"/>
                  </a:ext>
                </a:extLst>
              </a:tr>
              <a:tr h="287836">
                <a:tc>
                  <a:txBody>
                    <a:bodyPr/>
                    <a:lstStyle/>
                    <a:p>
                      <a:pPr algn="l" fontAlgn="b">
                        <a:buNone/>
                      </a:pPr>
                      <a:r>
                        <a:rPr lang="en-IN" sz="900" u="none" strike="noStrike">
                          <a:effectLst/>
                          <a:latin typeface="IBM Plex Sans" panose="020B0503050203000203" pitchFamily="34" charset="0"/>
                        </a:rPr>
                        <a:t>Web BFF / Mobile BFF</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Journey Orchestrator</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dirty="0">
                          <a:effectLst/>
                          <a:latin typeface="IBM Plex Sans" panose="020B0503050203000203" pitchFamily="34" charset="0"/>
                        </a:rPr>
                        <a:t>Initiate business workflows</a:t>
                      </a:r>
                      <a:endParaRPr lang="en-IN" sz="900" b="0" i="0" u="none" strike="noStrike" dirty="0">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dirty="0">
                          <a:effectLst/>
                          <a:latin typeface="IBM Plex Sans" panose="020B0503050203000203" pitchFamily="34" charset="0"/>
                        </a:rPr>
                        <a:t>HTTPS / REST / </a:t>
                      </a:r>
                      <a:r>
                        <a:rPr lang="en-IN" sz="900" u="none" strike="noStrike" dirty="0" err="1">
                          <a:effectLst/>
                          <a:latin typeface="IBM Plex Sans" panose="020B0503050203000203" pitchFamily="34" charset="0"/>
                        </a:rPr>
                        <a:t>gRPC</a:t>
                      </a:r>
                      <a:endParaRPr lang="en-IN" sz="900" b="0" i="0" u="none" strike="noStrike" dirty="0">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dirty="0">
                          <a:effectLst/>
                          <a:latin typeface="IBM Plex Sans" panose="020B0503050203000203" pitchFamily="34" charset="0"/>
                        </a:rPr>
                        <a:t>TLS, preferably </a:t>
                      </a:r>
                      <a:r>
                        <a:rPr lang="en-IN" sz="900" u="none" strike="noStrike" dirty="0" err="1">
                          <a:effectLst/>
                          <a:latin typeface="IBM Plex Sans" panose="020B0503050203000203" pitchFamily="34" charset="0"/>
                        </a:rPr>
                        <a:t>mTLS</a:t>
                      </a:r>
                      <a:endParaRPr lang="en-IN" sz="900" b="0" i="0" u="none" strike="noStrike" dirty="0">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dirty="0">
                          <a:effectLst/>
                          <a:latin typeface="IBM Plex Sans" panose="020B0503050203000203" pitchFamily="34" charset="0"/>
                        </a:rPr>
                        <a:t>JWT + service authorization</a:t>
                      </a:r>
                      <a:endParaRPr lang="en-IN" sz="900" b="0" i="0" u="none" strike="noStrike" dirty="0">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Orchestrator should revalidate permissions for workflow actions</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6646012"/>
                  </a:ext>
                </a:extLst>
              </a:tr>
              <a:tr h="287836">
                <a:tc>
                  <a:txBody>
                    <a:bodyPr/>
                    <a:lstStyle/>
                    <a:p>
                      <a:pPr algn="l" fontAlgn="b">
                        <a:buNone/>
                      </a:pPr>
                      <a:r>
                        <a:rPr lang="en-IN" sz="900" u="none" strike="noStrike">
                          <a:effectLst/>
                          <a:latin typeface="IBM Plex Sans" panose="020B0503050203000203" pitchFamily="34" charset="0"/>
                        </a:rPr>
                        <a:t>Web BFF / Mobile BFF</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AI Orchestrator</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Invoke AI-enabled features</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HTTPS / REST</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TLS</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dirty="0">
                          <a:effectLst/>
                          <a:latin typeface="IBM Plex Sans" panose="020B0503050203000203" pitchFamily="34" charset="0"/>
                        </a:rPr>
                        <a:t>JWT + policy-based authorization</a:t>
                      </a:r>
                      <a:endParaRPr lang="en-IN" sz="900" b="0" i="0" u="none" strike="noStrike" dirty="0">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Sensitive prompts and outputs should be audited</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39092374"/>
                  </a:ext>
                </a:extLst>
              </a:tr>
              <a:tr h="287836">
                <a:tc>
                  <a:txBody>
                    <a:bodyPr/>
                    <a:lstStyle/>
                    <a:p>
                      <a:pPr algn="l" fontAlgn="b">
                        <a:buNone/>
                      </a:pPr>
                      <a:r>
                        <a:rPr lang="en-IN" sz="900" u="none" strike="noStrike">
                          <a:effectLst/>
                          <a:latin typeface="IBM Plex Sans" panose="020B0503050203000203" pitchFamily="34" charset="0"/>
                        </a:rPr>
                        <a:t>Biz Microservices</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Biz Microservices</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Inter-service domain communication</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REST / gRPC</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mTLS via service mesh</a:t>
                      </a:r>
                      <a:endParaRPr lang="en-IN" sz="900" b="1"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dirty="0">
                          <a:effectLst/>
                          <a:latin typeface="IBM Plex Sans" panose="020B0503050203000203" pitchFamily="34" charset="0"/>
                        </a:rPr>
                        <a:t>Service identity + JWT/pass-through claims where needed</a:t>
                      </a:r>
                      <a:endParaRPr lang="en-IN" sz="900" b="0" i="0" u="none" strike="noStrike" dirty="0">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Recommended to use Istio/App Mesh mTLS</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60204841"/>
                  </a:ext>
                </a:extLst>
              </a:tr>
              <a:tr h="287836">
                <a:tc>
                  <a:txBody>
                    <a:bodyPr/>
                    <a:lstStyle/>
                    <a:p>
                      <a:pPr algn="l" fontAlgn="b">
                        <a:buNone/>
                      </a:pPr>
                      <a:r>
                        <a:rPr lang="en-IN" sz="900" u="none" strike="noStrike">
                          <a:effectLst/>
                          <a:latin typeface="IBM Plex Sans" panose="020B0503050203000203" pitchFamily="34" charset="0"/>
                        </a:rPr>
                        <a:t>Biz Microservices</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Journey Orchestrator</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Workflow coordination</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dirty="0">
                          <a:effectLst/>
                          <a:latin typeface="IBM Plex Sans" panose="020B0503050203000203" pitchFamily="34" charset="0"/>
                        </a:rPr>
                        <a:t>REST / event call</a:t>
                      </a:r>
                      <a:endParaRPr lang="en-IN" sz="900" b="0" i="0" u="none" strike="noStrike" dirty="0">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mTLS or TLS</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dirty="0">
                          <a:effectLst/>
                          <a:latin typeface="IBM Plex Sans" panose="020B0503050203000203" pitchFamily="34" charset="0"/>
                        </a:rPr>
                        <a:t>Service-to-service auth</a:t>
                      </a:r>
                      <a:endParaRPr lang="en-IN" sz="900" b="0" i="0" u="none" strike="noStrike" dirty="0">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Long-running processes should use signed and traceable requests</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0716492"/>
                  </a:ext>
                </a:extLst>
              </a:tr>
              <a:tr h="287836">
                <a:tc>
                  <a:txBody>
                    <a:bodyPr/>
                    <a:lstStyle/>
                    <a:p>
                      <a:pPr algn="l" fontAlgn="b">
                        <a:buNone/>
                      </a:pPr>
                      <a:r>
                        <a:rPr lang="en-IN" sz="900" u="none" strike="noStrike">
                          <a:effectLst/>
                          <a:latin typeface="IBM Plex Sans" panose="020B0503050203000203" pitchFamily="34" charset="0"/>
                        </a:rPr>
                        <a:t>Biz Microservices</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Integration Microservices</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External system invocation</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dirty="0">
                          <a:effectLst/>
                          <a:latin typeface="IBM Plex Sans" panose="020B0503050203000203" pitchFamily="34" charset="0"/>
                        </a:rPr>
                        <a:t>REST / async trigger</a:t>
                      </a:r>
                      <a:endParaRPr lang="en-IN" sz="900" b="0" i="0" u="none" strike="noStrike" dirty="0">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TLS / mTLS</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dirty="0">
                          <a:effectLst/>
                          <a:latin typeface="IBM Plex Sans" panose="020B0503050203000203" pitchFamily="34" charset="0"/>
                        </a:rPr>
                        <a:t>Service authentication</a:t>
                      </a:r>
                      <a:endParaRPr lang="en-IN" sz="900" b="0" i="0" u="none" strike="noStrike" dirty="0">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Adapter acts as anti-corruption and isolation layer</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96890945"/>
                  </a:ext>
                </a:extLst>
              </a:tr>
              <a:tr h="146793">
                <a:tc>
                  <a:txBody>
                    <a:bodyPr/>
                    <a:lstStyle/>
                    <a:p>
                      <a:pPr algn="l" fontAlgn="b">
                        <a:buNone/>
                      </a:pPr>
                      <a:r>
                        <a:rPr lang="en-IN" sz="900" u="none" strike="noStrike">
                          <a:effectLst/>
                          <a:latin typeface="IBM Plex Sans" panose="020B0503050203000203" pitchFamily="34" charset="0"/>
                        </a:rPr>
                        <a:t>Biz Microservices</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Document Repository</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Store/retrieve documents</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HTTPS / API / SDK</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TLS</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dirty="0">
                          <a:effectLst/>
                          <a:latin typeface="IBM Plex Sans" panose="020B0503050203000203" pitchFamily="34" charset="0"/>
                        </a:rPr>
                        <a:t>Service auth / IAM / signed URL / access token</a:t>
                      </a:r>
                      <a:endParaRPr lang="en-IN" sz="900" b="0" i="0" u="none" strike="noStrike" dirty="0">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Documents should be encrypted at rest</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2935687"/>
                  </a:ext>
                </a:extLst>
              </a:tr>
              <a:tr h="287836">
                <a:tc>
                  <a:txBody>
                    <a:bodyPr/>
                    <a:lstStyle/>
                    <a:p>
                      <a:pPr algn="l" fontAlgn="b">
                        <a:buNone/>
                      </a:pPr>
                      <a:r>
                        <a:rPr lang="en-IN" sz="900" u="none" strike="noStrike">
                          <a:effectLst/>
                          <a:latin typeface="IBM Plex Sans" panose="020B0503050203000203" pitchFamily="34" charset="0"/>
                        </a:rPr>
                        <a:t>Biz Microservices</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RDBMS</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Transactional data persistence</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Native DB protocol</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TLS</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dirty="0">
                          <a:effectLst/>
                          <a:latin typeface="IBM Plex Sans" panose="020B0503050203000203" pitchFamily="34" charset="0"/>
                        </a:rPr>
                        <a:t>DB user / IAM auth / secret-managed creds</a:t>
                      </a:r>
                      <a:endParaRPr lang="en-IN" sz="900" b="0" i="0" u="none" strike="noStrike" dirty="0">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dirty="0">
                          <a:effectLst/>
                          <a:latin typeface="IBM Plex Sans" panose="020B0503050203000203" pitchFamily="34" charset="0"/>
                        </a:rPr>
                        <a:t>Restrict direct DB access to service accounts only</a:t>
                      </a:r>
                      <a:endParaRPr lang="en-IN" sz="900" b="0" i="0" u="none" strike="noStrike" dirty="0">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0192982"/>
                  </a:ext>
                </a:extLst>
              </a:tr>
              <a:tr h="287836">
                <a:tc>
                  <a:txBody>
                    <a:bodyPr/>
                    <a:lstStyle/>
                    <a:p>
                      <a:pPr algn="l" fontAlgn="b">
                        <a:buNone/>
                      </a:pPr>
                      <a:r>
                        <a:rPr lang="en-IN" sz="900" u="none" strike="noStrike">
                          <a:effectLst/>
                          <a:latin typeface="IBM Plex Sans" panose="020B0503050203000203" pitchFamily="34" charset="0"/>
                        </a:rPr>
                        <a:t>Biz Microservices</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NoSQL / Vector DB</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Metadata / AI / flexible data access</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Secure DB protocol</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TLS</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Service account / IAM / DB creds</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dirty="0">
                          <a:effectLst/>
                          <a:latin typeface="IBM Plex Sans" panose="020B0503050203000203" pitchFamily="34" charset="0"/>
                        </a:rPr>
                        <a:t>Apply network segmentation and scoped permissions</a:t>
                      </a:r>
                      <a:endParaRPr lang="en-IN" sz="900" b="0" i="0" u="none" strike="noStrike" dirty="0">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73118664"/>
                  </a:ext>
                </a:extLst>
              </a:tr>
            </a:tbl>
          </a:graphicData>
        </a:graphic>
      </p:graphicFrame>
      <p:sp>
        <p:nvSpPr>
          <p:cNvPr id="4" name="TextBox 3">
            <a:extLst>
              <a:ext uri="{FF2B5EF4-FFF2-40B4-BE49-F238E27FC236}">
                <a16:creationId xmlns:a16="http://schemas.microsoft.com/office/drawing/2014/main" id="{5A917992-3357-DE57-3DD7-267678E29B79}"/>
              </a:ext>
            </a:extLst>
          </p:cNvPr>
          <p:cNvSpPr txBox="1"/>
          <p:nvPr/>
        </p:nvSpPr>
        <p:spPr>
          <a:xfrm>
            <a:off x="0" y="931569"/>
            <a:ext cx="2687444" cy="261610"/>
          </a:xfrm>
          <a:prstGeom prst="rect">
            <a:avLst/>
          </a:prstGeom>
          <a:noFill/>
        </p:spPr>
        <p:txBody>
          <a:bodyPr wrap="square" rtlCol="0">
            <a:spAutoFit/>
          </a:bodyPr>
          <a:lstStyle/>
          <a:p>
            <a:r>
              <a:rPr lang="en-US" sz="1100" dirty="0">
                <a:latin typeface="IBM Plex Sans" panose="020B0503050203000203" pitchFamily="34" charset="0"/>
              </a:rPr>
              <a:t>Security Architecture Details</a:t>
            </a:r>
          </a:p>
        </p:txBody>
      </p:sp>
    </p:spTree>
    <p:extLst>
      <p:ext uri="{BB962C8B-B14F-4D97-AF65-F5344CB8AC3E}">
        <p14:creationId xmlns:p14="http://schemas.microsoft.com/office/powerpoint/2010/main" val="16235496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21E3D19-A130-6B5B-4939-05EF8E321715}"/>
              </a:ext>
            </a:extLst>
          </p:cNvPr>
          <p:cNvSpPr>
            <a:spLocks noGrp="1"/>
          </p:cNvSpPr>
          <p:nvPr>
            <p:ph type="sldNum" sz="quarter" idx="12"/>
          </p:nvPr>
        </p:nvSpPr>
        <p:spPr/>
        <p:txBody>
          <a:bodyPr/>
          <a:lstStyle/>
          <a:p>
            <a:fld id="{682A9D49-871F-5640-BCE3-20634A9797B6}" type="slidenum">
              <a:rPr lang="en-US" smtClean="0"/>
              <a:t>18</a:t>
            </a:fld>
            <a:endParaRPr lang="en-US"/>
          </a:p>
        </p:txBody>
      </p:sp>
      <p:graphicFrame>
        <p:nvGraphicFramePr>
          <p:cNvPr id="3" name="Table 2">
            <a:extLst>
              <a:ext uri="{FF2B5EF4-FFF2-40B4-BE49-F238E27FC236}">
                <a16:creationId xmlns:a16="http://schemas.microsoft.com/office/drawing/2014/main" id="{DD3BE94C-3280-8CD4-DD70-F759CAD5617E}"/>
              </a:ext>
            </a:extLst>
          </p:cNvPr>
          <p:cNvGraphicFramePr>
            <a:graphicFrameLocks noGrp="1"/>
          </p:cNvGraphicFramePr>
          <p:nvPr>
            <p:extLst>
              <p:ext uri="{D42A27DB-BD31-4B8C-83A1-F6EECF244321}">
                <p14:modId xmlns:p14="http://schemas.microsoft.com/office/powerpoint/2010/main" val="833780713"/>
              </p:ext>
            </p:extLst>
          </p:nvPr>
        </p:nvGraphicFramePr>
        <p:xfrm>
          <a:off x="148838" y="1193179"/>
          <a:ext cx="11520000" cy="5039997"/>
        </p:xfrm>
        <a:graphic>
          <a:graphicData uri="http://schemas.openxmlformats.org/drawingml/2006/table">
            <a:tbl>
              <a:tblPr firstRow="1">
                <a:tableStyleId>{B301B821-A1FF-4177-AEE7-76D212191A09}</a:tableStyleId>
              </a:tblPr>
              <a:tblGrid>
                <a:gridCol w="1159964">
                  <a:extLst>
                    <a:ext uri="{9D8B030D-6E8A-4147-A177-3AD203B41FA5}">
                      <a16:colId xmlns:a16="http://schemas.microsoft.com/office/drawing/2014/main" val="4172832457"/>
                    </a:ext>
                  </a:extLst>
                </a:gridCol>
                <a:gridCol w="1317213">
                  <a:extLst>
                    <a:ext uri="{9D8B030D-6E8A-4147-A177-3AD203B41FA5}">
                      <a16:colId xmlns:a16="http://schemas.microsoft.com/office/drawing/2014/main" val="2624204398"/>
                    </a:ext>
                  </a:extLst>
                </a:gridCol>
                <a:gridCol w="1653225">
                  <a:extLst>
                    <a:ext uri="{9D8B030D-6E8A-4147-A177-3AD203B41FA5}">
                      <a16:colId xmlns:a16="http://schemas.microsoft.com/office/drawing/2014/main" val="3233534868"/>
                    </a:ext>
                  </a:extLst>
                </a:gridCol>
                <a:gridCol w="927617">
                  <a:extLst>
                    <a:ext uri="{9D8B030D-6E8A-4147-A177-3AD203B41FA5}">
                      <a16:colId xmlns:a16="http://schemas.microsoft.com/office/drawing/2014/main" val="392934916"/>
                    </a:ext>
                  </a:extLst>
                </a:gridCol>
                <a:gridCol w="1717345">
                  <a:extLst>
                    <a:ext uri="{9D8B030D-6E8A-4147-A177-3AD203B41FA5}">
                      <a16:colId xmlns:a16="http://schemas.microsoft.com/office/drawing/2014/main" val="2008825267"/>
                    </a:ext>
                  </a:extLst>
                </a:gridCol>
                <a:gridCol w="2068336">
                  <a:extLst>
                    <a:ext uri="{9D8B030D-6E8A-4147-A177-3AD203B41FA5}">
                      <a16:colId xmlns:a16="http://schemas.microsoft.com/office/drawing/2014/main" val="2726536259"/>
                    </a:ext>
                  </a:extLst>
                </a:gridCol>
                <a:gridCol w="2676300">
                  <a:extLst>
                    <a:ext uri="{9D8B030D-6E8A-4147-A177-3AD203B41FA5}">
                      <a16:colId xmlns:a16="http://schemas.microsoft.com/office/drawing/2014/main" val="2829526044"/>
                    </a:ext>
                  </a:extLst>
                </a:gridCol>
              </a:tblGrid>
              <a:tr h="417666">
                <a:tc>
                  <a:txBody>
                    <a:bodyPr/>
                    <a:lstStyle/>
                    <a:p>
                      <a:pPr algn="l" fontAlgn="b">
                        <a:buNone/>
                      </a:pPr>
                      <a:r>
                        <a:rPr lang="en-IN" sz="900" u="none" strike="noStrike" dirty="0">
                          <a:effectLst/>
                          <a:latin typeface="IBM Plex Sans" panose="020B0503050203000203" pitchFamily="34" charset="0"/>
                        </a:rPr>
                        <a:t>Source Component</a:t>
                      </a:r>
                      <a:endParaRPr lang="en-IN" sz="900" b="1" i="0" u="none" strike="noStrike" dirty="0">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buNone/>
                      </a:pPr>
                      <a:r>
                        <a:rPr lang="en-IN" sz="900" u="none" strike="noStrike" dirty="0">
                          <a:effectLst/>
                          <a:latin typeface="IBM Plex Sans" panose="020B0503050203000203" pitchFamily="34" charset="0"/>
                        </a:rPr>
                        <a:t>Target Component</a:t>
                      </a:r>
                      <a:endParaRPr lang="en-IN" sz="900" b="1" i="0" u="none" strike="noStrike" dirty="0">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buNone/>
                      </a:pPr>
                      <a:r>
                        <a:rPr lang="en-IN" sz="900" u="none" strike="noStrike" dirty="0">
                          <a:effectLst/>
                          <a:latin typeface="IBM Plex Sans" panose="020B0503050203000203" pitchFamily="34" charset="0"/>
                        </a:rPr>
                        <a:t>Communication Purpose</a:t>
                      </a:r>
                      <a:endParaRPr lang="en-IN" sz="900" b="1" i="0" u="none" strike="noStrike" dirty="0">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buNone/>
                      </a:pPr>
                      <a:r>
                        <a:rPr lang="en-IN" sz="900" u="none" strike="noStrike" dirty="0">
                          <a:effectLst/>
                          <a:latin typeface="IBM Plex Sans" panose="020B0503050203000203" pitchFamily="34" charset="0"/>
                        </a:rPr>
                        <a:t>Protocol / Communication Type</a:t>
                      </a:r>
                      <a:endParaRPr lang="en-IN" sz="900" b="1" i="0" u="none" strike="noStrike" dirty="0">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buNone/>
                      </a:pPr>
                      <a:r>
                        <a:rPr lang="en-IN" sz="900" u="none" strike="noStrike">
                          <a:effectLst/>
                          <a:latin typeface="IBM Plex Sans" panose="020B0503050203000203" pitchFamily="34" charset="0"/>
                        </a:rPr>
                        <a:t>Security Mechanism</a:t>
                      </a:r>
                      <a:endParaRPr lang="en-IN" sz="900" b="1"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buNone/>
                      </a:pPr>
                      <a:r>
                        <a:rPr lang="en-IN" sz="900" u="none" strike="noStrike">
                          <a:effectLst/>
                          <a:latin typeface="IBM Plex Sans" panose="020B0503050203000203" pitchFamily="34" charset="0"/>
                        </a:rPr>
                        <a:t>Authentication / Authorization</a:t>
                      </a:r>
                      <a:endParaRPr lang="en-IN" sz="900" b="1"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buNone/>
                      </a:pPr>
                      <a:r>
                        <a:rPr lang="en-IN" sz="900" u="none" strike="noStrike">
                          <a:effectLst/>
                          <a:latin typeface="IBM Plex Sans" panose="020B0503050203000203" pitchFamily="34" charset="0"/>
                        </a:rPr>
                        <a:t>Remarks</a:t>
                      </a:r>
                      <a:endParaRPr lang="en-IN" sz="900" b="1"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6407361"/>
                  </a:ext>
                </a:extLst>
              </a:tr>
              <a:tr h="280311">
                <a:tc>
                  <a:txBody>
                    <a:bodyPr/>
                    <a:lstStyle/>
                    <a:p>
                      <a:pPr algn="l" fontAlgn="b">
                        <a:buNone/>
                      </a:pPr>
                      <a:r>
                        <a:rPr lang="en-IN" sz="900" u="none" strike="noStrike">
                          <a:effectLst/>
                          <a:latin typeface="IBM Plex Sans" panose="020B0503050203000203" pitchFamily="34" charset="0"/>
                        </a:rPr>
                        <a:t>Biz Microservices</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Rule Engine</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dirty="0">
                          <a:effectLst/>
                          <a:latin typeface="IBM Plex Sans" panose="020B0503050203000203" pitchFamily="34" charset="0"/>
                        </a:rPr>
                        <a:t>Rule evaluation / decision lookup</a:t>
                      </a:r>
                      <a:endParaRPr lang="en-IN" sz="900" b="0" i="0" u="none" strike="noStrike" dirty="0">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dirty="0">
                          <a:effectLst/>
                          <a:latin typeface="IBM Plex Sans" panose="020B0503050203000203" pitchFamily="34" charset="0"/>
                        </a:rPr>
                        <a:t>REST </a:t>
                      </a:r>
                      <a:endParaRPr lang="en-IN" sz="900" b="0" i="0" u="none" strike="noStrike" dirty="0">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dirty="0">
                          <a:effectLst/>
                          <a:latin typeface="IBM Plex Sans" panose="020B0503050203000203" pitchFamily="34" charset="0"/>
                        </a:rPr>
                        <a:t>TLS / </a:t>
                      </a:r>
                      <a:r>
                        <a:rPr lang="en-IN" sz="900" u="none" strike="noStrike" dirty="0" err="1">
                          <a:effectLst/>
                          <a:latin typeface="IBM Plex Sans" panose="020B0503050203000203" pitchFamily="34" charset="0"/>
                        </a:rPr>
                        <a:t>mTLS</a:t>
                      </a:r>
                      <a:endParaRPr lang="en-IN" sz="900" b="0" i="0" u="none" strike="noStrike" dirty="0">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Service authentication</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dirty="0">
                          <a:effectLst/>
                          <a:latin typeface="IBM Plex Sans" panose="020B0503050203000203" pitchFamily="34" charset="0"/>
                        </a:rPr>
                        <a:t>Rule changes should be admin-controlled and audited</a:t>
                      </a:r>
                      <a:endParaRPr lang="en-IN" sz="900" b="0" i="0" u="none" strike="noStrike" dirty="0">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44646277"/>
                  </a:ext>
                </a:extLst>
              </a:tr>
              <a:tr h="280311">
                <a:tc>
                  <a:txBody>
                    <a:bodyPr/>
                    <a:lstStyle/>
                    <a:p>
                      <a:pPr algn="l" fontAlgn="b">
                        <a:buNone/>
                      </a:pPr>
                      <a:r>
                        <a:rPr lang="en-IN" sz="900" u="none" strike="noStrike" dirty="0">
                          <a:effectLst/>
                          <a:latin typeface="IBM Plex Sans" panose="020B0503050203000203" pitchFamily="34" charset="0"/>
                        </a:rPr>
                        <a:t>Biz Microservices</a:t>
                      </a:r>
                      <a:endParaRPr lang="en-IN" sz="900" b="0" i="0" u="none" strike="noStrike" dirty="0">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dirty="0">
                          <a:effectLst/>
                          <a:latin typeface="IBM Plex Sans" panose="020B0503050203000203" pitchFamily="34" charset="0"/>
                        </a:rPr>
                        <a:t>Event Messaging Platform</a:t>
                      </a:r>
                      <a:endParaRPr lang="en-IN" sz="900" b="0" i="0" u="none" strike="noStrike" dirty="0">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Publish domain events</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AMQP / Kafka </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dirty="0">
                          <a:effectLst/>
                          <a:latin typeface="IBM Plex Sans" panose="020B0503050203000203" pitchFamily="34" charset="0"/>
                        </a:rPr>
                        <a:t>TLS, preferably </a:t>
                      </a:r>
                      <a:r>
                        <a:rPr lang="en-IN" sz="900" u="none" strike="noStrike" dirty="0" err="1">
                          <a:effectLst/>
                          <a:latin typeface="IBM Plex Sans" panose="020B0503050203000203" pitchFamily="34" charset="0"/>
                        </a:rPr>
                        <a:t>mTLS</a:t>
                      </a:r>
                      <a:r>
                        <a:rPr lang="en-IN" sz="900" u="none" strike="noStrike" dirty="0">
                          <a:effectLst/>
                          <a:latin typeface="IBM Plex Sans" panose="020B0503050203000203" pitchFamily="34" charset="0"/>
                        </a:rPr>
                        <a:t> if supported</a:t>
                      </a:r>
                      <a:endParaRPr lang="en-IN" sz="900" b="0" i="0" u="none" strike="noStrike" dirty="0">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Producer auth via cert / IAM / SASL</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dirty="0">
                          <a:effectLst/>
                          <a:latin typeface="IBM Plex Sans" panose="020B0503050203000203" pitchFamily="34" charset="0"/>
                        </a:rPr>
                        <a:t>Events should carry minimal sensitive data</a:t>
                      </a:r>
                      <a:endParaRPr lang="en-IN" sz="900" b="0" i="0" u="none" strike="noStrike" dirty="0">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1510624"/>
                  </a:ext>
                </a:extLst>
              </a:tr>
              <a:tr h="417666">
                <a:tc>
                  <a:txBody>
                    <a:bodyPr/>
                    <a:lstStyle/>
                    <a:p>
                      <a:pPr algn="l" fontAlgn="b">
                        <a:buNone/>
                      </a:pPr>
                      <a:r>
                        <a:rPr lang="en-IN" sz="900" u="none" strike="noStrike">
                          <a:effectLst/>
                          <a:latin typeface="IBM Plex Sans" panose="020B0503050203000203" pitchFamily="34" charset="0"/>
                        </a:rPr>
                        <a:t>Biz Microservices / Orchestrator / AI Orchestrator</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dirty="0">
                          <a:effectLst/>
                          <a:latin typeface="IBM Plex Sans" panose="020B0503050203000203" pitchFamily="34" charset="0"/>
                        </a:rPr>
                        <a:t>Log Agent / Monitoring</a:t>
                      </a:r>
                      <a:endParaRPr lang="en-IN" sz="900" b="0" i="0" u="none" strike="noStrike" dirty="0">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Send logs, traces, metrics</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Agent protocol</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TLS</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Agent/service identity</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Avoid logging secrets, tokens, or PII</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5956037"/>
                  </a:ext>
                </a:extLst>
              </a:tr>
              <a:tr h="280311">
                <a:tc>
                  <a:txBody>
                    <a:bodyPr/>
                    <a:lstStyle/>
                    <a:p>
                      <a:pPr algn="l" fontAlgn="b">
                        <a:buNone/>
                      </a:pPr>
                      <a:r>
                        <a:rPr lang="en-IN" sz="900" u="none" strike="noStrike">
                          <a:effectLst/>
                          <a:latin typeface="IBM Plex Sans" panose="020B0503050203000203" pitchFamily="34" charset="0"/>
                        </a:rPr>
                        <a:t>Journey Orchestrator</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Event Messaging Platform</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Publish workflow events</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AMQP / Kafka </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dirty="0">
                          <a:effectLst/>
                          <a:latin typeface="IBM Plex Sans" panose="020B0503050203000203" pitchFamily="34" charset="0"/>
                        </a:rPr>
                        <a:t>TLS</a:t>
                      </a:r>
                      <a:endParaRPr lang="en-IN" sz="900" b="0" i="0" u="none" strike="noStrike" dirty="0">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Producer identity / IAM</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Workflow audit events recommended</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5380935"/>
                  </a:ext>
                </a:extLst>
              </a:tr>
              <a:tr h="280311">
                <a:tc>
                  <a:txBody>
                    <a:bodyPr/>
                    <a:lstStyle/>
                    <a:p>
                      <a:pPr algn="l" fontAlgn="b">
                        <a:buNone/>
                      </a:pPr>
                      <a:r>
                        <a:rPr lang="en-IN" sz="900" u="none" strike="noStrike">
                          <a:effectLst/>
                          <a:latin typeface="IBM Plex Sans" panose="020B0503050203000203" pitchFamily="34" charset="0"/>
                        </a:rPr>
                        <a:t>Integration Microservices</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Event Messaging Platform</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Publish integration events</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AMQP / Kafka </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TLS</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dirty="0">
                          <a:effectLst/>
                          <a:latin typeface="IBM Plex Sans" panose="020B0503050203000203" pitchFamily="34" charset="0"/>
                        </a:rPr>
                        <a:t>Producer auth</a:t>
                      </a:r>
                      <a:endParaRPr lang="en-IN" sz="900" b="0" i="0" u="none" strike="noStrike" dirty="0">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Good for decoupled webhook processing</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58534317"/>
                  </a:ext>
                </a:extLst>
              </a:tr>
              <a:tr h="417666">
                <a:tc>
                  <a:txBody>
                    <a:bodyPr/>
                    <a:lstStyle/>
                    <a:p>
                      <a:pPr algn="l" fontAlgn="b">
                        <a:buNone/>
                      </a:pPr>
                      <a:r>
                        <a:rPr lang="en-IN" sz="900" u="none" strike="noStrike">
                          <a:effectLst/>
                          <a:latin typeface="IBM Plex Sans" panose="020B0503050203000203" pitchFamily="34" charset="0"/>
                        </a:rPr>
                        <a:t>Integration Microservices</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External Systems (JIRA, Zendesk, SAP SuccessFactors, Jenkins)</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System-to-system integration</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HTTPS / REST / Webhook / Odata API</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TLS 1.2+ / 1.3</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dirty="0">
                          <a:effectLst/>
                          <a:latin typeface="IBM Plex Sans" panose="020B0503050203000203" pitchFamily="34" charset="0"/>
                        </a:rPr>
                        <a:t>OAuth2, API key, Basic Auth, signed webhook, service credentials</a:t>
                      </a:r>
                      <a:endParaRPr lang="en-IN" sz="900" b="0" i="0" u="none" strike="noStrike" dirty="0">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Auth model depends on external system</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3645289"/>
                  </a:ext>
                </a:extLst>
              </a:tr>
              <a:tr h="142956">
                <a:tc>
                  <a:txBody>
                    <a:bodyPr/>
                    <a:lstStyle/>
                    <a:p>
                      <a:pPr algn="l" fontAlgn="b">
                        <a:buNone/>
                      </a:pPr>
                      <a:r>
                        <a:rPr lang="en-IN" sz="900" u="none" strike="noStrike">
                          <a:effectLst/>
                          <a:latin typeface="IBM Plex Sans" panose="020B0503050203000203" pitchFamily="34" charset="0"/>
                        </a:rPr>
                        <a:t>GenAI Platform</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LLM</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Model inference call</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HTTPS / API</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TLS</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dirty="0">
                          <a:effectLst/>
                          <a:latin typeface="IBM Plex Sans" panose="020B0503050203000203" pitchFamily="34" charset="0"/>
                        </a:rPr>
                        <a:t>Platform-managed credentials / IAM</a:t>
                      </a:r>
                      <a:endParaRPr lang="en-IN" sz="900" b="0" i="0" u="none" strike="noStrike" dirty="0">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Prefer private endpoint if available</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0182113"/>
                  </a:ext>
                </a:extLst>
              </a:tr>
              <a:tr h="280311">
                <a:tc>
                  <a:txBody>
                    <a:bodyPr/>
                    <a:lstStyle/>
                    <a:p>
                      <a:pPr algn="l" fontAlgn="b">
                        <a:buNone/>
                      </a:pPr>
                      <a:r>
                        <a:rPr lang="en-IN" sz="900" u="none" strike="noStrike">
                          <a:effectLst/>
                          <a:latin typeface="IBM Plex Sans" panose="020B0503050203000203" pitchFamily="34" charset="0"/>
                        </a:rPr>
                        <a:t>AI Orchestrator</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GenAI Platform</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Prompt/response invocation</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HTTPS / API</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TLS</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dirty="0">
                          <a:effectLst/>
                          <a:latin typeface="IBM Plex Sans" panose="020B0503050203000203" pitchFamily="34" charset="0"/>
                        </a:rPr>
                        <a:t>API key / IAM / OAuth depending on platform</a:t>
                      </a:r>
                      <a:endParaRPr lang="en-IN" sz="900" b="0" i="0" u="none" strike="noStrike" dirty="0">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dirty="0">
                          <a:effectLst/>
                          <a:latin typeface="IBM Plex Sans" panose="020B0503050203000203" pitchFamily="34" charset="0"/>
                        </a:rPr>
                        <a:t>Apply prompt guardrails and response filtering</a:t>
                      </a:r>
                      <a:endParaRPr lang="en-IN" sz="900" b="0" i="0" u="none" strike="noStrike" dirty="0">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38135268"/>
                  </a:ext>
                </a:extLst>
              </a:tr>
              <a:tr h="280311">
                <a:tc>
                  <a:txBody>
                    <a:bodyPr/>
                    <a:lstStyle/>
                    <a:p>
                      <a:pPr algn="l" fontAlgn="b">
                        <a:buNone/>
                      </a:pPr>
                      <a:r>
                        <a:rPr lang="en-IN" sz="900" u="none" strike="noStrike">
                          <a:effectLst/>
                          <a:latin typeface="IBM Plex Sans" panose="020B0503050203000203" pitchFamily="34" charset="0"/>
                        </a:rPr>
                        <a:t>AI Orchestrator</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Vector DB</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Semantic retrieval</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Secure DB Protocol / API</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TLS</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Service auth</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dirty="0">
                          <a:effectLst/>
                          <a:latin typeface="IBM Plex Sans" panose="020B0503050203000203" pitchFamily="34" charset="0"/>
                        </a:rPr>
                        <a:t>Retrieval scope should respect user authorization</a:t>
                      </a:r>
                      <a:endParaRPr lang="en-IN" sz="900" b="0" i="0" u="none" strike="noStrike" dirty="0">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28356316"/>
                  </a:ext>
                </a:extLst>
              </a:tr>
              <a:tr h="142956">
                <a:tc>
                  <a:txBody>
                    <a:bodyPr/>
                    <a:lstStyle/>
                    <a:p>
                      <a:pPr algn="l" fontAlgn="b">
                        <a:buNone/>
                      </a:pPr>
                      <a:r>
                        <a:rPr lang="en-IN" sz="900" u="none" strike="noStrike">
                          <a:effectLst/>
                          <a:latin typeface="IBM Plex Sans" panose="020B0503050203000203" pitchFamily="34" charset="0"/>
                        </a:rPr>
                        <a:t>Reports &amp; Dashboards</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Enterprise Data Lake</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Reporting / analytics access</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HTTPS / API</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TLS</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IAM / service role / RBAC</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BI access should be role-restricted</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79813643"/>
                  </a:ext>
                </a:extLst>
              </a:tr>
              <a:tr h="280311">
                <a:tc>
                  <a:txBody>
                    <a:bodyPr/>
                    <a:lstStyle/>
                    <a:p>
                      <a:pPr algn="l" fontAlgn="b">
                        <a:buNone/>
                      </a:pPr>
                      <a:r>
                        <a:rPr lang="en-IN" sz="900" u="none" strike="noStrike">
                          <a:effectLst/>
                          <a:latin typeface="IBM Plex Sans" panose="020B0503050203000203" pitchFamily="34" charset="0"/>
                        </a:rPr>
                        <a:t>Project Manager / Admin UI</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Rule Engine</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Rule configuration</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HTTPS</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TLS</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RBAC, </a:t>
                      </a:r>
                      <a:r>
                        <a:rPr lang="en-IN" sz="900" u="none" strike="noStrike" dirty="0">
                          <a:effectLst/>
                          <a:latin typeface="IBM Plex Sans" panose="020B0503050203000203" pitchFamily="34" charset="0"/>
                        </a:rPr>
                        <a:t>admin privileges</a:t>
                      </a:r>
                      <a:endParaRPr lang="en-IN" sz="900" b="0" i="0" u="none" strike="noStrike" dirty="0">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dirty="0">
                          <a:effectLst/>
                          <a:latin typeface="IBM Plex Sans" panose="020B0503050203000203" pitchFamily="34" charset="0"/>
                        </a:rPr>
                        <a:t>High-risk operation; must be audited</a:t>
                      </a:r>
                      <a:endParaRPr lang="en-IN" sz="900" b="0" i="0" u="none" strike="noStrike" dirty="0">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19658382"/>
                  </a:ext>
                </a:extLst>
              </a:tr>
              <a:tr h="280311">
                <a:tc>
                  <a:txBody>
                    <a:bodyPr/>
                    <a:lstStyle/>
                    <a:p>
                      <a:pPr algn="l" fontAlgn="b">
                        <a:buNone/>
                      </a:pPr>
                      <a:r>
                        <a:rPr lang="en-IN" sz="900" u="none" strike="noStrike">
                          <a:effectLst/>
                          <a:latin typeface="IBM Plex Sans" panose="020B0503050203000203" pitchFamily="34" charset="0"/>
                        </a:rPr>
                        <a:t>Search Service</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RDBMS / NoSQL / Vector DB</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Read indexed source data</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Secure DB / API </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TLS</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Service account</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dirty="0">
                          <a:effectLst/>
                          <a:latin typeface="IBM Plex Sans" panose="020B0503050203000203" pitchFamily="34" charset="0"/>
                        </a:rPr>
                        <a:t>Prefer controlled ingestion path over broad DB access</a:t>
                      </a:r>
                      <a:endParaRPr lang="en-IN" sz="900" b="0" i="0" u="none" strike="noStrike" dirty="0">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25734007"/>
                  </a:ext>
                </a:extLst>
              </a:tr>
              <a:tr h="280311">
                <a:tc>
                  <a:txBody>
                    <a:bodyPr/>
                    <a:lstStyle/>
                    <a:p>
                      <a:pPr algn="l" fontAlgn="b">
                        <a:buNone/>
                      </a:pPr>
                      <a:r>
                        <a:rPr lang="en-IN" sz="900" u="none" strike="noStrike">
                          <a:effectLst/>
                          <a:latin typeface="IBM Plex Sans" panose="020B0503050203000203" pitchFamily="34" charset="0"/>
                        </a:rPr>
                        <a:t>Platform / Monitoring</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Incident Management Tool</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Raise alerts / incidents</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HTTPS / API</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TLS</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API token / service account</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dirty="0">
                          <a:effectLst/>
                          <a:latin typeface="IBM Plex Sans" panose="020B0503050203000203" pitchFamily="34" charset="0"/>
                        </a:rPr>
                        <a:t>For Sev1/Sev2 operational alerts</a:t>
                      </a:r>
                      <a:endParaRPr lang="en-IN" sz="900" b="0" i="0" u="none" strike="noStrike" dirty="0">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5562927"/>
                  </a:ext>
                </a:extLst>
              </a:tr>
              <a:tr h="280311">
                <a:tc>
                  <a:txBody>
                    <a:bodyPr/>
                    <a:lstStyle/>
                    <a:p>
                      <a:pPr algn="l" fontAlgn="b">
                        <a:buNone/>
                      </a:pPr>
                      <a:r>
                        <a:rPr lang="en-IN" sz="900" u="none" strike="noStrike">
                          <a:effectLst/>
                          <a:latin typeface="IBM Plex Sans" panose="020B0503050203000203" pitchFamily="34" charset="0"/>
                        </a:rPr>
                        <a:t>Backup Systems</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Databases / File Systems</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Backup and restore</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Secure backup protocol</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TLS + encryption at rest</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Backup service identity</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dirty="0">
                          <a:effectLst/>
                          <a:latin typeface="IBM Plex Sans" panose="020B0503050203000203" pitchFamily="34" charset="0"/>
                        </a:rPr>
                        <a:t>Backup copies must also be encrypted</a:t>
                      </a:r>
                      <a:endParaRPr lang="en-IN" sz="900" b="0" i="0" u="none" strike="noStrike" dirty="0">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384293"/>
                  </a:ext>
                </a:extLst>
              </a:tr>
              <a:tr h="417666">
                <a:tc>
                  <a:txBody>
                    <a:bodyPr/>
                    <a:lstStyle/>
                    <a:p>
                      <a:pPr algn="l" fontAlgn="b">
                        <a:buNone/>
                      </a:pPr>
                      <a:r>
                        <a:rPr lang="en-IN" sz="900" u="none" strike="noStrike">
                          <a:effectLst/>
                          <a:latin typeface="IBM Plex Sans" panose="020B0503050203000203" pitchFamily="34" charset="0"/>
                        </a:rPr>
                        <a:t>DevOps / CI-CD</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Runtime Platform / EKS / Services</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Deployment / rollout</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HTTPS / kubectl / pipeline integration</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TLS</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IAM role / service account / signed artifacts</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dirty="0">
                          <a:effectLst/>
                          <a:latin typeface="IBM Plex Sans" panose="020B0503050203000203" pitchFamily="34" charset="0"/>
                        </a:rPr>
                        <a:t>Enforce signed builds and least privilege</a:t>
                      </a:r>
                      <a:endParaRPr lang="en-IN" sz="900" b="0" i="0" u="none" strike="noStrike" dirty="0">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82030408"/>
                  </a:ext>
                </a:extLst>
              </a:tr>
              <a:tr h="280311">
                <a:tc>
                  <a:txBody>
                    <a:bodyPr/>
                    <a:lstStyle/>
                    <a:p>
                      <a:pPr algn="l" fontAlgn="b">
                        <a:buNone/>
                      </a:pPr>
                      <a:r>
                        <a:rPr lang="en-IN" sz="900" u="none" strike="noStrike">
                          <a:effectLst/>
                          <a:latin typeface="IBM Plex Sans" panose="020B0503050203000203" pitchFamily="34" charset="0"/>
                        </a:rPr>
                        <a:t>Security Tools</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Endpoints / Workloads</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Vulnerability scan / compliance check</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Secure agent/API</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dirty="0">
                          <a:effectLst/>
                          <a:latin typeface="IBM Plex Sans" panose="020B0503050203000203" pitchFamily="34" charset="0"/>
                        </a:rPr>
                        <a:t>TLS</a:t>
                      </a:r>
                      <a:endParaRPr lang="en-IN" sz="900" b="0" i="0" u="none" strike="noStrike" dirty="0">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a:effectLst/>
                          <a:latin typeface="IBM Plex Sans" panose="020B0503050203000203" pitchFamily="34" charset="0"/>
                        </a:rPr>
                        <a:t>Managed service identity</a:t>
                      </a:r>
                      <a:endParaRPr lang="en-IN" sz="900" b="0" i="0" u="none" strike="noStrike">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b">
                        <a:buNone/>
                      </a:pPr>
                      <a:r>
                        <a:rPr lang="en-IN" sz="900" u="none" strike="noStrike" dirty="0">
                          <a:effectLst/>
                          <a:latin typeface="IBM Plex Sans" panose="020B0503050203000203" pitchFamily="34" charset="0"/>
                        </a:rPr>
                        <a:t>Findings should feed central monitoring</a:t>
                      </a:r>
                      <a:endParaRPr lang="en-IN" sz="900" b="0" i="0" u="none" strike="noStrike" dirty="0">
                        <a:solidFill>
                          <a:srgbClr val="000000"/>
                        </a:solidFill>
                        <a:effectLst/>
                        <a:latin typeface="IBM Plex Sans" panose="020B0503050203000203" pitchFamily="34" charset="0"/>
                      </a:endParaRPr>
                    </a:p>
                  </a:txBody>
                  <a:tcPr marL="5593" marR="5593" marT="559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8431568"/>
                  </a:ext>
                </a:extLst>
              </a:tr>
            </a:tbl>
          </a:graphicData>
        </a:graphic>
      </p:graphicFrame>
      <p:sp>
        <p:nvSpPr>
          <p:cNvPr id="4" name="TextBox 3">
            <a:extLst>
              <a:ext uri="{FF2B5EF4-FFF2-40B4-BE49-F238E27FC236}">
                <a16:creationId xmlns:a16="http://schemas.microsoft.com/office/drawing/2014/main" id="{0AFA7A6F-F975-4632-3F77-0C2D74957D0C}"/>
              </a:ext>
            </a:extLst>
          </p:cNvPr>
          <p:cNvSpPr txBox="1"/>
          <p:nvPr/>
        </p:nvSpPr>
        <p:spPr>
          <a:xfrm>
            <a:off x="0" y="931569"/>
            <a:ext cx="2687444" cy="261610"/>
          </a:xfrm>
          <a:prstGeom prst="rect">
            <a:avLst/>
          </a:prstGeom>
          <a:noFill/>
        </p:spPr>
        <p:txBody>
          <a:bodyPr wrap="square" rtlCol="0">
            <a:spAutoFit/>
          </a:bodyPr>
          <a:lstStyle/>
          <a:p>
            <a:r>
              <a:rPr lang="en-US" sz="1100" dirty="0">
                <a:latin typeface="IBM Plex Sans" panose="020B0503050203000203" pitchFamily="34" charset="0"/>
              </a:rPr>
              <a:t>Security Architecture Details</a:t>
            </a:r>
          </a:p>
        </p:txBody>
      </p:sp>
    </p:spTree>
    <p:extLst>
      <p:ext uri="{BB962C8B-B14F-4D97-AF65-F5344CB8AC3E}">
        <p14:creationId xmlns:p14="http://schemas.microsoft.com/office/powerpoint/2010/main" val="25823362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92196-2FE0-B404-0CCA-6F39BEE8FA6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9FBA1C8-AEF6-2723-8455-367FCE8E2A46}"/>
              </a:ext>
            </a:extLst>
          </p:cNvPr>
          <p:cNvSpPr>
            <a:spLocks noGrp="1"/>
          </p:cNvSpPr>
          <p:nvPr>
            <p:ph type="sldNum" sz="quarter" idx="12"/>
          </p:nvPr>
        </p:nvSpPr>
        <p:spPr/>
        <p:txBody>
          <a:bodyPr/>
          <a:lstStyle/>
          <a:p>
            <a:fld id="{682A9D49-871F-5640-BCE3-20634A9797B6}" type="slidenum">
              <a:rPr lang="en-US" smtClean="0"/>
              <a:t>19</a:t>
            </a:fld>
            <a:endParaRPr lang="en-US"/>
          </a:p>
        </p:txBody>
      </p:sp>
      <p:sp>
        <p:nvSpPr>
          <p:cNvPr id="5" name="Subtitle 2">
            <a:extLst>
              <a:ext uri="{FF2B5EF4-FFF2-40B4-BE49-F238E27FC236}">
                <a16:creationId xmlns:a16="http://schemas.microsoft.com/office/drawing/2014/main" id="{6CF14D8D-95CA-01F5-6E98-EE110FDEED3D}"/>
              </a:ext>
            </a:extLst>
          </p:cNvPr>
          <p:cNvSpPr txBox="1">
            <a:spLocks/>
          </p:cNvSpPr>
          <p:nvPr/>
        </p:nvSpPr>
        <p:spPr>
          <a:xfrm>
            <a:off x="1524000" y="3602038"/>
            <a:ext cx="9144000" cy="1655762"/>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82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82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82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algn="ctr"/>
            <a:r>
              <a:rPr lang="en-US" dirty="0"/>
              <a:t>EPMP</a:t>
            </a:r>
          </a:p>
        </p:txBody>
      </p:sp>
      <p:sp>
        <p:nvSpPr>
          <p:cNvPr id="6" name="Title 4">
            <a:extLst>
              <a:ext uri="{FF2B5EF4-FFF2-40B4-BE49-F238E27FC236}">
                <a16:creationId xmlns:a16="http://schemas.microsoft.com/office/drawing/2014/main" id="{BBE93637-5912-788B-5025-D0A2B5062977}"/>
              </a:ext>
            </a:extLst>
          </p:cNvPr>
          <p:cNvSpPr txBox="1">
            <a:spLocks/>
          </p:cNvSpPr>
          <p:nvPr/>
        </p:nvSpPr>
        <p:spPr>
          <a:xfrm>
            <a:off x="1524000" y="1122363"/>
            <a:ext cx="9144000" cy="2387600"/>
          </a:xfrm>
          <a:prstGeom prst="rect">
            <a:avLst/>
          </a:prstGeom>
          <a:ln w="6350" cap="flat" cmpd="sng" algn="ctr">
            <a:solidFill>
              <a:schemeClr val="accent1"/>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l" defTabSz="914400" rtl="0" eaLnBrk="1" latinLnBrk="0" hangingPunct="1">
              <a:lnSpc>
                <a:spcPct val="90000"/>
              </a:lnSpc>
              <a:spcBef>
                <a:spcPct val="0"/>
              </a:spcBef>
              <a:buNone/>
              <a:defRPr sz="60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1000" b="1" dirty="0"/>
              <a:t>NON-FUNCTIONAL REQUIREMENTS</a:t>
            </a:r>
          </a:p>
        </p:txBody>
      </p:sp>
    </p:spTree>
    <p:extLst>
      <p:ext uri="{BB962C8B-B14F-4D97-AF65-F5344CB8AC3E}">
        <p14:creationId xmlns:p14="http://schemas.microsoft.com/office/powerpoint/2010/main" val="39471901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5D656A8-8AD9-372B-4B3F-69A18ED34661}"/>
              </a:ext>
            </a:extLst>
          </p:cNvPr>
          <p:cNvSpPr>
            <a:spLocks noGrp="1"/>
          </p:cNvSpPr>
          <p:nvPr>
            <p:ph type="sldNum" sz="quarter" idx="12"/>
          </p:nvPr>
        </p:nvSpPr>
        <p:spPr/>
        <p:txBody>
          <a:bodyPr/>
          <a:lstStyle/>
          <a:p>
            <a:fld id="{682A9D49-871F-5640-BCE3-20634A9797B6}" type="slidenum">
              <a:rPr lang="en-US" smtClean="0"/>
              <a:t>20</a:t>
            </a:fld>
            <a:endParaRPr lang="en-US"/>
          </a:p>
        </p:txBody>
      </p:sp>
      <p:graphicFrame>
        <p:nvGraphicFramePr>
          <p:cNvPr id="4" name="Table 3">
            <a:extLst>
              <a:ext uri="{FF2B5EF4-FFF2-40B4-BE49-F238E27FC236}">
                <a16:creationId xmlns:a16="http://schemas.microsoft.com/office/drawing/2014/main" id="{88448C06-21E8-74B4-8ED8-47533F69D04D}"/>
              </a:ext>
            </a:extLst>
          </p:cNvPr>
          <p:cNvGraphicFramePr>
            <a:graphicFrameLocks noGrp="1"/>
          </p:cNvGraphicFramePr>
          <p:nvPr>
            <p:extLst>
              <p:ext uri="{D42A27DB-BD31-4B8C-83A1-F6EECF244321}">
                <p14:modId xmlns:p14="http://schemas.microsoft.com/office/powerpoint/2010/main" val="695228063"/>
              </p:ext>
            </p:extLst>
          </p:nvPr>
        </p:nvGraphicFramePr>
        <p:xfrm>
          <a:off x="336000" y="1037063"/>
          <a:ext cx="11520000" cy="5324635"/>
        </p:xfrm>
        <a:graphic>
          <a:graphicData uri="http://schemas.openxmlformats.org/drawingml/2006/table">
            <a:tbl>
              <a:tblPr firstRow="1">
                <a:tableStyleId>{B301B821-A1FF-4177-AEE7-76D212191A09}</a:tableStyleId>
              </a:tblPr>
              <a:tblGrid>
                <a:gridCol w="1353386">
                  <a:extLst>
                    <a:ext uri="{9D8B030D-6E8A-4147-A177-3AD203B41FA5}">
                      <a16:colId xmlns:a16="http://schemas.microsoft.com/office/drawing/2014/main" val="343954771"/>
                    </a:ext>
                  </a:extLst>
                </a:gridCol>
                <a:gridCol w="4576430">
                  <a:extLst>
                    <a:ext uri="{9D8B030D-6E8A-4147-A177-3AD203B41FA5}">
                      <a16:colId xmlns:a16="http://schemas.microsoft.com/office/drawing/2014/main" val="3642676286"/>
                    </a:ext>
                  </a:extLst>
                </a:gridCol>
                <a:gridCol w="1935097">
                  <a:extLst>
                    <a:ext uri="{9D8B030D-6E8A-4147-A177-3AD203B41FA5}">
                      <a16:colId xmlns:a16="http://schemas.microsoft.com/office/drawing/2014/main" val="2156000067"/>
                    </a:ext>
                  </a:extLst>
                </a:gridCol>
                <a:gridCol w="1642961">
                  <a:extLst>
                    <a:ext uri="{9D8B030D-6E8A-4147-A177-3AD203B41FA5}">
                      <a16:colId xmlns:a16="http://schemas.microsoft.com/office/drawing/2014/main" val="475044086"/>
                    </a:ext>
                  </a:extLst>
                </a:gridCol>
                <a:gridCol w="841702">
                  <a:extLst>
                    <a:ext uri="{9D8B030D-6E8A-4147-A177-3AD203B41FA5}">
                      <a16:colId xmlns:a16="http://schemas.microsoft.com/office/drawing/2014/main" val="420742478"/>
                    </a:ext>
                  </a:extLst>
                </a:gridCol>
                <a:gridCol w="591996">
                  <a:extLst>
                    <a:ext uri="{9D8B030D-6E8A-4147-A177-3AD203B41FA5}">
                      <a16:colId xmlns:a16="http://schemas.microsoft.com/office/drawing/2014/main" val="4172424429"/>
                    </a:ext>
                  </a:extLst>
                </a:gridCol>
                <a:gridCol w="578428">
                  <a:extLst>
                    <a:ext uri="{9D8B030D-6E8A-4147-A177-3AD203B41FA5}">
                      <a16:colId xmlns:a16="http://schemas.microsoft.com/office/drawing/2014/main" val="417388685"/>
                    </a:ext>
                  </a:extLst>
                </a:gridCol>
              </a:tblGrid>
              <a:tr h="109497">
                <a:tc>
                  <a:txBody>
                    <a:bodyPr/>
                    <a:lstStyle/>
                    <a:p>
                      <a:pPr algn="ctr" fontAlgn="ctr">
                        <a:buNone/>
                      </a:pPr>
                      <a:r>
                        <a:rPr lang="en-IN" sz="900" u="none" strike="noStrike" dirty="0">
                          <a:effectLst/>
                        </a:rPr>
                        <a:t>Category</a:t>
                      </a:r>
                      <a:endParaRPr lang="en-IN" sz="900" b="1" i="0" u="none" strike="noStrike" dirty="0">
                        <a:solidFill>
                          <a:srgbClr val="000000"/>
                        </a:solidFill>
                        <a:effectLst/>
                        <a:latin typeface="IBM Plex Sans" panose="020B0503050203000203" pitchFamily="34" charset="0"/>
                      </a:endParaRPr>
                    </a:p>
                  </a:txBody>
                  <a:tcPr marL="1759" marR="1759" marT="1759" marB="0" anchor="ctr">
                    <a:lnB w="3175" cap="flat" cmpd="sng" algn="ctr">
                      <a:solidFill>
                        <a:schemeClr val="tx1"/>
                      </a:solidFill>
                      <a:prstDash val="solid"/>
                      <a:round/>
                      <a:headEnd type="none" w="med" len="med"/>
                      <a:tailEnd type="none" w="med" len="med"/>
                    </a:lnB>
                  </a:tcPr>
                </a:tc>
                <a:tc>
                  <a:txBody>
                    <a:bodyPr/>
                    <a:lstStyle/>
                    <a:p>
                      <a:pPr algn="l" fontAlgn="ctr">
                        <a:buNone/>
                      </a:pPr>
                      <a:r>
                        <a:rPr lang="en-IN" sz="900" u="none" strike="noStrike" dirty="0">
                          <a:effectLst/>
                        </a:rPr>
                        <a:t>Non-functional requirement</a:t>
                      </a:r>
                      <a:endParaRPr lang="en-IN" sz="900" b="1" i="0" u="none" strike="noStrike" dirty="0">
                        <a:solidFill>
                          <a:srgbClr val="000000"/>
                        </a:solidFill>
                        <a:effectLst/>
                        <a:latin typeface="IBM Plex Sans" panose="020B0503050203000203" pitchFamily="34" charset="0"/>
                      </a:endParaRPr>
                    </a:p>
                  </a:txBody>
                  <a:tcPr marL="1759" marR="1759" marT="1759" marB="0" anchor="ctr">
                    <a:lnB w="3175" cap="flat" cmpd="sng" algn="ctr">
                      <a:solidFill>
                        <a:schemeClr val="tx1"/>
                      </a:solidFill>
                      <a:prstDash val="solid"/>
                      <a:round/>
                      <a:headEnd type="none" w="med" len="med"/>
                      <a:tailEnd type="none" w="med" len="med"/>
                    </a:lnB>
                  </a:tcPr>
                </a:tc>
                <a:tc>
                  <a:txBody>
                    <a:bodyPr/>
                    <a:lstStyle/>
                    <a:p>
                      <a:pPr algn="ctr" fontAlgn="ctr">
                        <a:buNone/>
                      </a:pPr>
                      <a:r>
                        <a:rPr lang="en-IN" sz="900" u="none" strike="noStrike" dirty="0">
                          <a:effectLst/>
                        </a:rPr>
                        <a:t>Requirements</a:t>
                      </a:r>
                      <a:endParaRPr lang="en-IN" sz="900" b="1" i="0" u="none" strike="noStrike" dirty="0">
                        <a:solidFill>
                          <a:srgbClr val="000000"/>
                        </a:solidFill>
                        <a:effectLst/>
                        <a:latin typeface="IBM Plex Sans" panose="020B0503050203000203" pitchFamily="34" charset="0"/>
                      </a:endParaRPr>
                    </a:p>
                  </a:txBody>
                  <a:tcPr marL="1759" marR="1759" marT="1759" marB="0" anchor="ctr">
                    <a:lnB w="3175" cap="flat" cmpd="sng" algn="ctr">
                      <a:solidFill>
                        <a:schemeClr val="tx1"/>
                      </a:solidFill>
                      <a:prstDash val="solid"/>
                      <a:round/>
                      <a:headEnd type="none" w="med" len="med"/>
                      <a:tailEnd type="none" w="med" len="med"/>
                    </a:lnB>
                  </a:tcPr>
                </a:tc>
                <a:tc gridSpan="4">
                  <a:txBody>
                    <a:bodyPr/>
                    <a:lstStyle/>
                    <a:p>
                      <a:pPr algn="ctr" fontAlgn="b">
                        <a:buNone/>
                      </a:pPr>
                      <a:r>
                        <a:rPr lang="en-IN" sz="900" u="none" strike="noStrike" dirty="0">
                          <a:effectLst/>
                        </a:rPr>
                        <a:t>Specifications</a:t>
                      </a:r>
                      <a:endParaRPr lang="en-IN" sz="900" b="1" i="0" u="none" strike="noStrike" dirty="0">
                        <a:solidFill>
                          <a:srgbClr val="000000"/>
                        </a:solidFill>
                        <a:effectLst/>
                        <a:latin typeface="IBM Plex Sans" panose="020B0503050203000203" pitchFamily="34" charset="0"/>
                      </a:endParaRPr>
                    </a:p>
                  </a:txBody>
                  <a:tcPr marL="1759" marR="1759" marT="1759" marB="0" anchor="b">
                    <a:lnB w="3175"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pPr algn="ctr" fontAlgn="b">
                        <a:buNone/>
                      </a:pPr>
                      <a:endParaRPr lang="en-IN" sz="400" b="1" i="0" u="none" strike="noStrike">
                        <a:solidFill>
                          <a:srgbClr val="000000"/>
                        </a:solidFill>
                        <a:effectLst/>
                        <a:latin typeface="Avenir Next LT Pro" panose="020B0504020202020204" pitchFamily="34" charset="77"/>
                      </a:endParaRPr>
                    </a:p>
                  </a:txBody>
                  <a:tcPr marL="1759" marR="1759" marT="1759" marB="0" anchor="b"/>
                </a:tc>
                <a:extLst>
                  <a:ext uri="{0D108BD9-81ED-4DB2-BD59-A6C34878D82A}">
                    <a16:rowId xmlns:a16="http://schemas.microsoft.com/office/drawing/2014/main" val="2625654617"/>
                  </a:ext>
                </a:extLst>
              </a:tr>
              <a:tr h="290186">
                <a:tc rowSpan="4">
                  <a:txBody>
                    <a:bodyPr/>
                    <a:lstStyle/>
                    <a:p>
                      <a:pPr algn="l" fontAlgn="ctr">
                        <a:buNone/>
                      </a:pPr>
                      <a:r>
                        <a:rPr lang="en-IN" sz="900" b="1" u="none" strike="noStrike" dirty="0">
                          <a:effectLst/>
                        </a:rPr>
                        <a:t>System Load</a:t>
                      </a:r>
                    </a:p>
                    <a:p>
                      <a:pPr algn="l" fontAlgn="b">
                        <a:buNone/>
                      </a:pPr>
                      <a:r>
                        <a:rPr lang="en-IN" sz="900" b="1" u="none" strike="noStrike" dirty="0">
                          <a:effectLst/>
                        </a:rPr>
                        <a:t> </a:t>
                      </a:r>
                    </a:p>
                    <a:p>
                      <a:pPr algn="l" fontAlgn="b">
                        <a:buNone/>
                      </a:pPr>
                      <a:r>
                        <a:rPr lang="en-IN" sz="900" b="1" u="none" strike="noStrike" dirty="0">
                          <a:effectLst/>
                        </a:rPr>
                        <a:t> </a:t>
                      </a:r>
                    </a:p>
                    <a:p>
                      <a:pPr algn="l" fontAlgn="b">
                        <a:buNone/>
                      </a:pPr>
                      <a:r>
                        <a:rPr lang="en-IN" sz="900" b="1" u="none" strike="noStrike" dirty="0">
                          <a:effectLst/>
                        </a:rPr>
                        <a:t> </a:t>
                      </a:r>
                      <a:endParaRPr lang="en-IN" sz="900" b="1" i="0" u="none" strike="noStrike" dirty="0">
                        <a:solidFill>
                          <a:srgbClr val="0000FF"/>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en-IN" sz="900" u="none" strike="noStrike" dirty="0">
                          <a:effectLst/>
                        </a:rPr>
                        <a:t> </a:t>
                      </a:r>
                      <a:endParaRPr lang="en-IN" sz="900" b="0" i="0" u="none" strike="noStrike" dirty="0">
                        <a:solidFill>
                          <a:srgbClr val="0000FF"/>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en-IN" sz="900" u="none" strike="noStrike" dirty="0">
                          <a:effectLst/>
                        </a:rPr>
                        <a:t> </a:t>
                      </a:r>
                      <a:endParaRPr lang="en-IN" sz="900" b="0" i="0" u="none" strike="noStrike" dirty="0">
                        <a:solidFill>
                          <a:srgbClr val="0000FF"/>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en-IN" sz="900" b="1" u="none" strike="noStrike" dirty="0">
                          <a:effectLst/>
                        </a:rPr>
                        <a:t>Current</a:t>
                      </a:r>
                      <a:endParaRPr lang="en-IN" sz="900" b="1" i="0" u="none" strike="noStrike" dirty="0">
                        <a:solidFill>
                          <a:srgbClr val="0000FF"/>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en-IN" sz="900" b="1" u="none" strike="noStrike" dirty="0">
                          <a:effectLst/>
                        </a:rPr>
                        <a:t>Future in 1 year</a:t>
                      </a:r>
                      <a:endParaRPr lang="en-IN" sz="900" b="1" i="0" u="none" strike="noStrike" dirty="0">
                        <a:solidFill>
                          <a:srgbClr val="0000FF"/>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en-IN" sz="900" b="1" u="none" strike="noStrike" dirty="0">
                          <a:effectLst/>
                        </a:rPr>
                        <a:t>In 2 years</a:t>
                      </a:r>
                      <a:endParaRPr lang="en-IN" sz="900" b="1" i="0" u="none" strike="noStrike" dirty="0">
                        <a:solidFill>
                          <a:srgbClr val="0000FF"/>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en-IN" sz="900" b="1" u="none" strike="noStrike" dirty="0">
                          <a:effectLst/>
                        </a:rPr>
                        <a:t>In 3 years</a:t>
                      </a:r>
                      <a:endParaRPr lang="en-IN" sz="900" b="1" i="0" u="none" strike="noStrike" dirty="0">
                        <a:solidFill>
                          <a:srgbClr val="0000FF"/>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4096634"/>
                  </a:ext>
                </a:extLst>
              </a:tr>
              <a:tr h="145886">
                <a:tc vMerge="1">
                  <a:txBody>
                    <a:bodyPr/>
                    <a:lstStyle/>
                    <a:p>
                      <a:endParaRPr dirty="0"/>
                    </a:p>
                  </a:txBody>
                  <a:tcPr marL="1759" marR="1759" marT="1759" marB="0" anchor="b"/>
                </a:tc>
                <a:tc>
                  <a:txBody>
                    <a:bodyPr/>
                    <a:lstStyle/>
                    <a:p>
                      <a:pPr algn="l" fontAlgn="ctr">
                        <a:buNone/>
                      </a:pPr>
                      <a:r>
                        <a:rPr lang="en-IN" sz="900" u="none" strike="noStrike" dirty="0">
                          <a:effectLst/>
                        </a:rPr>
                        <a:t>Total number of users of the system</a:t>
                      </a:r>
                      <a:endParaRPr lang="en-IN" sz="900" b="0" i="0" u="none" strike="noStrike" dirty="0">
                        <a:solidFill>
                          <a:srgbClr val="0000FF"/>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900" u="none" strike="noStrike" dirty="0">
                          <a:effectLst/>
                        </a:rPr>
                        <a:t> </a:t>
                      </a:r>
                      <a:endParaRPr lang="en-IN" sz="900" b="0" i="0" u="none" strike="noStrike" dirty="0">
                        <a:solidFill>
                          <a:srgbClr val="00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en-IN" sz="900" u="none" strike="noStrike" dirty="0">
                          <a:effectLst/>
                        </a:rPr>
                        <a:t>                    30,000 </a:t>
                      </a:r>
                      <a:endParaRPr lang="en-IN" sz="900" b="0" i="0" u="none" strike="noStrike" dirty="0">
                        <a:solidFill>
                          <a:srgbClr val="000000"/>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900" u="none" strike="noStrike">
                          <a:effectLst/>
                        </a:rPr>
                        <a:t> </a:t>
                      </a:r>
                      <a:endParaRPr lang="en-IN" sz="900" b="0" i="0" u="none" strike="noStrike">
                        <a:solidFill>
                          <a:srgbClr val="FF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900" u="none" strike="noStrike">
                          <a:effectLst/>
                        </a:rPr>
                        <a:t> </a:t>
                      </a:r>
                      <a:endParaRPr lang="en-IN" sz="900" b="0" i="0" u="none" strike="noStrike">
                        <a:solidFill>
                          <a:srgbClr val="FF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900" u="none" strike="noStrike" dirty="0">
                          <a:effectLst/>
                        </a:rPr>
                        <a:t> </a:t>
                      </a:r>
                      <a:endParaRPr lang="en-IN" sz="900" b="0" i="0" u="none" strike="noStrike" dirty="0">
                        <a:solidFill>
                          <a:srgbClr val="FF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8806709"/>
                  </a:ext>
                </a:extLst>
              </a:tr>
              <a:tr h="145886">
                <a:tc vMerge="1">
                  <a:txBody>
                    <a:bodyPr/>
                    <a:lstStyle/>
                    <a:p>
                      <a:endParaRPr/>
                    </a:p>
                  </a:txBody>
                  <a:tcPr marL="1759" marR="1759" marT="1759" marB="0" anchor="b"/>
                </a:tc>
                <a:tc>
                  <a:txBody>
                    <a:bodyPr/>
                    <a:lstStyle/>
                    <a:p>
                      <a:pPr algn="l" fontAlgn="ctr">
                        <a:buNone/>
                      </a:pPr>
                      <a:r>
                        <a:rPr lang="en-IN" sz="900" u="none" strike="noStrike" dirty="0">
                          <a:effectLst/>
                        </a:rPr>
                        <a:t>Number of concurrent users at peak time</a:t>
                      </a:r>
                      <a:endParaRPr lang="en-IN" sz="900" b="0" i="0" u="none" strike="noStrike" dirty="0">
                        <a:solidFill>
                          <a:srgbClr val="0000FF"/>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900" u="none" strike="noStrike" dirty="0">
                          <a:effectLst/>
                        </a:rPr>
                        <a:t> </a:t>
                      </a:r>
                      <a:endParaRPr lang="en-IN" sz="900" b="0" i="0" u="none" strike="noStrike" dirty="0">
                        <a:solidFill>
                          <a:srgbClr val="00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en-IN" sz="900" u="none" strike="noStrike" dirty="0">
                          <a:effectLst/>
                        </a:rPr>
                        <a:t>                       3,000 </a:t>
                      </a:r>
                      <a:endParaRPr lang="en-IN" sz="900" b="0" i="0" u="none" strike="noStrike" dirty="0">
                        <a:solidFill>
                          <a:srgbClr val="0000FF"/>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900" u="none" strike="noStrike" dirty="0">
                          <a:effectLst/>
                        </a:rPr>
                        <a:t> </a:t>
                      </a:r>
                      <a:endParaRPr lang="en-IN" sz="900" b="0" i="0" u="none" strike="noStrike" dirty="0">
                        <a:solidFill>
                          <a:srgbClr val="0000FF"/>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900" u="none" strike="noStrike">
                          <a:effectLst/>
                        </a:rPr>
                        <a:t> </a:t>
                      </a:r>
                      <a:endParaRPr lang="en-IN" sz="900" b="0" i="0" u="none" strike="noStrike">
                        <a:solidFill>
                          <a:srgbClr val="0000FF"/>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900" u="none" strike="noStrike" dirty="0">
                          <a:effectLst/>
                        </a:rPr>
                        <a:t> </a:t>
                      </a:r>
                      <a:endParaRPr lang="en-IN" sz="900" b="0" i="0" u="none" strike="noStrike" dirty="0">
                        <a:solidFill>
                          <a:srgbClr val="0000FF"/>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9823387"/>
                  </a:ext>
                </a:extLst>
              </a:tr>
              <a:tr h="145886">
                <a:tc vMerge="1">
                  <a:txBody>
                    <a:bodyPr/>
                    <a:lstStyle/>
                    <a:p>
                      <a:endParaRPr dirty="0"/>
                    </a:p>
                  </a:txBody>
                  <a:tcPr marL="1759" marR="1759" marT="1759" marB="0" anchor="b"/>
                </a:tc>
                <a:tc>
                  <a:txBody>
                    <a:bodyPr/>
                    <a:lstStyle/>
                    <a:p>
                      <a:pPr algn="l" fontAlgn="ctr">
                        <a:buNone/>
                      </a:pPr>
                      <a:r>
                        <a:rPr lang="en-IN" sz="900" u="none" strike="noStrike" dirty="0">
                          <a:effectLst/>
                        </a:rPr>
                        <a:t>Number of concurrent users (average)</a:t>
                      </a:r>
                      <a:endParaRPr lang="en-IN" sz="900" b="0" i="0" u="none" strike="noStrike" dirty="0">
                        <a:solidFill>
                          <a:srgbClr val="0000FF"/>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900" u="none" strike="noStrike" dirty="0">
                          <a:effectLst/>
                        </a:rPr>
                        <a:t> </a:t>
                      </a:r>
                      <a:endParaRPr lang="en-IN" sz="900" b="0" i="0" u="none" strike="noStrike" dirty="0">
                        <a:solidFill>
                          <a:srgbClr val="00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900" u="none" strike="noStrike" dirty="0">
                          <a:effectLst/>
                        </a:rPr>
                        <a:t>                       1,800 </a:t>
                      </a:r>
                      <a:endParaRPr lang="en-IN" sz="900" b="0" i="0" u="none" strike="noStrike" dirty="0">
                        <a:solidFill>
                          <a:srgbClr val="0000FF"/>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900" u="none" strike="noStrike" dirty="0">
                          <a:effectLst/>
                        </a:rPr>
                        <a:t> </a:t>
                      </a:r>
                      <a:endParaRPr lang="en-IN" sz="900" b="0" i="0" u="none" strike="noStrike" dirty="0">
                        <a:solidFill>
                          <a:srgbClr val="0000FF"/>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900" u="none" strike="noStrike">
                          <a:effectLst/>
                        </a:rPr>
                        <a:t> </a:t>
                      </a:r>
                      <a:endParaRPr lang="en-IN" sz="900" b="0" i="0" u="none" strike="noStrike">
                        <a:solidFill>
                          <a:srgbClr val="0000FF"/>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900" u="none" strike="noStrike" dirty="0">
                          <a:effectLst/>
                        </a:rPr>
                        <a:t> </a:t>
                      </a:r>
                      <a:endParaRPr lang="en-IN" sz="900" b="0" i="0" u="none" strike="noStrike" dirty="0">
                        <a:solidFill>
                          <a:srgbClr val="0000FF"/>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2409536"/>
                  </a:ext>
                </a:extLst>
              </a:tr>
              <a:tr h="290186">
                <a:tc rowSpan="9">
                  <a:txBody>
                    <a:bodyPr/>
                    <a:lstStyle/>
                    <a:p>
                      <a:pPr algn="l" fontAlgn="ctr">
                        <a:buNone/>
                      </a:pPr>
                      <a:r>
                        <a:rPr lang="en-IN" sz="900" b="1" u="none" strike="noStrike" dirty="0">
                          <a:effectLst/>
                        </a:rPr>
                        <a:t>Response Time</a:t>
                      </a:r>
                    </a:p>
                    <a:p>
                      <a:pPr algn="l" fontAlgn="b">
                        <a:buNone/>
                      </a:pPr>
                      <a:r>
                        <a:rPr lang="en-IN" sz="900" b="1" u="none" strike="noStrike" dirty="0">
                          <a:effectLst/>
                        </a:rPr>
                        <a:t> </a:t>
                      </a:r>
                    </a:p>
                    <a:p>
                      <a:pPr algn="l" fontAlgn="b">
                        <a:buNone/>
                      </a:pPr>
                      <a:r>
                        <a:rPr lang="en-IN" sz="900" b="1" u="none" strike="noStrike" dirty="0">
                          <a:effectLst/>
                        </a:rPr>
                        <a:t> </a:t>
                      </a:r>
                    </a:p>
                    <a:p>
                      <a:pPr algn="l" fontAlgn="b">
                        <a:buNone/>
                      </a:pPr>
                      <a:r>
                        <a:rPr lang="en-IN" sz="900" b="1" u="none" strike="noStrike" dirty="0">
                          <a:effectLst/>
                        </a:rPr>
                        <a:t> </a:t>
                      </a:r>
                    </a:p>
                    <a:p>
                      <a:pPr algn="l" fontAlgn="b">
                        <a:buNone/>
                      </a:pPr>
                      <a:r>
                        <a:rPr lang="en-IN" sz="900" b="1" u="none" strike="noStrike" dirty="0">
                          <a:effectLst/>
                        </a:rPr>
                        <a:t> </a:t>
                      </a:r>
                    </a:p>
                    <a:p>
                      <a:pPr algn="l" fontAlgn="b">
                        <a:buNone/>
                      </a:pPr>
                      <a:r>
                        <a:rPr lang="en-IN" sz="900" b="1" u="none" strike="noStrike" dirty="0">
                          <a:effectLst/>
                        </a:rPr>
                        <a:t> </a:t>
                      </a:r>
                    </a:p>
                    <a:p>
                      <a:pPr algn="l" fontAlgn="b">
                        <a:buNone/>
                      </a:pPr>
                      <a:r>
                        <a:rPr lang="en-IN" sz="900" b="1" u="none" strike="noStrike" dirty="0">
                          <a:effectLst/>
                        </a:rPr>
                        <a:t> </a:t>
                      </a:r>
                      <a:endParaRPr lang="en-IN" sz="900" b="1" i="0" u="none" strike="noStrike" dirty="0">
                        <a:solidFill>
                          <a:srgbClr val="0000FF"/>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en-IN" sz="900" u="none" strike="noStrike" dirty="0">
                          <a:effectLst/>
                        </a:rPr>
                        <a:t>Target &amp; Maximum Response Time (seconds) for different categories (add categories as per project need)</a:t>
                      </a:r>
                      <a:endParaRPr lang="en-IN" sz="900" b="1" i="0" u="none" strike="noStrike" dirty="0">
                        <a:solidFill>
                          <a:srgbClr val="000000"/>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en-IN" sz="900" u="none" strike="noStrike" dirty="0">
                          <a:effectLst/>
                        </a:rPr>
                        <a:t> </a:t>
                      </a:r>
                      <a:endParaRPr lang="en-IN" sz="900" b="0" i="0" u="none" strike="noStrike" dirty="0">
                        <a:solidFill>
                          <a:srgbClr val="0000FF"/>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en-IN" sz="900" u="none" strike="noStrike" dirty="0">
                          <a:effectLst/>
                        </a:rPr>
                        <a:t> </a:t>
                      </a:r>
                      <a:endParaRPr lang="en-IN" sz="900" b="0" i="0" u="none" strike="noStrike" dirty="0">
                        <a:solidFill>
                          <a:srgbClr val="0000FF"/>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en-IN" sz="900" u="none" strike="noStrike" dirty="0">
                          <a:effectLst/>
                        </a:rPr>
                        <a:t> </a:t>
                      </a:r>
                      <a:endParaRPr lang="en-IN" sz="900" b="0" i="0" u="none" strike="noStrike" dirty="0">
                        <a:solidFill>
                          <a:srgbClr val="0000FF"/>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en-IN" sz="900" u="none" strike="noStrike" dirty="0">
                          <a:effectLst/>
                        </a:rPr>
                        <a:t> </a:t>
                      </a:r>
                      <a:endParaRPr lang="en-IN" sz="900" b="0" i="0" u="none" strike="noStrike" dirty="0">
                        <a:solidFill>
                          <a:srgbClr val="0000FF"/>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en-IN" sz="900" u="none" strike="noStrike" dirty="0">
                          <a:effectLst/>
                        </a:rPr>
                        <a:t> </a:t>
                      </a:r>
                      <a:endParaRPr lang="en-IN" sz="900" b="0" i="0" u="none" strike="noStrike" dirty="0">
                        <a:solidFill>
                          <a:srgbClr val="0000FF"/>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28908655"/>
                  </a:ext>
                </a:extLst>
              </a:tr>
              <a:tr h="145886">
                <a:tc vMerge="1">
                  <a:txBody>
                    <a:bodyPr/>
                    <a:lstStyle/>
                    <a:p>
                      <a:endParaRPr/>
                    </a:p>
                  </a:txBody>
                  <a:tcPr marL="1759" marR="1759" marT="1759" marB="0" anchor="b"/>
                </a:tc>
                <a:tc>
                  <a:txBody>
                    <a:bodyPr/>
                    <a:lstStyle/>
                    <a:p>
                      <a:pPr algn="l" fontAlgn="ctr">
                        <a:buNone/>
                      </a:pPr>
                      <a:r>
                        <a:rPr lang="en-IN" sz="900" u="none" strike="noStrike" dirty="0">
                          <a:effectLst/>
                        </a:rPr>
                        <a:t>Landing page / Main Screen</a:t>
                      </a:r>
                      <a:endParaRPr lang="en-IN" sz="900" b="0" i="0" u="none" strike="noStrike" dirty="0">
                        <a:solidFill>
                          <a:srgbClr val="0000FF"/>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900" u="none" strike="noStrike" dirty="0">
                          <a:effectLst/>
                        </a:rPr>
                        <a:t> </a:t>
                      </a:r>
                      <a:endParaRPr lang="en-IN" sz="900" b="0" i="0" u="none" strike="noStrike" dirty="0">
                        <a:solidFill>
                          <a:srgbClr val="00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en-IN" sz="900" u="none" strike="noStrike" dirty="0">
                          <a:effectLst/>
                        </a:rPr>
                        <a:t>&lt;500 </a:t>
                      </a:r>
                      <a:r>
                        <a:rPr lang="en-IN" sz="900" u="none" strike="noStrike" dirty="0" err="1">
                          <a:effectLst/>
                        </a:rPr>
                        <a:t>ms</a:t>
                      </a:r>
                      <a:endParaRPr lang="en-IN" sz="900" b="0" i="0" u="none" strike="noStrike" dirty="0">
                        <a:solidFill>
                          <a:srgbClr val="0000FF"/>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a:effectLst/>
                        </a:rPr>
                        <a:t> </a:t>
                      </a:r>
                      <a:endParaRPr lang="en-IN" sz="900" b="0" i="0" u="none" strike="noStrike">
                        <a:solidFill>
                          <a:srgbClr val="00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dirty="0">
                          <a:effectLst/>
                        </a:rPr>
                        <a:t> </a:t>
                      </a:r>
                      <a:endParaRPr lang="en-IN" sz="900" b="0" i="0" u="none" strike="noStrike" dirty="0">
                        <a:solidFill>
                          <a:srgbClr val="00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dirty="0">
                          <a:effectLst/>
                        </a:rPr>
                        <a:t> </a:t>
                      </a:r>
                      <a:endParaRPr lang="en-IN" sz="900" b="0" i="0" u="none" strike="noStrike" dirty="0">
                        <a:solidFill>
                          <a:srgbClr val="00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53412124"/>
                  </a:ext>
                </a:extLst>
              </a:tr>
              <a:tr h="145886">
                <a:tc vMerge="1">
                  <a:txBody>
                    <a:bodyPr/>
                    <a:lstStyle/>
                    <a:p>
                      <a:endParaRPr/>
                    </a:p>
                  </a:txBody>
                  <a:tcPr marL="1759" marR="1759" marT="1759" marB="0" anchor="b"/>
                </a:tc>
                <a:tc>
                  <a:txBody>
                    <a:bodyPr/>
                    <a:lstStyle/>
                    <a:p>
                      <a:pPr algn="l" fontAlgn="ctr">
                        <a:buNone/>
                      </a:pPr>
                      <a:r>
                        <a:rPr lang="en-IN" sz="900" u="none" strike="noStrike" dirty="0">
                          <a:effectLst/>
                        </a:rPr>
                        <a:t>Normal pages</a:t>
                      </a:r>
                      <a:endParaRPr lang="en-IN" sz="900" b="0" i="0" u="none" strike="noStrike" dirty="0">
                        <a:solidFill>
                          <a:srgbClr val="0000FF"/>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900" u="none" strike="noStrike" dirty="0">
                          <a:effectLst/>
                        </a:rPr>
                        <a:t> </a:t>
                      </a:r>
                      <a:endParaRPr lang="en-IN" sz="900" b="0" i="0" u="none" strike="noStrike" dirty="0">
                        <a:solidFill>
                          <a:srgbClr val="00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en-IN" sz="900" u="none" strike="noStrike" dirty="0">
                          <a:effectLst/>
                        </a:rPr>
                        <a:t>&lt;500 </a:t>
                      </a:r>
                      <a:r>
                        <a:rPr lang="en-IN" sz="900" u="none" strike="noStrike" dirty="0" err="1">
                          <a:effectLst/>
                        </a:rPr>
                        <a:t>ms</a:t>
                      </a:r>
                      <a:endParaRPr lang="en-IN" sz="900" b="0" i="0" u="none" strike="noStrike" dirty="0">
                        <a:solidFill>
                          <a:srgbClr val="0000FF"/>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dirty="0">
                          <a:effectLst/>
                        </a:rPr>
                        <a:t> </a:t>
                      </a:r>
                      <a:endParaRPr lang="en-IN" sz="900" b="0" i="0" u="none" strike="noStrike" dirty="0">
                        <a:solidFill>
                          <a:srgbClr val="00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dirty="0">
                          <a:effectLst/>
                        </a:rPr>
                        <a:t> </a:t>
                      </a:r>
                      <a:endParaRPr lang="en-IN" sz="900" b="0" i="0" u="none" strike="noStrike" dirty="0">
                        <a:solidFill>
                          <a:srgbClr val="00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a:effectLst/>
                        </a:rPr>
                        <a:t> </a:t>
                      </a:r>
                      <a:endParaRPr lang="en-IN" sz="900" b="0" i="0" u="none" strike="noStrike">
                        <a:solidFill>
                          <a:srgbClr val="00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98376817"/>
                  </a:ext>
                </a:extLst>
              </a:tr>
              <a:tr h="145886">
                <a:tc vMerge="1">
                  <a:txBody>
                    <a:bodyPr/>
                    <a:lstStyle/>
                    <a:p>
                      <a:endParaRPr/>
                    </a:p>
                  </a:txBody>
                  <a:tcPr marL="1759" marR="1759" marT="1759" marB="0" anchor="b"/>
                </a:tc>
                <a:tc>
                  <a:txBody>
                    <a:bodyPr/>
                    <a:lstStyle/>
                    <a:p>
                      <a:pPr algn="l" fontAlgn="ctr">
                        <a:buNone/>
                      </a:pPr>
                      <a:r>
                        <a:rPr lang="en-IN" sz="900" u="none" strike="noStrike" dirty="0">
                          <a:effectLst/>
                        </a:rPr>
                        <a:t>Dashboard/heavy processing page</a:t>
                      </a:r>
                      <a:endParaRPr lang="en-IN" sz="900" b="0" i="0" u="none" strike="noStrike" dirty="0">
                        <a:solidFill>
                          <a:srgbClr val="0000FF"/>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900" u="none" strike="noStrike" dirty="0">
                          <a:effectLst/>
                        </a:rPr>
                        <a:t> </a:t>
                      </a:r>
                      <a:endParaRPr lang="en-IN" sz="900" b="0" i="0" u="none" strike="noStrike" dirty="0">
                        <a:solidFill>
                          <a:srgbClr val="00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en-IN" sz="900" u="none" strike="noStrike" dirty="0">
                          <a:effectLst/>
                        </a:rPr>
                        <a:t>1 sec </a:t>
                      </a:r>
                      <a:endParaRPr lang="en-IN" sz="900" b="0" i="0" u="none" strike="noStrike" dirty="0">
                        <a:solidFill>
                          <a:srgbClr val="0000FF"/>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dirty="0">
                          <a:effectLst/>
                        </a:rPr>
                        <a:t> </a:t>
                      </a:r>
                      <a:endParaRPr lang="en-IN" sz="900" b="0" i="0" u="none" strike="noStrike" dirty="0">
                        <a:solidFill>
                          <a:srgbClr val="00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dirty="0">
                          <a:effectLst/>
                        </a:rPr>
                        <a:t> </a:t>
                      </a:r>
                      <a:endParaRPr lang="en-IN" sz="900" b="0" i="0" u="none" strike="noStrike" dirty="0">
                        <a:solidFill>
                          <a:srgbClr val="00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a:effectLst/>
                        </a:rPr>
                        <a:t> </a:t>
                      </a:r>
                      <a:endParaRPr lang="en-IN" sz="900" b="0" i="0" u="none" strike="noStrike">
                        <a:solidFill>
                          <a:srgbClr val="00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860623"/>
                  </a:ext>
                </a:extLst>
              </a:tr>
              <a:tr h="145886">
                <a:tc vMerge="1">
                  <a:txBody>
                    <a:bodyPr/>
                    <a:lstStyle/>
                    <a:p>
                      <a:endParaRPr/>
                    </a:p>
                  </a:txBody>
                  <a:tcPr marL="1759" marR="1759" marT="1759" marB="0" anchor="b"/>
                </a:tc>
                <a:tc>
                  <a:txBody>
                    <a:bodyPr/>
                    <a:lstStyle/>
                    <a:p>
                      <a:pPr algn="l" fontAlgn="ctr">
                        <a:buNone/>
                      </a:pPr>
                      <a:r>
                        <a:rPr lang="en-IN" sz="900" u="none" strike="noStrike" dirty="0">
                          <a:effectLst/>
                        </a:rPr>
                        <a:t>Reports</a:t>
                      </a:r>
                      <a:endParaRPr lang="en-IN" sz="900" b="0" i="0" u="none" strike="noStrike" dirty="0">
                        <a:solidFill>
                          <a:srgbClr val="0000FF"/>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900" u="none" strike="noStrike" dirty="0">
                          <a:effectLst/>
                        </a:rPr>
                        <a:t> </a:t>
                      </a:r>
                      <a:endParaRPr lang="en-IN" sz="900" b="0" i="0" u="none" strike="noStrike" dirty="0">
                        <a:solidFill>
                          <a:srgbClr val="00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en-IN" sz="900" u="none" strike="noStrike" dirty="0">
                          <a:effectLst/>
                        </a:rPr>
                        <a:t>1 sec </a:t>
                      </a:r>
                      <a:endParaRPr lang="en-IN" sz="900" b="0" i="0" u="none" strike="noStrike" dirty="0">
                        <a:solidFill>
                          <a:srgbClr val="0000FF"/>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a:effectLst/>
                        </a:rPr>
                        <a:t> </a:t>
                      </a:r>
                      <a:endParaRPr lang="en-IN" sz="900" b="0" i="0" u="none" strike="noStrike">
                        <a:solidFill>
                          <a:srgbClr val="00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dirty="0">
                          <a:effectLst/>
                        </a:rPr>
                        <a:t> </a:t>
                      </a:r>
                      <a:endParaRPr lang="en-IN" sz="900" b="0" i="0" u="none" strike="noStrike" dirty="0">
                        <a:solidFill>
                          <a:srgbClr val="00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a:effectLst/>
                        </a:rPr>
                        <a:t> </a:t>
                      </a:r>
                      <a:endParaRPr lang="en-IN" sz="900" b="0" i="0" u="none" strike="noStrike">
                        <a:solidFill>
                          <a:srgbClr val="00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768300"/>
                  </a:ext>
                </a:extLst>
              </a:tr>
              <a:tr h="145886">
                <a:tc vMerge="1">
                  <a:txBody>
                    <a:bodyPr/>
                    <a:lstStyle/>
                    <a:p>
                      <a:endParaRPr/>
                    </a:p>
                  </a:txBody>
                  <a:tcPr marL="1759" marR="1759" marT="1759" marB="0" anchor="b"/>
                </a:tc>
                <a:tc>
                  <a:txBody>
                    <a:bodyPr/>
                    <a:lstStyle/>
                    <a:p>
                      <a:pPr algn="l" fontAlgn="ctr">
                        <a:buNone/>
                      </a:pPr>
                      <a:r>
                        <a:rPr lang="en-IN" sz="900" u="none" strike="noStrike">
                          <a:effectLst/>
                        </a:rPr>
                        <a:t>Threshold for service API (for non UI applications)</a:t>
                      </a:r>
                      <a:endParaRPr lang="en-IN" sz="900" b="0" i="0" u="none" strike="noStrike">
                        <a:solidFill>
                          <a:srgbClr val="0000FF"/>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900" u="none" strike="noStrike" dirty="0">
                          <a:effectLst/>
                        </a:rPr>
                        <a:t> </a:t>
                      </a:r>
                      <a:endParaRPr lang="en-IN" sz="900" b="0" i="0" u="none" strike="noStrike" dirty="0">
                        <a:solidFill>
                          <a:srgbClr val="0000FF"/>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en-IN" sz="900" u="none" strike="noStrike" dirty="0">
                          <a:effectLst/>
                        </a:rPr>
                        <a:t>&lt;=1 Sec</a:t>
                      </a:r>
                      <a:endParaRPr lang="en-IN" sz="900" b="0" i="0" u="none" strike="noStrike" dirty="0">
                        <a:solidFill>
                          <a:srgbClr val="0000FF"/>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dirty="0">
                          <a:effectLst/>
                        </a:rPr>
                        <a:t> </a:t>
                      </a:r>
                      <a:endParaRPr lang="en-IN" sz="900" b="0" i="0" u="none" strike="noStrike" dirty="0">
                        <a:solidFill>
                          <a:srgbClr val="0000FF"/>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dirty="0">
                          <a:effectLst/>
                        </a:rPr>
                        <a:t> </a:t>
                      </a:r>
                      <a:endParaRPr lang="en-IN" sz="900" b="0" i="0" u="none" strike="noStrike" dirty="0">
                        <a:solidFill>
                          <a:srgbClr val="0000FF"/>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a:effectLst/>
                        </a:rPr>
                        <a:t> </a:t>
                      </a:r>
                      <a:endParaRPr lang="en-IN" sz="900" b="0" i="0" u="none" strike="noStrike">
                        <a:solidFill>
                          <a:srgbClr val="0000FF"/>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71531313"/>
                  </a:ext>
                </a:extLst>
              </a:tr>
              <a:tr h="145886">
                <a:tc vMerge="1">
                  <a:txBody>
                    <a:bodyPr/>
                    <a:lstStyle/>
                    <a:p>
                      <a:endParaRPr dirty="0"/>
                    </a:p>
                  </a:txBody>
                  <a:tcPr marL="1759" marR="1759" marT="1759" marB="0" anchor="b"/>
                </a:tc>
                <a:tc>
                  <a:txBody>
                    <a:bodyPr/>
                    <a:lstStyle/>
                    <a:p>
                      <a:pPr algn="l" fontAlgn="ctr">
                        <a:buNone/>
                      </a:pPr>
                      <a:r>
                        <a:rPr lang="en-IN" sz="900" u="none" strike="noStrike" dirty="0">
                          <a:effectLst/>
                        </a:rPr>
                        <a:t>Target acceptance criteria like response time on 95 percentile of requests</a:t>
                      </a:r>
                      <a:endParaRPr lang="en-IN" sz="900" b="0" i="0" u="none" strike="noStrike" dirty="0">
                        <a:solidFill>
                          <a:srgbClr val="0000FF"/>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900" u="none" strike="noStrike" dirty="0">
                          <a:effectLst/>
                        </a:rPr>
                        <a:t> </a:t>
                      </a:r>
                      <a:endParaRPr lang="en-IN" sz="900" b="0" i="0" u="none" strike="noStrike" dirty="0">
                        <a:solidFill>
                          <a:srgbClr val="0000FF"/>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en-IN" sz="900" b="0" i="0" u="none" strike="noStrike" dirty="0">
                          <a:solidFill>
                            <a:srgbClr val="0000FF"/>
                          </a:solidFill>
                          <a:effectLst/>
                          <a:latin typeface="IBM Plex Sans" panose="020B0503050203000203" pitchFamily="34" charset="0"/>
                        </a:rPr>
                        <a:t>&lt;=2 Sec</a:t>
                      </a: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a:effectLst/>
                        </a:rPr>
                        <a:t> </a:t>
                      </a:r>
                      <a:endParaRPr lang="en-IN" sz="900" b="0" i="0" u="none" strike="noStrike">
                        <a:solidFill>
                          <a:srgbClr val="0000FF"/>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dirty="0">
                          <a:effectLst/>
                        </a:rPr>
                        <a:t> </a:t>
                      </a:r>
                      <a:endParaRPr lang="en-IN" sz="900" b="0" i="0" u="none" strike="noStrike" dirty="0">
                        <a:solidFill>
                          <a:srgbClr val="0000FF"/>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dirty="0">
                          <a:effectLst/>
                        </a:rPr>
                        <a:t> </a:t>
                      </a:r>
                      <a:endParaRPr lang="en-IN" sz="900" b="0" i="0" u="none" strike="noStrike" dirty="0">
                        <a:solidFill>
                          <a:srgbClr val="0000FF"/>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0959268"/>
                  </a:ext>
                </a:extLst>
              </a:tr>
              <a:tr h="146018">
                <a:tc vMerge="1">
                  <a:txBody>
                    <a:bodyPr/>
                    <a:lstStyle/>
                    <a:p>
                      <a:pPr algn="l" fontAlgn="b">
                        <a:buNone/>
                      </a:pPr>
                      <a:endParaRPr lang="en-IN" sz="1050" b="1" i="0" u="none" strike="noStrike" dirty="0">
                        <a:solidFill>
                          <a:srgbClr val="0000FF"/>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en-IN" sz="800" b="0" i="0" u="none" strike="noStrike" dirty="0">
                          <a:solidFill>
                            <a:srgbClr val="000000"/>
                          </a:solidFill>
                          <a:effectLst/>
                          <a:latin typeface="Avenir Next LT Pro" panose="020B0504020202020204" pitchFamily="34" charset="77"/>
                        </a:rPr>
                        <a:t>Background task completion</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endParaRPr lang="en-IN" sz="900" b="0" i="0" u="none" strike="noStrike" dirty="0">
                        <a:solidFill>
                          <a:srgbClr val="0000FF"/>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en-IN" sz="900" b="0" i="0" u="none" strike="noStrike" dirty="0">
                          <a:solidFill>
                            <a:srgbClr val="0000FF"/>
                          </a:solidFill>
                          <a:effectLst/>
                          <a:latin typeface="IBM Plex Sans" panose="020B0503050203000203" pitchFamily="34" charset="0"/>
                        </a:rPr>
                        <a:t>&lt;=30 Sec</a:t>
                      </a: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endParaRPr lang="en-IN" sz="900" b="0" i="0" u="none" strike="noStrike">
                        <a:solidFill>
                          <a:srgbClr val="0000FF"/>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endParaRPr lang="en-IN" sz="900" b="0" i="0" u="none" strike="noStrike" dirty="0">
                        <a:solidFill>
                          <a:srgbClr val="0000FF"/>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endParaRPr lang="en-IN" sz="900" b="0" i="0" u="none" strike="noStrike" dirty="0">
                        <a:solidFill>
                          <a:srgbClr val="0000FF"/>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22219382"/>
                  </a:ext>
                </a:extLst>
              </a:tr>
              <a:tr h="146018">
                <a:tc vMerge="1">
                  <a:txBody>
                    <a:bodyPr/>
                    <a:lstStyle/>
                    <a:p>
                      <a:pPr algn="l" fontAlgn="b">
                        <a:buNone/>
                      </a:pPr>
                      <a:endParaRPr lang="en-IN" sz="1050" b="1" i="0" u="none" strike="noStrike" dirty="0">
                        <a:solidFill>
                          <a:srgbClr val="0000FF"/>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en-IN" sz="800" b="0" i="0" u="none" strike="noStrike" dirty="0">
                          <a:solidFill>
                            <a:srgbClr val="000000"/>
                          </a:solidFill>
                          <a:effectLst/>
                          <a:latin typeface="Avenir Next LT Pro" panose="020B0504020202020204" pitchFamily="34" charset="77"/>
                        </a:rPr>
                        <a:t>Asynchronous notifications</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endParaRPr lang="en-IN" sz="900" b="0" i="0" u="none" strike="noStrike" dirty="0">
                        <a:solidFill>
                          <a:srgbClr val="0000FF"/>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en-IN" sz="900" b="0" i="0" u="none" strike="noStrike" dirty="0">
                          <a:solidFill>
                            <a:srgbClr val="0000FF"/>
                          </a:solidFill>
                          <a:effectLst/>
                          <a:latin typeface="IBM Plex Sans" panose="020B0503050203000203" pitchFamily="34" charset="0"/>
                        </a:rPr>
                        <a:t>&lt;=5 Sec</a:t>
                      </a: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endParaRPr lang="en-IN" sz="900" b="0" i="0" u="none" strike="noStrike">
                        <a:solidFill>
                          <a:srgbClr val="0000FF"/>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endParaRPr lang="en-IN" sz="900" b="0" i="0" u="none" strike="noStrike" dirty="0">
                        <a:solidFill>
                          <a:srgbClr val="0000FF"/>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endParaRPr lang="en-IN" sz="900" b="0" i="0" u="none" strike="noStrike" dirty="0">
                        <a:solidFill>
                          <a:srgbClr val="0000FF"/>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90245071"/>
                  </a:ext>
                </a:extLst>
              </a:tr>
              <a:tr h="145886">
                <a:tc rowSpan="15">
                  <a:txBody>
                    <a:bodyPr/>
                    <a:lstStyle/>
                    <a:p>
                      <a:pPr algn="l" fontAlgn="ctr">
                        <a:buNone/>
                      </a:pPr>
                      <a:r>
                        <a:rPr lang="en-IN" sz="900" b="1" u="none" strike="noStrike" dirty="0">
                          <a:effectLst/>
                        </a:rPr>
                        <a:t>Performance &amp; Integration</a:t>
                      </a:r>
                    </a:p>
                    <a:p>
                      <a:pPr algn="l" fontAlgn="b">
                        <a:buNone/>
                      </a:pPr>
                      <a:r>
                        <a:rPr lang="en-IN" sz="900" u="none" strike="noStrike" dirty="0">
                          <a:effectLst/>
                        </a:rPr>
                        <a:t> </a:t>
                      </a:r>
                    </a:p>
                    <a:p>
                      <a:pPr algn="l" fontAlgn="b">
                        <a:buNone/>
                      </a:pPr>
                      <a:r>
                        <a:rPr lang="en-IN" sz="900" u="none" strike="noStrike" dirty="0">
                          <a:effectLst/>
                        </a:rPr>
                        <a:t> </a:t>
                      </a:r>
                    </a:p>
                    <a:p>
                      <a:pPr algn="l" fontAlgn="b">
                        <a:buNone/>
                      </a:pPr>
                      <a:r>
                        <a:rPr lang="en-IN" sz="900" u="none" strike="noStrike" dirty="0">
                          <a:effectLst/>
                        </a:rPr>
                        <a:t> </a:t>
                      </a:r>
                    </a:p>
                    <a:p>
                      <a:pPr algn="l" fontAlgn="b">
                        <a:buNone/>
                      </a:pPr>
                      <a:r>
                        <a:rPr lang="en-IN" sz="900" u="none" strike="noStrike" dirty="0">
                          <a:effectLst/>
                        </a:rPr>
                        <a:t> </a:t>
                      </a:r>
                    </a:p>
                    <a:p>
                      <a:pPr algn="l" fontAlgn="b">
                        <a:buNone/>
                      </a:pPr>
                      <a:r>
                        <a:rPr lang="en-IN" sz="900" u="none" strike="noStrike" dirty="0">
                          <a:effectLst/>
                        </a:rPr>
                        <a:t> </a:t>
                      </a:r>
                    </a:p>
                    <a:p>
                      <a:pPr algn="l" fontAlgn="b">
                        <a:buNone/>
                      </a:pPr>
                      <a:r>
                        <a:rPr lang="en-IN" sz="900" u="none" strike="noStrike" dirty="0">
                          <a:effectLst/>
                        </a:rPr>
                        <a:t> </a:t>
                      </a:r>
                    </a:p>
                    <a:p>
                      <a:pPr algn="l" fontAlgn="b">
                        <a:buNone/>
                      </a:pPr>
                      <a:r>
                        <a:rPr lang="en-IN" sz="900" u="none" strike="noStrike" dirty="0">
                          <a:effectLst/>
                        </a:rPr>
                        <a:t> </a:t>
                      </a:r>
                    </a:p>
                    <a:p>
                      <a:pPr algn="l" fontAlgn="b">
                        <a:buNone/>
                      </a:pPr>
                      <a:r>
                        <a:rPr lang="en-IN" sz="900" u="none" strike="noStrike" dirty="0">
                          <a:effectLst/>
                        </a:rPr>
                        <a:t> </a:t>
                      </a:r>
                    </a:p>
                    <a:p>
                      <a:pPr algn="l" fontAlgn="b">
                        <a:buNone/>
                      </a:pPr>
                      <a:r>
                        <a:rPr lang="en-IN" sz="900" u="none" strike="noStrike" dirty="0">
                          <a:effectLst/>
                        </a:rPr>
                        <a:t> </a:t>
                      </a:r>
                    </a:p>
                    <a:p>
                      <a:pPr algn="l" fontAlgn="b">
                        <a:buNone/>
                      </a:pPr>
                      <a:r>
                        <a:rPr lang="en-IN" sz="900" u="none" strike="noStrike" dirty="0">
                          <a:effectLst/>
                        </a:rPr>
                        <a:t> </a:t>
                      </a:r>
                    </a:p>
                    <a:p>
                      <a:pPr algn="l" fontAlgn="b">
                        <a:buNone/>
                      </a:pPr>
                      <a:r>
                        <a:rPr lang="en-IN" sz="900" u="none" strike="noStrike" dirty="0">
                          <a:effectLst/>
                        </a:rPr>
                        <a:t> </a:t>
                      </a:r>
                    </a:p>
                    <a:p>
                      <a:pPr algn="l" fontAlgn="b">
                        <a:buNone/>
                      </a:pPr>
                      <a:r>
                        <a:rPr lang="en-IN" sz="900" u="none" strike="noStrike" dirty="0">
                          <a:effectLst/>
                        </a:rPr>
                        <a:t> </a:t>
                      </a:r>
                    </a:p>
                    <a:p>
                      <a:pPr algn="l" fontAlgn="b">
                        <a:buNone/>
                      </a:pPr>
                      <a:r>
                        <a:rPr lang="en-IN" sz="900" u="none" strike="noStrike" dirty="0">
                          <a:effectLst/>
                        </a:rPr>
                        <a:t> </a:t>
                      </a:r>
                    </a:p>
                    <a:p>
                      <a:pPr algn="l" fontAlgn="b">
                        <a:buNone/>
                      </a:pPr>
                      <a:r>
                        <a:rPr lang="en-IN" sz="900" u="none" strike="noStrike" dirty="0">
                          <a:effectLst/>
                        </a:rPr>
                        <a:t> </a:t>
                      </a:r>
                    </a:p>
                    <a:p>
                      <a:pPr algn="l" fontAlgn="b">
                        <a:buNone/>
                      </a:pPr>
                      <a:r>
                        <a:rPr lang="en-IN" sz="900" u="none" strike="noStrike" dirty="0">
                          <a:effectLst/>
                        </a:rPr>
                        <a:t> </a:t>
                      </a:r>
                    </a:p>
                    <a:p>
                      <a:pPr algn="l" fontAlgn="b">
                        <a:buNone/>
                      </a:pPr>
                      <a:r>
                        <a:rPr lang="en-IN" sz="900" u="none" strike="noStrike" dirty="0">
                          <a:effectLst/>
                        </a:rPr>
                        <a:t> </a:t>
                      </a:r>
                    </a:p>
                    <a:p>
                      <a:pPr algn="l" fontAlgn="b">
                        <a:buNone/>
                      </a:pPr>
                      <a:r>
                        <a:rPr lang="en-IN" sz="900" u="none" strike="noStrike" dirty="0">
                          <a:effectLst/>
                        </a:rPr>
                        <a:t> </a:t>
                      </a:r>
                    </a:p>
                    <a:p>
                      <a:pPr algn="l" fontAlgn="b">
                        <a:buNone/>
                      </a:pPr>
                      <a:r>
                        <a:rPr lang="en-IN" sz="900" u="none" strike="noStrike" dirty="0">
                          <a:effectLst/>
                        </a:rPr>
                        <a:t> </a:t>
                      </a:r>
                      <a:endParaRPr lang="en-IN" sz="900" b="1" i="0" u="none" strike="noStrike" dirty="0">
                        <a:solidFill>
                          <a:srgbClr val="000000"/>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en-IN" sz="900" u="none" strike="noStrike">
                          <a:effectLst/>
                        </a:rPr>
                        <a:t>Availability &amp; Reliability</a:t>
                      </a:r>
                      <a:endParaRPr lang="en-IN" sz="900" b="1" i="0" u="none" strike="noStrike">
                        <a:solidFill>
                          <a:srgbClr val="000000"/>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en-IN" sz="900" u="none" strike="noStrike" dirty="0">
                          <a:effectLst/>
                        </a:rPr>
                        <a:t> </a:t>
                      </a:r>
                      <a:endParaRPr lang="en-IN" sz="900" b="0" i="0" u="none" strike="noStrike" dirty="0">
                        <a:solidFill>
                          <a:srgbClr val="0000FF"/>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en-IN" sz="900" u="none" strike="noStrike" dirty="0">
                          <a:effectLst/>
                        </a:rPr>
                        <a:t> </a:t>
                      </a:r>
                      <a:endParaRPr lang="en-IN" sz="900" b="0" i="0" u="none" strike="noStrike" dirty="0">
                        <a:solidFill>
                          <a:srgbClr val="0000FF"/>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en-IN" sz="900" u="none" strike="noStrike">
                          <a:effectLst/>
                        </a:rPr>
                        <a:t> </a:t>
                      </a:r>
                      <a:endParaRPr lang="en-IN" sz="900" b="0" i="0" u="none" strike="noStrike">
                        <a:solidFill>
                          <a:srgbClr val="0000FF"/>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en-IN" sz="900" u="none" strike="noStrike" dirty="0">
                          <a:effectLst/>
                        </a:rPr>
                        <a:t> </a:t>
                      </a:r>
                      <a:endParaRPr lang="en-IN" sz="900" b="0" i="0" u="none" strike="noStrike" dirty="0">
                        <a:solidFill>
                          <a:srgbClr val="0000FF"/>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en-IN" sz="900" u="none" strike="noStrike" dirty="0">
                          <a:effectLst/>
                        </a:rPr>
                        <a:t> </a:t>
                      </a:r>
                      <a:endParaRPr lang="en-IN" sz="900" b="0" i="0" u="none" strike="noStrike" dirty="0">
                        <a:solidFill>
                          <a:srgbClr val="0000FF"/>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75137603"/>
                  </a:ext>
                </a:extLst>
              </a:tr>
              <a:tr h="145886">
                <a:tc vMerge="1">
                  <a:txBody>
                    <a:bodyPr/>
                    <a:lstStyle/>
                    <a:p>
                      <a:endParaRPr/>
                    </a:p>
                  </a:txBody>
                  <a:tcPr marL="1759" marR="1759" marT="1759" marB="0" anchor="b"/>
                </a:tc>
                <a:tc>
                  <a:txBody>
                    <a:bodyPr/>
                    <a:lstStyle/>
                    <a:p>
                      <a:pPr algn="l" fontAlgn="ctr">
                        <a:buNone/>
                      </a:pPr>
                      <a:r>
                        <a:rPr lang="en-IN" sz="900" u="none" strike="noStrike">
                          <a:effectLst/>
                        </a:rPr>
                        <a:t>Business-as-usual uptime SLA (e.g., 99.9% / 99.95%)</a:t>
                      </a:r>
                      <a:endParaRPr lang="en-IN" sz="900" b="0" i="0" u="none" strike="noStrike">
                        <a:solidFill>
                          <a:srgbClr val="0000FF"/>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900" u="none" strike="noStrike" dirty="0">
                          <a:effectLst/>
                        </a:rPr>
                        <a:t> </a:t>
                      </a:r>
                      <a:endParaRPr lang="en-IN" sz="900" b="0" i="0" u="none" strike="noStrike" dirty="0">
                        <a:solidFill>
                          <a:srgbClr val="0000FF"/>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dirty="0">
                          <a:effectLst/>
                        </a:rPr>
                        <a:t>99.90%</a:t>
                      </a:r>
                      <a:endParaRPr lang="en-IN" sz="900" b="0" i="0" u="none" strike="noStrike" dirty="0">
                        <a:solidFill>
                          <a:srgbClr val="0000FF"/>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a:effectLst/>
                        </a:rPr>
                        <a:t>99.90%</a:t>
                      </a:r>
                      <a:endParaRPr lang="en-IN" sz="900" b="0" i="0" u="none" strike="noStrike">
                        <a:solidFill>
                          <a:srgbClr val="0000FF"/>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a:effectLst/>
                        </a:rPr>
                        <a:t>99.90%</a:t>
                      </a:r>
                      <a:endParaRPr lang="en-IN" sz="900" b="0" i="0" u="none" strike="noStrike">
                        <a:solidFill>
                          <a:srgbClr val="0000FF"/>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dirty="0">
                          <a:effectLst/>
                        </a:rPr>
                        <a:t>99.90%</a:t>
                      </a:r>
                      <a:endParaRPr lang="en-IN" sz="900" b="0" i="0" u="none" strike="noStrike" dirty="0">
                        <a:solidFill>
                          <a:srgbClr val="0000FF"/>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91751692"/>
                  </a:ext>
                </a:extLst>
              </a:tr>
              <a:tr h="434487">
                <a:tc vMerge="1">
                  <a:txBody>
                    <a:bodyPr/>
                    <a:lstStyle/>
                    <a:p>
                      <a:endParaRPr/>
                    </a:p>
                  </a:txBody>
                  <a:tcPr marL="1759" marR="1759" marT="1759" marB="0" anchor="b"/>
                </a:tc>
                <a:tc>
                  <a:txBody>
                    <a:bodyPr/>
                    <a:lstStyle/>
                    <a:p>
                      <a:pPr algn="l" fontAlgn="ctr">
                        <a:buNone/>
                      </a:pPr>
                      <a:r>
                        <a:rPr lang="en-IN" sz="900" u="none" strike="noStrike" dirty="0">
                          <a:effectLst/>
                        </a:rPr>
                        <a:t>Planned vs unplanned downtime</a:t>
                      </a:r>
                      <a:endParaRPr lang="en-IN" sz="900" b="0" i="0" u="none" strike="noStrike" dirty="0">
                        <a:solidFill>
                          <a:srgbClr val="000000"/>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900" u="none" strike="noStrike" dirty="0">
                          <a:effectLst/>
                        </a:rPr>
                        <a:t>Planned- max 1 hour/month unplanned- &lt;=0.1% monthly downtime</a:t>
                      </a:r>
                      <a:endParaRPr lang="en-IN" sz="900" b="0" i="0" u="none" strike="noStrike" dirty="0">
                        <a:solidFill>
                          <a:srgbClr val="00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dirty="0">
                          <a:effectLst/>
                        </a:rPr>
                        <a:t> </a:t>
                      </a:r>
                      <a:endParaRPr lang="en-IN" sz="900" b="0" i="0" u="none" strike="noStrike" dirty="0">
                        <a:solidFill>
                          <a:srgbClr val="00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dirty="0">
                          <a:effectLst/>
                        </a:rPr>
                        <a:t> </a:t>
                      </a:r>
                      <a:endParaRPr lang="en-IN" sz="900" b="0" i="0" u="none" strike="noStrike" dirty="0">
                        <a:solidFill>
                          <a:srgbClr val="00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dirty="0">
                          <a:effectLst/>
                        </a:rPr>
                        <a:t> </a:t>
                      </a:r>
                      <a:endParaRPr lang="en-IN" sz="900" b="0" i="0" u="none" strike="noStrike" dirty="0">
                        <a:solidFill>
                          <a:srgbClr val="00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dirty="0">
                          <a:effectLst/>
                        </a:rPr>
                        <a:t> </a:t>
                      </a:r>
                      <a:endParaRPr lang="en-IN" sz="900" b="0" i="0" u="none" strike="noStrike" dirty="0">
                        <a:solidFill>
                          <a:srgbClr val="00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273067"/>
                  </a:ext>
                </a:extLst>
              </a:tr>
              <a:tr h="145886">
                <a:tc vMerge="1">
                  <a:txBody>
                    <a:bodyPr/>
                    <a:lstStyle/>
                    <a:p>
                      <a:endParaRPr/>
                    </a:p>
                  </a:txBody>
                  <a:tcPr marL="1759" marR="1759" marT="1759" marB="0" anchor="b"/>
                </a:tc>
                <a:tc>
                  <a:txBody>
                    <a:bodyPr/>
                    <a:lstStyle/>
                    <a:p>
                      <a:pPr algn="l" fontAlgn="ctr">
                        <a:buNone/>
                      </a:pPr>
                      <a:r>
                        <a:rPr lang="en-IN" sz="900" u="none" strike="noStrike" dirty="0">
                          <a:effectLst/>
                        </a:rPr>
                        <a:t>Active‑active / active‑passive setup</a:t>
                      </a:r>
                      <a:endParaRPr lang="en-IN" sz="900" b="0" i="0" u="none" strike="noStrike" dirty="0">
                        <a:solidFill>
                          <a:srgbClr val="000000"/>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900" u="none" strike="noStrike" dirty="0">
                          <a:effectLst/>
                        </a:rPr>
                        <a:t> TBD</a:t>
                      </a:r>
                      <a:endParaRPr lang="en-IN" sz="900" b="0" i="0" u="none" strike="noStrike" dirty="0">
                        <a:solidFill>
                          <a:srgbClr val="00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dirty="0">
                          <a:effectLst/>
                        </a:rPr>
                        <a:t> </a:t>
                      </a:r>
                      <a:endParaRPr lang="en-IN" sz="900" b="0" i="0" u="none" strike="noStrike" dirty="0">
                        <a:solidFill>
                          <a:srgbClr val="00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a:effectLst/>
                        </a:rPr>
                        <a:t> </a:t>
                      </a:r>
                      <a:endParaRPr lang="en-IN" sz="900" b="0" i="0" u="none" strike="noStrike">
                        <a:solidFill>
                          <a:srgbClr val="00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dirty="0">
                          <a:effectLst/>
                        </a:rPr>
                        <a:t> </a:t>
                      </a:r>
                      <a:endParaRPr lang="en-IN" sz="900" b="0" i="0" u="none" strike="noStrike" dirty="0">
                        <a:solidFill>
                          <a:srgbClr val="00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dirty="0">
                          <a:effectLst/>
                        </a:rPr>
                        <a:t> </a:t>
                      </a:r>
                      <a:endParaRPr lang="en-IN" sz="900" b="0" i="0" u="none" strike="noStrike" dirty="0">
                        <a:solidFill>
                          <a:srgbClr val="00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8169391"/>
                  </a:ext>
                </a:extLst>
              </a:tr>
              <a:tr h="145886">
                <a:tc vMerge="1">
                  <a:txBody>
                    <a:bodyPr/>
                    <a:lstStyle/>
                    <a:p>
                      <a:endParaRPr/>
                    </a:p>
                  </a:txBody>
                  <a:tcPr marL="1759" marR="1759" marT="1759" marB="0" anchor="b"/>
                </a:tc>
                <a:tc>
                  <a:txBody>
                    <a:bodyPr/>
                    <a:lstStyle/>
                    <a:p>
                      <a:pPr algn="l" fontAlgn="ctr">
                        <a:buNone/>
                      </a:pPr>
                      <a:r>
                        <a:rPr lang="en-IN" sz="900" u="none" strike="noStrike" dirty="0">
                          <a:effectLst/>
                        </a:rPr>
                        <a:t>Observability &amp; Monitoring</a:t>
                      </a:r>
                      <a:endParaRPr lang="en-IN" sz="900" b="1" i="0" u="none" strike="noStrike" dirty="0">
                        <a:solidFill>
                          <a:srgbClr val="000000"/>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900" u="none" strike="noStrike" dirty="0">
                          <a:effectLst/>
                        </a:rPr>
                        <a:t>Required</a:t>
                      </a:r>
                      <a:endParaRPr lang="en-IN" sz="900" b="0" i="0" u="none" strike="noStrike" dirty="0">
                        <a:solidFill>
                          <a:srgbClr val="00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dirty="0">
                          <a:effectLst/>
                        </a:rPr>
                        <a:t> </a:t>
                      </a:r>
                      <a:endParaRPr lang="en-IN" sz="900" b="0" i="0" u="none" strike="noStrike" dirty="0">
                        <a:solidFill>
                          <a:srgbClr val="00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dirty="0">
                          <a:effectLst/>
                        </a:rPr>
                        <a:t> </a:t>
                      </a:r>
                      <a:endParaRPr lang="en-IN" sz="900" b="0" i="0" u="none" strike="noStrike" dirty="0">
                        <a:solidFill>
                          <a:srgbClr val="00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a:effectLst/>
                        </a:rPr>
                        <a:t> </a:t>
                      </a:r>
                      <a:endParaRPr lang="en-IN" sz="900" b="0" i="0" u="none" strike="noStrike">
                        <a:solidFill>
                          <a:srgbClr val="00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dirty="0">
                          <a:effectLst/>
                        </a:rPr>
                        <a:t> </a:t>
                      </a:r>
                      <a:endParaRPr lang="en-IN" sz="900" b="0" i="0" u="none" strike="noStrike" dirty="0">
                        <a:solidFill>
                          <a:srgbClr val="00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21276156"/>
                  </a:ext>
                </a:extLst>
              </a:tr>
              <a:tr h="145886">
                <a:tc vMerge="1">
                  <a:txBody>
                    <a:bodyPr/>
                    <a:lstStyle/>
                    <a:p>
                      <a:endParaRPr/>
                    </a:p>
                  </a:txBody>
                  <a:tcPr marL="1759" marR="1759" marT="1759" marB="0" anchor="b"/>
                </a:tc>
                <a:tc>
                  <a:txBody>
                    <a:bodyPr/>
                    <a:lstStyle/>
                    <a:p>
                      <a:pPr algn="l" fontAlgn="ctr">
                        <a:buNone/>
                      </a:pPr>
                      <a:r>
                        <a:rPr lang="en-IN" sz="900" u="none" strike="noStrike">
                          <a:effectLst/>
                        </a:rPr>
                        <a:t>Application metrics (CPU, memory, latency)</a:t>
                      </a:r>
                      <a:endParaRPr lang="en-IN" sz="900" b="0" i="0" u="none" strike="noStrike">
                        <a:solidFill>
                          <a:srgbClr val="0000FF"/>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en-IN" sz="900" u="none" strike="noStrike">
                          <a:effectLst/>
                        </a:rPr>
                        <a:t>Server CPU, Memory, Latency.</a:t>
                      </a:r>
                      <a:endParaRPr lang="en-IN" sz="900" b="0" i="0" u="none" strike="noStrike">
                        <a:solidFill>
                          <a:srgbClr val="000000"/>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dirty="0">
                          <a:effectLst/>
                        </a:rPr>
                        <a:t> </a:t>
                      </a:r>
                      <a:endParaRPr lang="en-IN" sz="900" b="0" i="0" u="none" strike="noStrike" dirty="0">
                        <a:solidFill>
                          <a:srgbClr val="00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dirty="0">
                          <a:effectLst/>
                        </a:rPr>
                        <a:t> </a:t>
                      </a:r>
                      <a:endParaRPr lang="en-IN" sz="900" b="0" i="0" u="none" strike="noStrike" dirty="0">
                        <a:solidFill>
                          <a:srgbClr val="00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a:effectLst/>
                        </a:rPr>
                        <a:t> </a:t>
                      </a:r>
                      <a:endParaRPr lang="en-IN" sz="900" b="0" i="0" u="none" strike="noStrike">
                        <a:solidFill>
                          <a:srgbClr val="00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dirty="0">
                          <a:effectLst/>
                        </a:rPr>
                        <a:t> </a:t>
                      </a:r>
                      <a:endParaRPr lang="en-IN" sz="900" b="0" i="0" u="none" strike="noStrike" dirty="0">
                        <a:solidFill>
                          <a:srgbClr val="00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5779462"/>
                  </a:ext>
                </a:extLst>
              </a:tr>
              <a:tr h="145886">
                <a:tc vMerge="1">
                  <a:txBody>
                    <a:bodyPr/>
                    <a:lstStyle/>
                    <a:p>
                      <a:endParaRPr/>
                    </a:p>
                  </a:txBody>
                  <a:tcPr marL="1759" marR="1759" marT="1759" marB="0" anchor="b"/>
                </a:tc>
                <a:tc>
                  <a:txBody>
                    <a:bodyPr/>
                    <a:lstStyle/>
                    <a:p>
                      <a:pPr algn="l" fontAlgn="ctr">
                        <a:buNone/>
                      </a:pPr>
                      <a:r>
                        <a:rPr lang="en-IN" sz="900" u="none" strike="noStrike">
                          <a:effectLst/>
                        </a:rPr>
                        <a:t>Centralized logging- Operational logs</a:t>
                      </a:r>
                      <a:endParaRPr lang="en-IN" sz="900" b="0" i="0" u="none" strike="noStrike">
                        <a:solidFill>
                          <a:srgbClr val="000000"/>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900" u="none" strike="noStrike" dirty="0">
                          <a:effectLst/>
                        </a:rPr>
                        <a:t>Yes</a:t>
                      </a:r>
                      <a:endParaRPr lang="en-IN" sz="900" b="0" i="0" u="none" strike="noStrike" dirty="0">
                        <a:solidFill>
                          <a:srgbClr val="00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dirty="0">
                          <a:effectLst/>
                        </a:rPr>
                        <a:t> </a:t>
                      </a:r>
                      <a:endParaRPr lang="en-IN" sz="900" b="0" i="0" u="none" strike="noStrike" dirty="0">
                        <a:solidFill>
                          <a:srgbClr val="0000FF"/>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dirty="0">
                          <a:effectLst/>
                        </a:rPr>
                        <a:t> </a:t>
                      </a:r>
                      <a:endParaRPr lang="en-IN" sz="900" b="0" i="0" u="none" strike="noStrike" dirty="0">
                        <a:solidFill>
                          <a:srgbClr val="0000FF"/>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a:effectLst/>
                        </a:rPr>
                        <a:t> </a:t>
                      </a:r>
                      <a:endParaRPr lang="en-IN" sz="900" b="0" i="0" u="none" strike="noStrike">
                        <a:solidFill>
                          <a:srgbClr val="0000FF"/>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dirty="0">
                          <a:effectLst/>
                        </a:rPr>
                        <a:t> </a:t>
                      </a:r>
                      <a:endParaRPr lang="en-IN" sz="900" b="0" i="0" u="none" strike="noStrike" dirty="0">
                        <a:solidFill>
                          <a:srgbClr val="0000FF"/>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7322199"/>
                  </a:ext>
                </a:extLst>
              </a:tr>
              <a:tr h="145886">
                <a:tc vMerge="1">
                  <a:txBody>
                    <a:bodyPr/>
                    <a:lstStyle/>
                    <a:p>
                      <a:endParaRPr/>
                    </a:p>
                  </a:txBody>
                  <a:tcPr marL="1759" marR="1759" marT="1759" marB="0" anchor="b"/>
                </a:tc>
                <a:tc>
                  <a:txBody>
                    <a:bodyPr/>
                    <a:lstStyle/>
                    <a:p>
                      <a:pPr algn="l" fontAlgn="ctr">
                        <a:buNone/>
                      </a:pPr>
                      <a:r>
                        <a:rPr lang="en-IN" sz="900" u="none" strike="noStrike">
                          <a:effectLst/>
                        </a:rPr>
                        <a:t>Alerting &amp; escalation</a:t>
                      </a:r>
                      <a:endParaRPr lang="en-IN" sz="900" b="0" i="0" u="none" strike="noStrike">
                        <a:solidFill>
                          <a:srgbClr val="000000"/>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900" u="none" strike="noStrike">
                          <a:effectLst/>
                        </a:rPr>
                        <a:t>Yes</a:t>
                      </a:r>
                      <a:endParaRPr lang="en-IN" sz="900" b="0" i="0" u="none" strike="noStrike">
                        <a:solidFill>
                          <a:srgbClr val="00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dirty="0">
                          <a:effectLst/>
                        </a:rPr>
                        <a:t> </a:t>
                      </a:r>
                      <a:endParaRPr lang="en-IN" sz="900" b="0" i="0" u="none" strike="noStrike" dirty="0">
                        <a:solidFill>
                          <a:srgbClr val="00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dirty="0">
                          <a:effectLst/>
                        </a:rPr>
                        <a:t> </a:t>
                      </a:r>
                      <a:endParaRPr lang="en-IN" sz="900" b="0" i="0" u="none" strike="noStrike" dirty="0">
                        <a:solidFill>
                          <a:srgbClr val="00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dirty="0">
                          <a:effectLst/>
                        </a:rPr>
                        <a:t> </a:t>
                      </a:r>
                      <a:endParaRPr lang="en-IN" sz="900" b="0" i="0" u="none" strike="noStrike" dirty="0">
                        <a:solidFill>
                          <a:srgbClr val="00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dirty="0">
                          <a:effectLst/>
                        </a:rPr>
                        <a:t> </a:t>
                      </a:r>
                      <a:endParaRPr lang="en-IN" sz="900" b="0" i="0" u="none" strike="noStrike" dirty="0">
                        <a:solidFill>
                          <a:srgbClr val="00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93637368"/>
                  </a:ext>
                </a:extLst>
              </a:tr>
              <a:tr h="145886">
                <a:tc vMerge="1">
                  <a:txBody>
                    <a:bodyPr/>
                    <a:lstStyle/>
                    <a:p>
                      <a:endParaRPr/>
                    </a:p>
                  </a:txBody>
                  <a:tcPr marL="1759" marR="1759" marT="1759" marB="0" anchor="b"/>
                </a:tc>
                <a:tc>
                  <a:txBody>
                    <a:bodyPr/>
                    <a:lstStyle/>
                    <a:p>
                      <a:pPr algn="l" fontAlgn="ctr">
                        <a:buNone/>
                      </a:pPr>
                      <a:r>
                        <a:rPr lang="en-IN" sz="900" u="none" strike="noStrike">
                          <a:effectLst/>
                        </a:rPr>
                        <a:t>Dashboard availability (Grafana/App Insights/etc.)</a:t>
                      </a:r>
                      <a:endParaRPr lang="en-IN" sz="900" b="0" i="0" u="none" strike="noStrike">
                        <a:solidFill>
                          <a:srgbClr val="0000FF"/>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en-IN" sz="900" u="none" strike="noStrike">
                          <a:effectLst/>
                        </a:rPr>
                        <a:t>App Dynamics , API monitoring</a:t>
                      </a:r>
                      <a:endParaRPr lang="en-IN" sz="900" b="0" i="0" u="none" strike="noStrike">
                        <a:solidFill>
                          <a:srgbClr val="000000"/>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dirty="0">
                          <a:effectLst/>
                        </a:rPr>
                        <a:t> </a:t>
                      </a:r>
                      <a:endParaRPr lang="en-IN" sz="900" b="0" i="0" u="none" strike="noStrike" dirty="0">
                        <a:solidFill>
                          <a:srgbClr val="0000FF"/>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dirty="0">
                          <a:effectLst/>
                        </a:rPr>
                        <a:t> </a:t>
                      </a:r>
                      <a:endParaRPr lang="en-IN" sz="900" b="0" i="0" u="none" strike="noStrike" dirty="0">
                        <a:solidFill>
                          <a:srgbClr val="0000FF"/>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dirty="0">
                          <a:effectLst/>
                        </a:rPr>
                        <a:t> </a:t>
                      </a:r>
                      <a:endParaRPr lang="en-IN" sz="900" b="0" i="0" u="none" strike="noStrike" dirty="0">
                        <a:solidFill>
                          <a:srgbClr val="0000FF"/>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dirty="0">
                          <a:effectLst/>
                        </a:rPr>
                        <a:t> </a:t>
                      </a:r>
                      <a:endParaRPr lang="en-IN" sz="900" b="0" i="0" u="none" strike="noStrike" dirty="0">
                        <a:solidFill>
                          <a:srgbClr val="0000FF"/>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34646088"/>
                  </a:ext>
                </a:extLst>
              </a:tr>
              <a:tr h="145886">
                <a:tc vMerge="1">
                  <a:txBody>
                    <a:bodyPr/>
                    <a:lstStyle/>
                    <a:p>
                      <a:endParaRPr/>
                    </a:p>
                  </a:txBody>
                  <a:tcPr marL="1759" marR="1759" marT="1759" marB="0" anchor="b"/>
                </a:tc>
                <a:tc>
                  <a:txBody>
                    <a:bodyPr/>
                    <a:lstStyle/>
                    <a:p>
                      <a:pPr algn="l" fontAlgn="ctr">
                        <a:buNone/>
                      </a:pPr>
                      <a:r>
                        <a:rPr lang="en-IN" sz="900" u="none" strike="noStrike">
                          <a:effectLst/>
                        </a:rPr>
                        <a:t>API versioning</a:t>
                      </a:r>
                      <a:endParaRPr lang="en-IN" sz="900" b="0" i="0" u="none" strike="noStrike">
                        <a:solidFill>
                          <a:srgbClr val="0000FF"/>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900" u="none" strike="noStrike">
                          <a:effectLst/>
                        </a:rPr>
                        <a:t>Required</a:t>
                      </a:r>
                      <a:endParaRPr lang="en-IN" sz="900" b="0" i="0" u="none" strike="noStrike">
                        <a:solidFill>
                          <a:srgbClr val="0000FF"/>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dirty="0">
                          <a:effectLst/>
                        </a:rPr>
                        <a:t> </a:t>
                      </a:r>
                      <a:endParaRPr lang="en-IN" sz="900" b="0" i="0" u="none" strike="noStrike" dirty="0">
                        <a:solidFill>
                          <a:srgbClr val="0000FF"/>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a:effectLst/>
                        </a:rPr>
                        <a:t> </a:t>
                      </a:r>
                      <a:endParaRPr lang="en-IN" sz="900" b="0" i="0" u="none" strike="noStrike">
                        <a:solidFill>
                          <a:srgbClr val="0000FF"/>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dirty="0">
                          <a:effectLst/>
                        </a:rPr>
                        <a:t> </a:t>
                      </a:r>
                      <a:endParaRPr lang="en-IN" sz="900" b="0" i="0" u="none" strike="noStrike" dirty="0">
                        <a:solidFill>
                          <a:srgbClr val="0000FF"/>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dirty="0">
                          <a:effectLst/>
                        </a:rPr>
                        <a:t> </a:t>
                      </a:r>
                      <a:endParaRPr lang="en-IN" sz="900" b="0" i="0" u="none" strike="noStrike" dirty="0">
                        <a:solidFill>
                          <a:srgbClr val="0000FF"/>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78270391"/>
                  </a:ext>
                </a:extLst>
              </a:tr>
              <a:tr h="290186">
                <a:tc vMerge="1">
                  <a:txBody>
                    <a:bodyPr/>
                    <a:lstStyle/>
                    <a:p>
                      <a:endParaRPr/>
                    </a:p>
                  </a:txBody>
                  <a:tcPr marL="1759" marR="1759" marT="1759" marB="0" anchor="b"/>
                </a:tc>
                <a:tc>
                  <a:txBody>
                    <a:bodyPr/>
                    <a:lstStyle/>
                    <a:p>
                      <a:pPr algn="l" fontAlgn="ctr">
                        <a:buNone/>
                      </a:pPr>
                      <a:r>
                        <a:rPr lang="en-IN" sz="900" u="none" strike="noStrike">
                          <a:effectLst/>
                        </a:rPr>
                        <a:t>External dependency SLAs</a:t>
                      </a:r>
                      <a:endParaRPr lang="en-IN" sz="900" b="0" i="0" u="none" strike="noStrike">
                        <a:solidFill>
                          <a:srgbClr val="0000FF"/>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900" u="none" strike="noStrike">
                          <a:effectLst/>
                        </a:rPr>
                        <a:t>&lt;1.5 sec for SaaS based API response time</a:t>
                      </a:r>
                      <a:endParaRPr lang="en-IN" sz="900" b="0" i="0" u="none" strike="noStrike">
                        <a:solidFill>
                          <a:srgbClr val="00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dirty="0">
                          <a:effectLst/>
                        </a:rPr>
                        <a:t> </a:t>
                      </a:r>
                      <a:endParaRPr lang="en-IN" sz="900" b="0" i="0" u="none" strike="noStrike" dirty="0">
                        <a:solidFill>
                          <a:srgbClr val="00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a:effectLst/>
                        </a:rPr>
                        <a:t> </a:t>
                      </a:r>
                      <a:endParaRPr lang="en-IN" sz="900" b="0" i="0" u="none" strike="noStrike">
                        <a:solidFill>
                          <a:srgbClr val="00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dirty="0">
                          <a:effectLst/>
                        </a:rPr>
                        <a:t> </a:t>
                      </a:r>
                      <a:endParaRPr lang="en-IN" sz="900" b="0" i="0" u="none" strike="noStrike" dirty="0">
                        <a:solidFill>
                          <a:srgbClr val="00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dirty="0">
                          <a:effectLst/>
                        </a:rPr>
                        <a:t> </a:t>
                      </a:r>
                      <a:endParaRPr lang="en-IN" sz="900" b="0" i="0" u="none" strike="noStrike" dirty="0">
                        <a:solidFill>
                          <a:srgbClr val="00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5463759"/>
                  </a:ext>
                </a:extLst>
              </a:tr>
              <a:tr h="145886">
                <a:tc vMerge="1">
                  <a:txBody>
                    <a:bodyPr/>
                    <a:lstStyle/>
                    <a:p>
                      <a:endParaRPr/>
                    </a:p>
                  </a:txBody>
                  <a:tcPr marL="1759" marR="1759" marT="1759" marB="0" anchor="b"/>
                </a:tc>
                <a:tc>
                  <a:txBody>
                    <a:bodyPr/>
                    <a:lstStyle/>
                    <a:p>
                      <a:pPr algn="l" fontAlgn="ctr">
                        <a:buNone/>
                      </a:pPr>
                      <a:r>
                        <a:rPr lang="en-IN" sz="900" u="none" strike="noStrike">
                          <a:effectLst/>
                        </a:rPr>
                        <a:t>Retry &amp; timeout policies</a:t>
                      </a:r>
                      <a:endParaRPr lang="en-IN" sz="900" b="0" i="0" u="none" strike="noStrike">
                        <a:solidFill>
                          <a:srgbClr val="0000FF"/>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900" u="none" strike="noStrike">
                          <a:effectLst/>
                        </a:rPr>
                        <a:t>3 retries and </a:t>
                      </a:r>
                      <a:endParaRPr lang="en-IN" sz="900" b="0" i="0" u="none" strike="noStrike">
                        <a:solidFill>
                          <a:srgbClr val="00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dirty="0">
                          <a:effectLst/>
                        </a:rPr>
                        <a:t> </a:t>
                      </a:r>
                      <a:endParaRPr lang="en-IN" sz="900" b="0" i="0" u="none" strike="noStrike" dirty="0">
                        <a:solidFill>
                          <a:srgbClr val="00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a:effectLst/>
                        </a:rPr>
                        <a:t> </a:t>
                      </a:r>
                      <a:endParaRPr lang="en-IN" sz="900" b="0" i="0" u="none" strike="noStrike">
                        <a:solidFill>
                          <a:srgbClr val="00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dirty="0">
                          <a:effectLst/>
                        </a:rPr>
                        <a:t> </a:t>
                      </a:r>
                      <a:endParaRPr lang="en-IN" sz="900" b="0" i="0" u="none" strike="noStrike" dirty="0">
                        <a:solidFill>
                          <a:srgbClr val="00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dirty="0">
                          <a:effectLst/>
                        </a:rPr>
                        <a:t> </a:t>
                      </a:r>
                      <a:endParaRPr lang="en-IN" sz="900" b="0" i="0" u="none" strike="noStrike" dirty="0">
                        <a:solidFill>
                          <a:srgbClr val="00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24429265"/>
                  </a:ext>
                </a:extLst>
              </a:tr>
              <a:tr h="145886">
                <a:tc vMerge="1">
                  <a:txBody>
                    <a:bodyPr/>
                    <a:lstStyle/>
                    <a:p>
                      <a:endParaRPr/>
                    </a:p>
                  </a:txBody>
                  <a:tcPr marL="1759" marR="1759" marT="1759" marB="0" anchor="b"/>
                </a:tc>
                <a:tc>
                  <a:txBody>
                    <a:bodyPr/>
                    <a:lstStyle/>
                    <a:p>
                      <a:pPr algn="l" fontAlgn="ctr">
                        <a:buNone/>
                      </a:pPr>
                      <a:r>
                        <a:rPr lang="en-IN" sz="900" u="none" strike="noStrike">
                          <a:effectLst/>
                        </a:rPr>
                        <a:t>DevOps &amp; Release Management </a:t>
                      </a:r>
                      <a:endParaRPr lang="en-IN" sz="900" b="1" i="0" u="none" strike="noStrike">
                        <a:solidFill>
                          <a:srgbClr val="000000"/>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900" u="none" strike="noStrike" dirty="0">
                          <a:effectLst/>
                        </a:rPr>
                        <a:t> Required</a:t>
                      </a:r>
                      <a:endParaRPr lang="en-IN" sz="900" b="0" i="0" u="none" strike="noStrike" dirty="0">
                        <a:solidFill>
                          <a:srgbClr val="00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dirty="0">
                          <a:effectLst/>
                        </a:rPr>
                        <a:t> </a:t>
                      </a:r>
                      <a:endParaRPr lang="en-IN" sz="900" b="0" i="0" u="none" strike="noStrike" dirty="0">
                        <a:solidFill>
                          <a:srgbClr val="00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dirty="0">
                          <a:effectLst/>
                        </a:rPr>
                        <a:t> </a:t>
                      </a:r>
                      <a:endParaRPr lang="en-IN" sz="900" b="0" i="0" u="none" strike="noStrike" dirty="0">
                        <a:solidFill>
                          <a:srgbClr val="00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dirty="0">
                          <a:effectLst/>
                        </a:rPr>
                        <a:t> </a:t>
                      </a:r>
                      <a:endParaRPr lang="en-IN" sz="900" b="0" i="0" u="none" strike="noStrike" dirty="0">
                        <a:solidFill>
                          <a:srgbClr val="00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dirty="0">
                          <a:effectLst/>
                        </a:rPr>
                        <a:t> </a:t>
                      </a:r>
                      <a:endParaRPr lang="en-IN" sz="900" b="0" i="0" u="none" strike="noStrike" dirty="0">
                        <a:solidFill>
                          <a:srgbClr val="00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4135476"/>
                  </a:ext>
                </a:extLst>
              </a:tr>
              <a:tr h="293480">
                <a:tc vMerge="1">
                  <a:txBody>
                    <a:bodyPr/>
                    <a:lstStyle/>
                    <a:p>
                      <a:endParaRPr/>
                    </a:p>
                  </a:txBody>
                  <a:tcPr marL="1759" marR="1759" marT="1759" marB="0" anchor="b"/>
                </a:tc>
                <a:tc>
                  <a:txBody>
                    <a:bodyPr/>
                    <a:lstStyle/>
                    <a:p>
                      <a:pPr algn="l" fontAlgn="ctr">
                        <a:buNone/>
                      </a:pPr>
                      <a:r>
                        <a:rPr lang="en-IN" sz="900" u="none" strike="noStrike">
                          <a:effectLst/>
                        </a:rPr>
                        <a:t>Zero‑downtime deployment</a:t>
                      </a:r>
                      <a:endParaRPr lang="en-IN" sz="900" b="0" i="0" u="none" strike="noStrike">
                        <a:solidFill>
                          <a:srgbClr val="0000FF"/>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900" b="0" u="none" strike="noStrike" dirty="0">
                          <a:solidFill>
                            <a:srgbClr val="000000"/>
                          </a:solidFill>
                          <a:effectLst/>
                        </a:rPr>
                        <a:t>Yes</a:t>
                      </a:r>
                      <a:endParaRPr lang="en-IN" sz="900" b="0" i="0" u="none" strike="noStrike" dirty="0">
                        <a:solidFill>
                          <a:srgbClr val="00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dirty="0">
                          <a:effectLst/>
                        </a:rPr>
                        <a:t> </a:t>
                      </a:r>
                      <a:endParaRPr lang="en-IN" sz="900" b="0" i="0" u="none" strike="noStrike" dirty="0">
                        <a:solidFill>
                          <a:srgbClr val="00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dirty="0">
                          <a:effectLst/>
                        </a:rPr>
                        <a:t> </a:t>
                      </a:r>
                      <a:endParaRPr lang="en-IN" sz="900" b="0" i="0" u="none" strike="noStrike" dirty="0">
                        <a:solidFill>
                          <a:srgbClr val="00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dirty="0">
                          <a:effectLst/>
                        </a:rPr>
                        <a:t> </a:t>
                      </a:r>
                      <a:endParaRPr lang="en-IN" sz="900" b="0" i="0" u="none" strike="noStrike" dirty="0">
                        <a:solidFill>
                          <a:srgbClr val="00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dirty="0">
                          <a:effectLst/>
                        </a:rPr>
                        <a:t> </a:t>
                      </a:r>
                      <a:endParaRPr lang="en-IN" sz="900" b="0" i="0" u="none" strike="noStrike" dirty="0">
                        <a:solidFill>
                          <a:srgbClr val="00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44536286"/>
                  </a:ext>
                </a:extLst>
              </a:tr>
              <a:tr h="377435">
                <a:tc vMerge="1">
                  <a:txBody>
                    <a:bodyPr/>
                    <a:lstStyle/>
                    <a:p>
                      <a:endParaRPr dirty="0"/>
                    </a:p>
                  </a:txBody>
                  <a:tcPr marL="1759" marR="1759" marT="1759" marB="0" anchor="b"/>
                </a:tc>
                <a:tc>
                  <a:txBody>
                    <a:bodyPr/>
                    <a:lstStyle/>
                    <a:p>
                      <a:pPr algn="l" fontAlgn="ctr">
                        <a:buNone/>
                      </a:pPr>
                      <a:r>
                        <a:rPr lang="en-IN" sz="900" u="none" strike="noStrike">
                          <a:effectLst/>
                        </a:rPr>
                        <a:t>Rollback strategy</a:t>
                      </a:r>
                      <a:endParaRPr lang="en-IN" sz="900" b="0" i="0" u="none" strike="noStrike">
                        <a:solidFill>
                          <a:srgbClr val="0000FF"/>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900" u="none" strike="noStrike" dirty="0">
                          <a:effectLst/>
                        </a:rPr>
                        <a:t>Yes</a:t>
                      </a:r>
                      <a:endParaRPr lang="en-IN" sz="900" b="0" i="0" u="none" strike="noStrike" dirty="0">
                        <a:solidFill>
                          <a:srgbClr val="00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dirty="0">
                          <a:effectLst/>
                        </a:rPr>
                        <a:t> </a:t>
                      </a:r>
                      <a:endParaRPr lang="en-IN" sz="900" b="0" i="0" u="none" strike="noStrike" dirty="0">
                        <a:solidFill>
                          <a:srgbClr val="00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dirty="0">
                          <a:effectLst/>
                        </a:rPr>
                        <a:t> </a:t>
                      </a:r>
                      <a:endParaRPr lang="en-IN" sz="900" b="0" i="0" u="none" strike="noStrike" dirty="0">
                        <a:solidFill>
                          <a:srgbClr val="00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dirty="0">
                          <a:effectLst/>
                        </a:rPr>
                        <a:t> </a:t>
                      </a:r>
                      <a:endParaRPr lang="en-IN" sz="900" b="0" i="0" u="none" strike="noStrike" dirty="0">
                        <a:solidFill>
                          <a:srgbClr val="00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en-IN" sz="900" u="none" strike="noStrike" dirty="0">
                          <a:effectLst/>
                        </a:rPr>
                        <a:t> </a:t>
                      </a:r>
                      <a:endParaRPr lang="en-IN" sz="900" b="0" i="0" u="none" strike="noStrike" dirty="0">
                        <a:solidFill>
                          <a:srgbClr val="00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1244791"/>
                  </a:ext>
                </a:extLst>
              </a:tr>
            </a:tbl>
          </a:graphicData>
        </a:graphic>
      </p:graphicFrame>
    </p:spTree>
    <p:extLst>
      <p:ext uri="{BB962C8B-B14F-4D97-AF65-F5344CB8AC3E}">
        <p14:creationId xmlns:p14="http://schemas.microsoft.com/office/powerpoint/2010/main" val="9660210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8C0B6BF-DFC3-C1E4-014C-6F06B2645984}"/>
              </a:ext>
            </a:extLst>
          </p:cNvPr>
          <p:cNvSpPr>
            <a:spLocks noGrp="1"/>
          </p:cNvSpPr>
          <p:nvPr>
            <p:ph type="sldNum" sz="quarter" idx="12"/>
          </p:nvPr>
        </p:nvSpPr>
        <p:spPr/>
        <p:txBody>
          <a:bodyPr/>
          <a:lstStyle/>
          <a:p>
            <a:fld id="{682A9D49-871F-5640-BCE3-20634A9797B6}" type="slidenum">
              <a:rPr lang="en-US" smtClean="0"/>
              <a:t>21</a:t>
            </a:fld>
            <a:endParaRPr lang="en-US"/>
          </a:p>
        </p:txBody>
      </p:sp>
      <p:graphicFrame>
        <p:nvGraphicFramePr>
          <p:cNvPr id="3" name="Table 2">
            <a:extLst>
              <a:ext uri="{FF2B5EF4-FFF2-40B4-BE49-F238E27FC236}">
                <a16:creationId xmlns:a16="http://schemas.microsoft.com/office/drawing/2014/main" id="{8B2B34C3-C5AD-A062-C2FA-CD6E24F112FE}"/>
              </a:ext>
            </a:extLst>
          </p:cNvPr>
          <p:cNvGraphicFramePr>
            <a:graphicFrameLocks noGrp="1"/>
          </p:cNvGraphicFramePr>
          <p:nvPr>
            <p:extLst>
              <p:ext uri="{D42A27DB-BD31-4B8C-83A1-F6EECF244321}">
                <p14:modId xmlns:p14="http://schemas.microsoft.com/office/powerpoint/2010/main" val="1841584721"/>
              </p:ext>
            </p:extLst>
          </p:nvPr>
        </p:nvGraphicFramePr>
        <p:xfrm>
          <a:off x="433541" y="1146008"/>
          <a:ext cx="11520000" cy="5039994"/>
        </p:xfrm>
        <a:graphic>
          <a:graphicData uri="http://schemas.openxmlformats.org/drawingml/2006/table">
            <a:tbl>
              <a:tblPr firstRow="1">
                <a:tableStyleId>{B301B821-A1FF-4177-AEE7-76D212191A09}</a:tableStyleId>
              </a:tblPr>
              <a:tblGrid>
                <a:gridCol w="1265192">
                  <a:extLst>
                    <a:ext uri="{9D8B030D-6E8A-4147-A177-3AD203B41FA5}">
                      <a16:colId xmlns:a16="http://schemas.microsoft.com/office/drawing/2014/main" val="122384658"/>
                    </a:ext>
                  </a:extLst>
                </a:gridCol>
                <a:gridCol w="3534504">
                  <a:extLst>
                    <a:ext uri="{9D8B030D-6E8A-4147-A177-3AD203B41FA5}">
                      <a16:colId xmlns:a16="http://schemas.microsoft.com/office/drawing/2014/main" val="3090618832"/>
                    </a:ext>
                  </a:extLst>
                </a:gridCol>
                <a:gridCol w="1615720">
                  <a:extLst>
                    <a:ext uri="{9D8B030D-6E8A-4147-A177-3AD203B41FA5}">
                      <a16:colId xmlns:a16="http://schemas.microsoft.com/office/drawing/2014/main" val="727830659"/>
                    </a:ext>
                  </a:extLst>
                </a:gridCol>
                <a:gridCol w="416254">
                  <a:extLst>
                    <a:ext uri="{9D8B030D-6E8A-4147-A177-3AD203B41FA5}">
                      <a16:colId xmlns:a16="http://schemas.microsoft.com/office/drawing/2014/main" val="4176182379"/>
                    </a:ext>
                  </a:extLst>
                </a:gridCol>
                <a:gridCol w="750351">
                  <a:extLst>
                    <a:ext uri="{9D8B030D-6E8A-4147-A177-3AD203B41FA5}">
                      <a16:colId xmlns:a16="http://schemas.microsoft.com/office/drawing/2014/main" val="2303367141"/>
                    </a:ext>
                  </a:extLst>
                </a:gridCol>
                <a:gridCol w="717491">
                  <a:extLst>
                    <a:ext uri="{9D8B030D-6E8A-4147-A177-3AD203B41FA5}">
                      <a16:colId xmlns:a16="http://schemas.microsoft.com/office/drawing/2014/main" val="4101731934"/>
                    </a:ext>
                  </a:extLst>
                </a:gridCol>
                <a:gridCol w="679150">
                  <a:extLst>
                    <a:ext uri="{9D8B030D-6E8A-4147-A177-3AD203B41FA5}">
                      <a16:colId xmlns:a16="http://schemas.microsoft.com/office/drawing/2014/main" val="2599729777"/>
                    </a:ext>
                  </a:extLst>
                </a:gridCol>
                <a:gridCol w="679150">
                  <a:extLst>
                    <a:ext uri="{9D8B030D-6E8A-4147-A177-3AD203B41FA5}">
                      <a16:colId xmlns:a16="http://schemas.microsoft.com/office/drawing/2014/main" val="2239379899"/>
                    </a:ext>
                  </a:extLst>
                </a:gridCol>
                <a:gridCol w="1862188">
                  <a:extLst>
                    <a:ext uri="{9D8B030D-6E8A-4147-A177-3AD203B41FA5}">
                      <a16:colId xmlns:a16="http://schemas.microsoft.com/office/drawing/2014/main" val="3791547468"/>
                    </a:ext>
                  </a:extLst>
                </a:gridCol>
              </a:tblGrid>
              <a:tr h="171842">
                <a:tc>
                  <a:txBody>
                    <a:bodyPr/>
                    <a:lstStyle/>
                    <a:p>
                      <a:pPr algn="ctr" fontAlgn="ctr">
                        <a:buNone/>
                      </a:pPr>
                      <a:r>
                        <a:rPr lang="en-IN" sz="1000" u="none" strike="noStrike" dirty="0">
                          <a:effectLst/>
                        </a:rPr>
                        <a:t>Category</a:t>
                      </a:r>
                      <a:endParaRPr lang="en-IN" sz="1000" b="1" i="0" u="none" strike="noStrike" dirty="0">
                        <a:solidFill>
                          <a:srgbClr val="000000"/>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en-IN" sz="1000" u="none" strike="noStrike" dirty="0">
                          <a:effectLst/>
                        </a:rPr>
                        <a:t>Non-functional requirement</a:t>
                      </a:r>
                      <a:endParaRPr lang="en-IN" sz="1000" b="1" i="0" u="none" strike="noStrike" dirty="0">
                        <a:solidFill>
                          <a:srgbClr val="000000"/>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en-IN" sz="1000" u="none" strike="noStrike" dirty="0">
                          <a:effectLst/>
                        </a:rPr>
                        <a:t>Requirements</a:t>
                      </a:r>
                      <a:endParaRPr lang="en-IN" sz="1000" b="1" i="0" u="none" strike="noStrike" dirty="0">
                        <a:solidFill>
                          <a:srgbClr val="000000"/>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gridSpan="4">
                  <a:txBody>
                    <a:bodyPr/>
                    <a:lstStyle/>
                    <a:p>
                      <a:pPr algn="ctr" fontAlgn="b">
                        <a:buNone/>
                      </a:pPr>
                      <a:r>
                        <a:rPr lang="en-IN" sz="1000" u="none" strike="noStrike" dirty="0">
                          <a:effectLst/>
                        </a:rPr>
                        <a:t>Specifications</a:t>
                      </a:r>
                      <a:endParaRPr lang="en-IN" sz="1000" b="1" i="0" u="none" strike="noStrike" dirty="0">
                        <a:solidFill>
                          <a:srgbClr val="000000"/>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endParaRPr lang="en-US"/>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a:txBody>
                    <a:bodyPr/>
                    <a:lstStyle/>
                    <a:p>
                      <a:pPr algn="ctr" fontAlgn="ctr">
                        <a:buNone/>
                      </a:pPr>
                      <a:r>
                        <a:rPr lang="en-IN" sz="1000" u="none" strike="noStrike" dirty="0">
                          <a:effectLst/>
                        </a:rPr>
                        <a:t>Category</a:t>
                      </a:r>
                      <a:endParaRPr lang="en-IN" sz="1000" b="1" i="0" u="none" strike="noStrike" dirty="0">
                        <a:solidFill>
                          <a:srgbClr val="000000"/>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tcPr>
                </a:tc>
                <a:tc>
                  <a:txBody>
                    <a:bodyPr/>
                    <a:lstStyle/>
                    <a:p>
                      <a:pPr algn="l" fontAlgn="ctr">
                        <a:buNone/>
                      </a:pPr>
                      <a:r>
                        <a:rPr lang="en-IN" sz="1000" u="none" strike="noStrike" dirty="0">
                          <a:effectLst/>
                        </a:rPr>
                        <a:t>Non-functional requirement</a:t>
                      </a:r>
                      <a:endParaRPr lang="en-IN" sz="1000" b="1" i="0" u="none" strike="noStrike" dirty="0">
                        <a:solidFill>
                          <a:srgbClr val="000000"/>
                        </a:solidFill>
                        <a:effectLst/>
                        <a:latin typeface="IBM Plex Sans" panose="020B0503050203000203" pitchFamily="34" charset="0"/>
                      </a:endParaRPr>
                    </a:p>
                  </a:txBody>
                  <a:tcPr marL="1759" marR="1759" marT="1759"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08982915"/>
                  </a:ext>
                </a:extLst>
              </a:tr>
              <a:tr h="345337">
                <a:tc rowSpan="19">
                  <a:txBody>
                    <a:bodyPr/>
                    <a:lstStyle/>
                    <a:p>
                      <a:pPr algn="ctr" fontAlgn="ctr">
                        <a:buNone/>
                      </a:pPr>
                      <a:r>
                        <a:rPr lang="en-IN" sz="1000" b="1" u="none" strike="noStrike" dirty="0">
                          <a:effectLst/>
                          <a:latin typeface="IBM Plex Sans" panose="020B0503050203000203" pitchFamily="34" charset="0"/>
                        </a:rPr>
                        <a:t>Security</a:t>
                      </a:r>
                      <a:r>
                        <a:rPr lang="en-IN" sz="1000" u="none" strike="noStrike" dirty="0">
                          <a:effectLst/>
                          <a:latin typeface="IBM Plex Sans" panose="020B0503050203000203" pitchFamily="34" charset="0"/>
                        </a:rPr>
                        <a:t> </a:t>
                      </a:r>
                    </a:p>
                    <a:p>
                      <a:pPr algn="ctr" fontAlgn="ctr">
                        <a:buNone/>
                      </a:pPr>
                      <a:r>
                        <a:rPr lang="en-IN" sz="1000" u="none" strike="noStrike" dirty="0">
                          <a:effectLst/>
                          <a:latin typeface="IBM Plex Sans" panose="020B0503050203000203" pitchFamily="34" charset="0"/>
                        </a:rPr>
                        <a:t> </a:t>
                      </a:r>
                    </a:p>
                    <a:p>
                      <a:pPr algn="ctr" fontAlgn="ctr">
                        <a:buNone/>
                      </a:pPr>
                      <a:r>
                        <a:rPr lang="en-IN" sz="1000" u="none" strike="noStrike" dirty="0">
                          <a:effectLst/>
                          <a:latin typeface="IBM Plex Sans" panose="020B0503050203000203" pitchFamily="34" charset="0"/>
                        </a:rPr>
                        <a:t> </a:t>
                      </a:r>
                    </a:p>
                    <a:p>
                      <a:pPr algn="ctr" fontAlgn="ctr">
                        <a:buNone/>
                      </a:pPr>
                      <a:r>
                        <a:rPr lang="en-IN" sz="1000" u="none" strike="noStrike" dirty="0">
                          <a:effectLst/>
                          <a:latin typeface="IBM Plex Sans" panose="020B0503050203000203" pitchFamily="34" charset="0"/>
                        </a:rPr>
                        <a:t> </a:t>
                      </a:r>
                    </a:p>
                    <a:p>
                      <a:pPr algn="ctr" fontAlgn="ctr">
                        <a:buNone/>
                      </a:pPr>
                      <a:r>
                        <a:rPr lang="en-IN" sz="1000" u="none" strike="noStrike" dirty="0">
                          <a:effectLst/>
                          <a:latin typeface="IBM Plex Sans" panose="020B0503050203000203" pitchFamily="34" charset="0"/>
                        </a:rPr>
                        <a:t> </a:t>
                      </a:r>
                    </a:p>
                    <a:p>
                      <a:pPr algn="ctr" fontAlgn="ctr">
                        <a:buNone/>
                      </a:pPr>
                      <a:r>
                        <a:rPr lang="en-IN" sz="1000" u="none" strike="noStrike" dirty="0">
                          <a:effectLst/>
                          <a:latin typeface="IBM Plex Sans" panose="020B0503050203000203" pitchFamily="34" charset="0"/>
                        </a:rPr>
                        <a:t> </a:t>
                      </a:r>
                    </a:p>
                    <a:p>
                      <a:pPr algn="ctr" fontAlgn="ctr">
                        <a:buNone/>
                      </a:pPr>
                      <a:r>
                        <a:rPr lang="en-IN" sz="1000" u="none" strike="noStrike" dirty="0">
                          <a:effectLst/>
                          <a:latin typeface="IBM Plex Sans" panose="020B0503050203000203" pitchFamily="34" charset="0"/>
                        </a:rPr>
                        <a:t> </a:t>
                      </a:r>
                    </a:p>
                    <a:p>
                      <a:pPr algn="ctr" fontAlgn="ctr">
                        <a:buNone/>
                      </a:pPr>
                      <a:r>
                        <a:rPr lang="en-IN" sz="1000" u="none" strike="noStrike" dirty="0">
                          <a:effectLst/>
                          <a:latin typeface="IBM Plex Sans" panose="020B0503050203000203" pitchFamily="34" charset="0"/>
                        </a:rPr>
                        <a:t> </a:t>
                      </a:r>
                    </a:p>
                    <a:p>
                      <a:pPr algn="ctr" fontAlgn="ctr">
                        <a:buNone/>
                      </a:pPr>
                      <a:r>
                        <a:rPr lang="en-IN" sz="1000" u="none" strike="noStrike" dirty="0">
                          <a:effectLst/>
                          <a:latin typeface="IBM Plex Sans" panose="020B0503050203000203" pitchFamily="34" charset="0"/>
                        </a:rPr>
                        <a:t> </a:t>
                      </a:r>
                    </a:p>
                    <a:p>
                      <a:pPr algn="ctr" fontAlgn="ctr">
                        <a:buNone/>
                      </a:pPr>
                      <a:r>
                        <a:rPr lang="en-IN" sz="1000" u="none" strike="noStrike" dirty="0">
                          <a:effectLst/>
                          <a:latin typeface="IBM Plex Sans" panose="020B0503050203000203" pitchFamily="34" charset="0"/>
                        </a:rPr>
                        <a:t> </a:t>
                      </a:r>
                    </a:p>
                    <a:p>
                      <a:pPr algn="ctr" fontAlgn="ctr">
                        <a:buNone/>
                      </a:pPr>
                      <a:r>
                        <a:rPr lang="en-IN" sz="1000" u="none" strike="noStrike" dirty="0">
                          <a:effectLst/>
                          <a:latin typeface="IBM Plex Sans" panose="020B0503050203000203" pitchFamily="34" charset="0"/>
                        </a:rPr>
                        <a:t> </a:t>
                      </a:r>
                    </a:p>
                    <a:p>
                      <a:pPr algn="ctr" fontAlgn="ctr">
                        <a:buNone/>
                      </a:pPr>
                      <a:r>
                        <a:rPr lang="en-IN" sz="1000" u="none" strike="noStrike" dirty="0">
                          <a:effectLst/>
                          <a:latin typeface="IBM Plex Sans" panose="020B0503050203000203" pitchFamily="34" charset="0"/>
                        </a:rPr>
                        <a:t> </a:t>
                      </a:r>
                    </a:p>
                    <a:p>
                      <a:pPr algn="ctr" fontAlgn="ctr">
                        <a:buNone/>
                      </a:pPr>
                      <a:r>
                        <a:rPr lang="en-IN" sz="1000" u="none" strike="noStrike" dirty="0">
                          <a:effectLst/>
                          <a:latin typeface="IBM Plex Sans" panose="020B0503050203000203" pitchFamily="34" charset="0"/>
                        </a:rPr>
                        <a:t> </a:t>
                      </a:r>
                    </a:p>
                    <a:p>
                      <a:pPr algn="ctr" fontAlgn="ctr">
                        <a:buNone/>
                      </a:pPr>
                      <a:r>
                        <a:rPr lang="en-IN" sz="1000" u="none" strike="noStrike" dirty="0">
                          <a:effectLst/>
                          <a:latin typeface="IBM Plex Sans" panose="020B0503050203000203" pitchFamily="34" charset="0"/>
                        </a:rPr>
                        <a:t> </a:t>
                      </a:r>
                    </a:p>
                    <a:p>
                      <a:pPr algn="ctr" fontAlgn="ctr">
                        <a:buNone/>
                      </a:pPr>
                      <a:r>
                        <a:rPr lang="en-IN" sz="1000" u="none" strike="noStrike" dirty="0">
                          <a:effectLst/>
                          <a:latin typeface="IBM Plex Sans" panose="020B0503050203000203" pitchFamily="34" charset="0"/>
                        </a:rPr>
                        <a:t> </a:t>
                      </a:r>
                    </a:p>
                    <a:p>
                      <a:pPr algn="ctr" fontAlgn="ctr">
                        <a:buNone/>
                      </a:pPr>
                      <a:r>
                        <a:rPr lang="en-IN" sz="1000" u="none" strike="noStrike" dirty="0">
                          <a:effectLst/>
                          <a:latin typeface="IBM Plex Sans" panose="020B0503050203000203" pitchFamily="34" charset="0"/>
                        </a:rPr>
                        <a:t> </a:t>
                      </a:r>
                    </a:p>
                    <a:p>
                      <a:pPr algn="ctr" fontAlgn="ctr">
                        <a:buNone/>
                      </a:pPr>
                      <a:r>
                        <a:rPr lang="en-IN" sz="1000" u="none" strike="noStrike" dirty="0">
                          <a:effectLst/>
                          <a:latin typeface="IBM Plex Sans" panose="020B0503050203000203" pitchFamily="34" charset="0"/>
                        </a:rPr>
                        <a:t> </a:t>
                      </a:r>
                    </a:p>
                    <a:p>
                      <a:pPr algn="ctr" fontAlgn="ctr">
                        <a:buNone/>
                      </a:pPr>
                      <a:r>
                        <a:rPr lang="en-IN" sz="1000" u="none" strike="noStrike" dirty="0">
                          <a:effectLst/>
                          <a:latin typeface="IBM Plex Sans" panose="020B0503050203000203" pitchFamily="34" charset="0"/>
                        </a:rPr>
                        <a:t> </a:t>
                      </a:r>
                    </a:p>
                    <a:p>
                      <a:pPr algn="ctr" fontAlgn="ctr">
                        <a:buNone/>
                      </a:pPr>
                      <a:r>
                        <a:rPr lang="en-IN" sz="1000" u="none" strike="noStrike" dirty="0">
                          <a:effectLst/>
                          <a:latin typeface="IBM Plex Sans" panose="020B0503050203000203" pitchFamily="34" charset="0"/>
                        </a:rPr>
                        <a:t> </a:t>
                      </a:r>
                      <a:endParaRPr lang="en-IN" sz="1000" b="1" i="0" u="none" strike="noStrike" dirty="0">
                        <a:solidFill>
                          <a:srgbClr val="000000"/>
                        </a:solidFill>
                        <a:effectLst/>
                        <a:latin typeface="IBM Plex Sans" panose="020B0503050203000203" pitchFamily="34" charset="0"/>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en-IN" sz="1000" u="none" strike="noStrike">
                          <a:effectLst/>
                          <a:latin typeface="IBM Plex Sans" panose="020B0503050203000203" pitchFamily="34" charset="0"/>
                        </a:rPr>
                        <a:t>Database encryption needed specify the tables, fields etc.</a:t>
                      </a:r>
                      <a:endParaRPr lang="en-IN" sz="1000" b="0" i="0" u="none" strike="noStrike">
                        <a:solidFill>
                          <a:srgbClr val="000000"/>
                        </a:solidFill>
                        <a:effectLst/>
                        <a:latin typeface="IBM Plex Sans" panose="020B0503050203000203" pitchFamily="34" charset="0"/>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Encrypted at Rest and Transit</a:t>
                      </a:r>
                      <a:endParaRPr lang="en-IN" sz="1000" b="0"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dirty="0">
                          <a:effectLst/>
                          <a:latin typeface="IBM Plex Sans" panose="020B0503050203000203" pitchFamily="34" charset="0"/>
                        </a:rPr>
                        <a:t> </a:t>
                      </a:r>
                      <a:endParaRPr lang="en-IN" sz="1000" b="0" i="0" u="none" strike="noStrike" dirty="0">
                        <a:solidFill>
                          <a:srgbClr val="000000"/>
                        </a:solidFill>
                        <a:effectLst/>
                        <a:latin typeface="IBM Plex Sans" panose="020B0503050203000203" pitchFamily="34" charset="0"/>
                      </a:endParaRPr>
                    </a:p>
                  </a:txBody>
                  <a:tcPr marL="5001" marR="5001" marT="5001"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dirty="0">
                          <a:effectLst/>
                          <a:latin typeface="IBM Plex Sans" panose="020B0503050203000203" pitchFamily="34" charset="0"/>
                        </a:rPr>
                        <a:t> </a:t>
                      </a:r>
                      <a:endParaRPr lang="en-IN" sz="1000" b="0" i="0" u="none" strike="noStrike" dirty="0">
                        <a:solidFill>
                          <a:srgbClr val="000000"/>
                        </a:solidFill>
                        <a:effectLst/>
                        <a:latin typeface="IBM Plex Sans" panose="020B0503050203000203" pitchFamily="34" charset="0"/>
                      </a:endParaRPr>
                    </a:p>
                  </a:txBody>
                  <a:tcPr marL="5001" marR="5001" marT="5001"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dirty="0">
                          <a:effectLst/>
                          <a:latin typeface="IBM Plex Sans" panose="020B0503050203000203" pitchFamily="34" charset="0"/>
                        </a:rPr>
                        <a:t> </a:t>
                      </a:r>
                      <a:endParaRPr lang="en-IN" sz="1000" b="0" i="0" u="none" strike="noStrike" dirty="0">
                        <a:solidFill>
                          <a:srgbClr val="000000"/>
                        </a:solidFill>
                        <a:effectLst/>
                        <a:latin typeface="IBM Plex Sans" panose="020B0503050203000203" pitchFamily="34" charset="0"/>
                      </a:endParaRPr>
                    </a:p>
                  </a:txBody>
                  <a:tcPr marL="5001" marR="5001" marT="5001"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dirty="0">
                          <a:effectLst/>
                          <a:latin typeface="IBM Plex Sans" panose="020B0503050203000203" pitchFamily="34" charset="0"/>
                        </a:rPr>
                        <a:t> </a:t>
                      </a:r>
                      <a:endParaRPr lang="en-IN" sz="1000" b="0" i="0" u="none" strike="noStrike" dirty="0">
                        <a:solidFill>
                          <a:srgbClr val="000000"/>
                        </a:solidFill>
                        <a:effectLst/>
                        <a:latin typeface="IBM Plex Sans" panose="020B0503050203000203" pitchFamily="34" charset="0"/>
                      </a:endParaRPr>
                    </a:p>
                  </a:txBody>
                  <a:tcPr marL="5001" marR="5001" marT="5001"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25742358"/>
                  </a:ext>
                </a:extLst>
              </a:tr>
              <a:tr h="175455">
                <a:tc vMerge="1">
                  <a:txBody>
                    <a:bodyPr/>
                    <a:lstStyle/>
                    <a:p>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en-IN" sz="1000" u="none" strike="noStrike">
                          <a:effectLst/>
                          <a:latin typeface="IBM Plex Sans" panose="020B0503050203000203" pitchFamily="34" charset="0"/>
                        </a:rPr>
                        <a:t>Anonymize PII in backups &amp; analytics datasets</a:t>
                      </a:r>
                      <a:endParaRPr lang="en-IN" sz="1000" b="0" i="0" u="none" strike="noStrike">
                        <a:solidFill>
                          <a:srgbClr val="000000"/>
                        </a:solidFill>
                        <a:effectLst/>
                        <a:latin typeface="IBM Plex Sans" panose="020B0503050203000203" pitchFamily="34" charset="0"/>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yes</a:t>
                      </a:r>
                      <a:endParaRPr lang="en-IN" sz="1000" b="0"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32282086"/>
                  </a:ext>
                </a:extLst>
              </a:tr>
              <a:tr h="175455">
                <a:tc vMerge="1">
                  <a:txBody>
                    <a:bodyPr/>
                    <a:lstStyle/>
                    <a:p>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en-IN" sz="1000" u="none" strike="noStrike">
                          <a:effectLst/>
                          <a:latin typeface="IBM Plex Sans" panose="020B0503050203000203" pitchFamily="34" charset="0"/>
                        </a:rPr>
                        <a:t>Encryption mechanism to be used in Application</a:t>
                      </a:r>
                      <a:endParaRPr lang="en-IN" sz="1000" b="0" i="0" u="none" strike="noStrike">
                        <a:solidFill>
                          <a:srgbClr val="000000"/>
                        </a:solidFill>
                        <a:effectLst/>
                        <a:latin typeface="IBM Plex Sans" panose="020B0503050203000203" pitchFamily="34" charset="0"/>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Specify</a:t>
                      </a:r>
                      <a:endParaRPr lang="en-IN" sz="1000" b="0"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4891011"/>
                  </a:ext>
                </a:extLst>
              </a:tr>
              <a:tr h="345337">
                <a:tc vMerge="1">
                  <a:txBody>
                    <a:bodyPr/>
                    <a:lstStyle/>
                    <a:p>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en-IN" sz="1000" u="none" strike="noStrike">
                          <a:effectLst/>
                          <a:latin typeface="IBM Plex Sans" panose="020B0503050203000203" pitchFamily="34" charset="0"/>
                        </a:rPr>
                        <a:t>Communication between App, DB or other internal server needs to be controlled?</a:t>
                      </a:r>
                      <a:endParaRPr lang="en-IN" sz="1000" b="0" i="0" u="none" strike="noStrike">
                        <a:solidFill>
                          <a:srgbClr val="000000"/>
                        </a:solidFill>
                        <a:effectLst/>
                        <a:latin typeface="IBM Plex Sans" panose="020B0503050203000203" pitchFamily="34" charset="0"/>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yes</a:t>
                      </a:r>
                      <a:endParaRPr lang="en-IN" sz="1000" b="0"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4356638"/>
                  </a:ext>
                </a:extLst>
              </a:tr>
              <a:tr h="345337">
                <a:tc vMerge="1">
                  <a:txBody>
                    <a:bodyPr/>
                    <a:lstStyle/>
                    <a:p>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en-IN" sz="1000" u="none" strike="noStrike">
                          <a:effectLst/>
                          <a:latin typeface="IBM Plex Sans" panose="020B0503050203000203" pitchFamily="34" charset="0"/>
                        </a:rPr>
                        <a:t>Communication with external systems needs to be controlled?</a:t>
                      </a:r>
                      <a:endParaRPr lang="en-IN" sz="1000" b="0" i="0" u="none" strike="noStrike">
                        <a:solidFill>
                          <a:srgbClr val="000000"/>
                        </a:solidFill>
                        <a:effectLst/>
                        <a:latin typeface="IBM Plex Sans" panose="020B0503050203000203" pitchFamily="34" charset="0"/>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yes</a:t>
                      </a:r>
                      <a:endParaRPr lang="en-IN" sz="1000" b="0"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5114386"/>
                  </a:ext>
                </a:extLst>
              </a:tr>
              <a:tr h="175455">
                <a:tc vMerge="1">
                  <a:txBody>
                    <a:bodyPr/>
                    <a:lstStyle/>
                    <a:p>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en-IN" sz="1000" u="none" strike="noStrike" dirty="0">
                          <a:effectLst/>
                          <a:latin typeface="IBM Plex Sans" panose="020B0503050203000203" pitchFamily="34" charset="0"/>
                        </a:rPr>
                        <a:t>Communication protocol for external system integration</a:t>
                      </a:r>
                      <a:endParaRPr lang="en-IN" sz="1000" b="0" i="0" u="none" strike="noStrike" dirty="0">
                        <a:solidFill>
                          <a:srgbClr val="000000"/>
                        </a:solidFill>
                        <a:effectLst/>
                        <a:latin typeface="IBM Plex Sans" panose="020B0503050203000203" pitchFamily="34" charset="0"/>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REST</a:t>
                      </a:r>
                      <a:endParaRPr lang="en-IN" sz="1000" b="0"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79697717"/>
                  </a:ext>
                </a:extLst>
              </a:tr>
              <a:tr h="345337">
                <a:tc vMerge="1">
                  <a:txBody>
                    <a:bodyPr/>
                    <a:lstStyle/>
                    <a:p>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en-IN" sz="1000" u="none" strike="noStrike">
                          <a:effectLst/>
                          <a:latin typeface="IBM Plex Sans" panose="020B0503050203000203" pitchFamily="34" charset="0"/>
                        </a:rPr>
                        <a:t>Authentication mechanism for external system integration</a:t>
                      </a:r>
                      <a:endParaRPr lang="en-IN" sz="1000" b="0" i="0" u="none" strike="noStrike">
                        <a:solidFill>
                          <a:srgbClr val="000000"/>
                        </a:solidFill>
                        <a:effectLst/>
                        <a:latin typeface="IBM Plex Sans" panose="020B0503050203000203" pitchFamily="34" charset="0"/>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OAuth2</a:t>
                      </a:r>
                      <a:endParaRPr lang="en-IN" sz="1000" b="0"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17859"/>
                  </a:ext>
                </a:extLst>
              </a:tr>
              <a:tr h="175455">
                <a:tc vMerge="1">
                  <a:txBody>
                    <a:bodyPr/>
                    <a:lstStyle/>
                    <a:p>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en-IN" sz="1000" u="none" strike="noStrike">
                          <a:effectLst/>
                          <a:latin typeface="IBM Plex Sans" panose="020B0503050203000203" pitchFamily="34" charset="0"/>
                        </a:rPr>
                        <a:t>SSL required for external APIs?</a:t>
                      </a:r>
                      <a:endParaRPr lang="en-IN" sz="1000" b="0" i="0" u="none" strike="noStrike">
                        <a:solidFill>
                          <a:srgbClr val="000000"/>
                        </a:solidFill>
                        <a:effectLst/>
                        <a:latin typeface="IBM Plex Sans" panose="020B0503050203000203" pitchFamily="34" charset="0"/>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Yes</a:t>
                      </a:r>
                      <a:endParaRPr lang="en-IN" sz="1000" b="0"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2503848"/>
                  </a:ext>
                </a:extLst>
              </a:tr>
              <a:tr h="345337">
                <a:tc vMerge="1">
                  <a:txBody>
                    <a:bodyPr/>
                    <a:lstStyle/>
                    <a:p>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en-IN" sz="1000" u="none" strike="noStrike">
                          <a:effectLst/>
                          <a:latin typeface="IBM Plex Sans" panose="020B0503050203000203" pitchFamily="34" charset="0"/>
                        </a:rPr>
                        <a:t>User is not allowed to access any url directly without login</a:t>
                      </a:r>
                      <a:endParaRPr lang="en-IN" sz="1000" b="0" i="0" u="none" strike="noStrike">
                        <a:solidFill>
                          <a:srgbClr val="000000"/>
                        </a:solidFill>
                        <a:effectLst/>
                        <a:latin typeface="IBM Plex Sans" panose="020B0503050203000203" pitchFamily="34" charset="0"/>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Yes</a:t>
                      </a:r>
                      <a:endParaRPr lang="en-IN" sz="1000" b="0"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89777082"/>
                  </a:ext>
                </a:extLst>
              </a:tr>
              <a:tr h="175455">
                <a:tc vMerge="1">
                  <a:txBody>
                    <a:bodyPr/>
                    <a:lstStyle/>
                    <a:p>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en-IN" sz="1000" u="none" strike="noStrike">
                          <a:effectLst/>
                          <a:latin typeface="IBM Plex Sans" panose="020B0503050203000203" pitchFamily="34" charset="0"/>
                        </a:rPr>
                        <a:t>Security threats like SQL injection</a:t>
                      </a:r>
                      <a:endParaRPr lang="en-IN" sz="1000" b="0" i="0" u="none" strike="noStrike">
                        <a:solidFill>
                          <a:srgbClr val="000000"/>
                        </a:solidFill>
                        <a:effectLst/>
                        <a:latin typeface="IBM Plex Sans" panose="020B0503050203000203" pitchFamily="34" charset="0"/>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Yes</a:t>
                      </a:r>
                      <a:endParaRPr lang="en-IN" sz="1000" b="0"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4252626"/>
                  </a:ext>
                </a:extLst>
              </a:tr>
              <a:tr h="175455">
                <a:tc vMerge="1">
                  <a:txBody>
                    <a:bodyPr/>
                    <a:lstStyle/>
                    <a:p>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en-IN" sz="1000" u="none" strike="noStrike">
                          <a:effectLst/>
                          <a:latin typeface="IBM Plex Sans" panose="020B0503050203000203" pitchFamily="34" charset="0"/>
                        </a:rPr>
                        <a:t>Security acceptance criteria like HCL AppScan</a:t>
                      </a:r>
                      <a:endParaRPr lang="en-IN" sz="1000" b="0" i="0" u="none" strike="noStrike">
                        <a:solidFill>
                          <a:srgbClr val="000000"/>
                        </a:solidFill>
                        <a:effectLst/>
                        <a:latin typeface="IBM Plex Sans" panose="020B0503050203000203" pitchFamily="34" charset="0"/>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0032682"/>
                  </a:ext>
                </a:extLst>
              </a:tr>
              <a:tr h="175455">
                <a:tc vMerge="1">
                  <a:txBody>
                    <a:bodyPr/>
                    <a:lstStyle/>
                    <a:p>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en-IN" sz="1000" u="none" strike="noStrike">
                          <a:effectLst/>
                          <a:latin typeface="IBM Plex Sans" panose="020B0503050203000203" pitchFamily="34" charset="0"/>
                        </a:rPr>
                        <a:t>Role‑based access control (RBAC)</a:t>
                      </a:r>
                      <a:endParaRPr lang="en-IN" sz="1000" b="0" i="0" u="none" strike="noStrike">
                        <a:solidFill>
                          <a:srgbClr val="000000"/>
                        </a:solidFill>
                        <a:effectLst/>
                        <a:latin typeface="IBM Plex Sans" panose="020B0503050203000203" pitchFamily="34" charset="0"/>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Yes</a:t>
                      </a:r>
                      <a:endParaRPr lang="en-IN" sz="1000" b="0"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56654983"/>
                  </a:ext>
                </a:extLst>
              </a:tr>
              <a:tr h="175455">
                <a:tc vMerge="1">
                  <a:txBody>
                    <a:bodyPr/>
                    <a:lstStyle/>
                    <a:p>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en-IN" sz="1000" u="none" strike="noStrike">
                          <a:effectLst/>
                          <a:latin typeface="IBM Plex Sans" panose="020B0503050203000203" pitchFamily="34" charset="0"/>
                        </a:rPr>
                        <a:t>Maker–checker approval workflows</a:t>
                      </a:r>
                      <a:endParaRPr lang="en-IN" sz="1000" b="0" i="0" u="none" strike="noStrike">
                        <a:solidFill>
                          <a:srgbClr val="000000"/>
                        </a:solidFill>
                        <a:effectLst/>
                        <a:latin typeface="IBM Plex Sans" panose="020B0503050203000203" pitchFamily="34" charset="0"/>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Yes</a:t>
                      </a:r>
                      <a:endParaRPr lang="en-IN" sz="1000" b="0"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 </a:t>
                      </a:r>
                      <a:endParaRPr lang="en-IN" sz="1000" b="1"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 </a:t>
                      </a:r>
                      <a:endParaRPr lang="en-IN" sz="1000" b="1"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 </a:t>
                      </a:r>
                      <a:endParaRPr lang="en-IN" sz="1000" b="1"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 </a:t>
                      </a:r>
                      <a:endParaRPr lang="en-IN" sz="1000" b="1"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57178564"/>
                  </a:ext>
                </a:extLst>
              </a:tr>
              <a:tr h="175455">
                <a:tc vMerge="1">
                  <a:txBody>
                    <a:bodyPr/>
                    <a:lstStyle/>
                    <a:p>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en-IN" sz="1000" u="none" strike="noStrike">
                          <a:effectLst/>
                          <a:latin typeface="IBM Plex Sans" panose="020B0503050203000203" pitchFamily="34" charset="0"/>
                        </a:rPr>
                        <a:t>IP whitelisting enabled</a:t>
                      </a:r>
                      <a:endParaRPr lang="en-IN" sz="1000" b="0" i="0" u="none" strike="noStrike">
                        <a:solidFill>
                          <a:srgbClr val="000000"/>
                        </a:solidFill>
                        <a:effectLst/>
                        <a:latin typeface="IBM Plex Sans" panose="020B0503050203000203" pitchFamily="34" charset="0"/>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Yes</a:t>
                      </a:r>
                      <a:endParaRPr lang="en-IN" sz="1000" b="0"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142561"/>
                  </a:ext>
                </a:extLst>
              </a:tr>
              <a:tr h="175455">
                <a:tc vMerge="1">
                  <a:txBody>
                    <a:bodyPr/>
                    <a:lstStyle/>
                    <a:p>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en-IN" sz="1000" u="none" strike="noStrike">
                          <a:effectLst/>
                          <a:latin typeface="IBM Plex Sans" panose="020B0503050203000203" pitchFamily="34" charset="0"/>
                        </a:rPr>
                        <a:t>HMAC signing for internal APIs</a:t>
                      </a:r>
                      <a:endParaRPr lang="en-IN" sz="1000" b="0" i="0" u="none" strike="noStrike">
                        <a:solidFill>
                          <a:srgbClr val="000000"/>
                        </a:solidFill>
                        <a:effectLst/>
                        <a:latin typeface="IBM Plex Sans" panose="020B0503050203000203" pitchFamily="34" charset="0"/>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Yes</a:t>
                      </a:r>
                      <a:endParaRPr lang="en-IN" sz="1000" b="0"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7835980"/>
                  </a:ext>
                </a:extLst>
              </a:tr>
              <a:tr h="175455">
                <a:tc vMerge="1">
                  <a:txBody>
                    <a:bodyPr/>
                    <a:lstStyle/>
                    <a:p>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en-IN" sz="1000" u="none" strike="noStrike">
                          <a:effectLst/>
                          <a:latin typeface="IBM Plex Sans" panose="020B0503050203000203" pitchFamily="34" charset="0"/>
                        </a:rPr>
                        <a:t>MTLS for high-security endpoints</a:t>
                      </a:r>
                      <a:endParaRPr lang="en-IN" sz="1000" b="0" i="0" u="none" strike="noStrike">
                        <a:solidFill>
                          <a:srgbClr val="000000"/>
                        </a:solidFill>
                        <a:effectLst/>
                        <a:latin typeface="IBM Plex Sans" panose="020B0503050203000203" pitchFamily="34" charset="0"/>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Yes</a:t>
                      </a:r>
                      <a:endParaRPr lang="en-IN" sz="1000" b="0"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 </a:t>
                      </a:r>
                      <a:endParaRPr lang="en-IN" sz="1000" b="1"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 </a:t>
                      </a:r>
                      <a:endParaRPr lang="en-IN" sz="1000" b="1"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 </a:t>
                      </a:r>
                      <a:endParaRPr lang="en-IN" sz="1000" b="1"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 </a:t>
                      </a:r>
                      <a:endParaRPr lang="en-IN" sz="1000" b="1"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36412518"/>
                  </a:ext>
                </a:extLst>
              </a:tr>
              <a:tr h="175455">
                <a:tc vMerge="1">
                  <a:txBody>
                    <a:bodyPr/>
                    <a:lstStyle/>
                    <a:p>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en-IN" sz="1000" u="none" strike="noStrike">
                          <a:effectLst/>
                          <a:latin typeface="IBM Plex Sans" panose="020B0503050203000203" pitchFamily="34" charset="0"/>
                        </a:rPr>
                        <a:t>Data masking in non‑prod environments</a:t>
                      </a:r>
                      <a:endParaRPr lang="en-IN" sz="1000" b="0" i="0" u="none" strike="noStrike">
                        <a:solidFill>
                          <a:srgbClr val="000000"/>
                        </a:solidFill>
                        <a:effectLst/>
                        <a:latin typeface="IBM Plex Sans" panose="020B0503050203000203" pitchFamily="34" charset="0"/>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Yes</a:t>
                      </a:r>
                      <a:endParaRPr lang="en-IN" sz="1000" b="0"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 </a:t>
                      </a:r>
                      <a:endParaRPr lang="en-IN" sz="1000" b="1"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 </a:t>
                      </a:r>
                      <a:endParaRPr lang="en-IN" sz="1000" b="1"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 </a:t>
                      </a:r>
                      <a:endParaRPr lang="en-IN" sz="1000" b="1"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 </a:t>
                      </a:r>
                      <a:endParaRPr lang="en-IN" sz="1000" b="1"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24148047"/>
                  </a:ext>
                </a:extLst>
              </a:tr>
              <a:tr h="175455">
                <a:tc vMerge="1">
                  <a:txBody>
                    <a:bodyPr/>
                    <a:lstStyle/>
                    <a:p>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en-IN" sz="1000" u="none" strike="noStrike">
                          <a:effectLst/>
                          <a:latin typeface="IBM Plex Sans" panose="020B0503050203000203" pitchFamily="34" charset="0"/>
                        </a:rPr>
                        <a:t>Session timeout &amp; idle logout</a:t>
                      </a:r>
                      <a:endParaRPr lang="en-IN" sz="1000" b="0" i="0" u="none" strike="noStrike">
                        <a:solidFill>
                          <a:srgbClr val="000000"/>
                        </a:solidFill>
                        <a:effectLst/>
                        <a:latin typeface="IBM Plex Sans" panose="020B0503050203000203" pitchFamily="34" charset="0"/>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5 min</a:t>
                      </a:r>
                      <a:endParaRPr lang="en-IN" sz="1000" b="0"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91291036"/>
                  </a:ext>
                </a:extLst>
              </a:tr>
              <a:tr h="175455">
                <a:tc vMerge="1">
                  <a:txBody>
                    <a:bodyPr/>
                    <a:lstStyle/>
                    <a:p>
                      <a:endParaRPr dirty="0"/>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en-IN" sz="1000" u="none" strike="noStrike">
                          <a:effectLst/>
                          <a:latin typeface="IBM Plex Sans" panose="020B0503050203000203" pitchFamily="34" charset="0"/>
                        </a:rPr>
                        <a:t>Secure key management (HSM / Vault)</a:t>
                      </a:r>
                      <a:endParaRPr lang="en-IN" sz="1000" b="0" i="0" u="none" strike="noStrike">
                        <a:solidFill>
                          <a:srgbClr val="000000"/>
                        </a:solidFill>
                        <a:effectLst/>
                        <a:latin typeface="IBM Plex Sans" panose="020B0503050203000203" pitchFamily="34" charset="0"/>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 </a:t>
                      </a:r>
                      <a:endParaRPr lang="en-IN" sz="1000" b="1"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 </a:t>
                      </a:r>
                      <a:endParaRPr lang="en-IN" sz="1000" b="1"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 </a:t>
                      </a:r>
                      <a:endParaRPr lang="en-IN" sz="1000" b="1"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 </a:t>
                      </a:r>
                      <a:endParaRPr lang="en-IN" sz="1000" b="1"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13198003"/>
                  </a:ext>
                </a:extLst>
              </a:tr>
              <a:tr h="175455">
                <a:tc rowSpan="3">
                  <a:txBody>
                    <a:bodyPr/>
                    <a:lstStyle/>
                    <a:p>
                      <a:pPr algn="ctr" fontAlgn="ctr">
                        <a:buNone/>
                      </a:pPr>
                      <a:r>
                        <a:rPr lang="en-IN" sz="1000" b="1" u="none" strike="noStrike" dirty="0">
                          <a:effectLst/>
                          <a:latin typeface="IBM Plex Sans" panose="020B0503050203000203" pitchFamily="34" charset="0"/>
                        </a:rPr>
                        <a:t>Token Expiry &amp; Session limits</a:t>
                      </a:r>
                    </a:p>
                    <a:p>
                      <a:pPr algn="ctr" fontAlgn="ctr">
                        <a:buNone/>
                      </a:pPr>
                      <a:r>
                        <a:rPr lang="en-IN" sz="1000" u="none" strike="noStrike" dirty="0">
                          <a:effectLst/>
                          <a:latin typeface="IBM Plex Sans" panose="020B0503050203000203" pitchFamily="34" charset="0"/>
                        </a:rPr>
                        <a:t> </a:t>
                      </a:r>
                    </a:p>
                    <a:p>
                      <a:pPr algn="ctr" fontAlgn="ctr">
                        <a:buNone/>
                      </a:pPr>
                      <a:r>
                        <a:rPr lang="en-IN" sz="1000" u="none" strike="noStrike" dirty="0">
                          <a:effectLst/>
                          <a:latin typeface="IBM Plex Sans" panose="020B0503050203000203" pitchFamily="34" charset="0"/>
                        </a:rPr>
                        <a:t> </a:t>
                      </a:r>
                      <a:endParaRPr lang="en-IN" sz="1000" b="1" i="0" u="none" strike="noStrike" dirty="0">
                        <a:solidFill>
                          <a:srgbClr val="000000"/>
                        </a:solidFill>
                        <a:effectLst/>
                        <a:latin typeface="IBM Plex Sans" panose="020B0503050203000203" pitchFamily="34" charset="0"/>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en-IN" sz="1000" u="none" strike="noStrike">
                          <a:effectLst/>
                          <a:latin typeface="IBM Plex Sans" panose="020B0503050203000203" pitchFamily="34" charset="0"/>
                        </a:rPr>
                        <a:t>JWT Expiry : 15 min</a:t>
                      </a:r>
                      <a:endParaRPr lang="en-IN" sz="1000" b="0" i="0" u="none" strike="noStrike">
                        <a:solidFill>
                          <a:srgbClr val="000000"/>
                        </a:solidFill>
                        <a:effectLst/>
                        <a:latin typeface="IBM Plex Sans" panose="020B0503050203000203" pitchFamily="34" charset="0"/>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 </a:t>
                      </a:r>
                      <a:endParaRPr lang="en-IN" sz="1000" b="1"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 </a:t>
                      </a:r>
                      <a:endParaRPr lang="en-IN" sz="1000" b="1"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 </a:t>
                      </a:r>
                      <a:endParaRPr lang="en-IN" sz="1000" b="1"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 </a:t>
                      </a:r>
                      <a:endParaRPr lang="en-IN" sz="1000" b="1"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0592269"/>
                  </a:ext>
                </a:extLst>
              </a:tr>
              <a:tr h="175455">
                <a:tc vMerge="1">
                  <a:txBody>
                    <a:bodyPr/>
                    <a:lstStyle/>
                    <a:p>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en-IN" sz="1000" u="none" strike="noStrike">
                          <a:effectLst/>
                          <a:latin typeface="IBM Plex Sans" panose="020B0503050203000203" pitchFamily="34" charset="0"/>
                        </a:rPr>
                        <a:t>Idle timeout : 5 min</a:t>
                      </a:r>
                      <a:endParaRPr lang="en-IN" sz="1000" b="0" i="0" u="none" strike="noStrike">
                        <a:solidFill>
                          <a:srgbClr val="000000"/>
                        </a:solidFill>
                        <a:effectLst/>
                        <a:latin typeface="IBM Plex Sans" panose="020B0503050203000203" pitchFamily="34" charset="0"/>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23963543"/>
                  </a:ext>
                </a:extLst>
              </a:tr>
              <a:tr h="334187">
                <a:tc vMerge="1">
                  <a:txBody>
                    <a:bodyPr/>
                    <a:lstStyle/>
                    <a:p>
                      <a:endParaRPr dirty="0"/>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en-IN" sz="1000" u="none" strike="noStrike">
                          <a:effectLst/>
                          <a:latin typeface="IBM Plex Sans" panose="020B0503050203000203" pitchFamily="34" charset="0"/>
                        </a:rPr>
                        <a:t>Absolute timeout : 8 hours</a:t>
                      </a:r>
                      <a:endParaRPr lang="en-IN" sz="1000" b="0" i="0" u="none" strike="noStrike">
                        <a:solidFill>
                          <a:srgbClr val="000000"/>
                        </a:solidFill>
                        <a:effectLst/>
                        <a:latin typeface="IBM Plex Sans" panose="020B0503050203000203" pitchFamily="34" charset="0"/>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 </a:t>
                      </a:r>
                      <a:endParaRPr lang="en-IN" sz="1000" b="1"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 </a:t>
                      </a:r>
                      <a:endParaRPr lang="en-IN" sz="1000" b="1"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 </a:t>
                      </a:r>
                      <a:endParaRPr lang="en-IN" sz="1000" b="1"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 </a:t>
                      </a:r>
                      <a:endParaRPr lang="en-IN" sz="1000" b="1" i="0" u="none" strike="noStrike">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dirty="0">
                          <a:effectLst/>
                          <a:latin typeface="IBM Plex Sans" panose="020B0503050203000203" pitchFamily="34" charset="0"/>
                        </a:rPr>
                        <a:t> </a:t>
                      </a:r>
                      <a:endParaRPr lang="en-IN" sz="1000" b="0" i="0" u="none" strike="noStrike" dirty="0">
                        <a:solidFill>
                          <a:srgbClr val="000000"/>
                        </a:solidFill>
                        <a:effectLst/>
                        <a:latin typeface="IBM Plex Sans" panose="020B0503050203000203" pitchFamily="34" charset="0"/>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95031638"/>
                  </a:ext>
                </a:extLst>
              </a:tr>
            </a:tbl>
          </a:graphicData>
        </a:graphic>
      </p:graphicFrame>
    </p:spTree>
    <p:extLst>
      <p:ext uri="{BB962C8B-B14F-4D97-AF65-F5344CB8AC3E}">
        <p14:creationId xmlns:p14="http://schemas.microsoft.com/office/powerpoint/2010/main" val="6953221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2A5FF05-9C2D-CB16-CCB4-37A1819002EA}"/>
              </a:ext>
            </a:extLst>
          </p:cNvPr>
          <p:cNvSpPr>
            <a:spLocks noGrp="1"/>
          </p:cNvSpPr>
          <p:nvPr>
            <p:ph type="sldNum" sz="quarter" idx="12"/>
          </p:nvPr>
        </p:nvSpPr>
        <p:spPr/>
        <p:txBody>
          <a:bodyPr/>
          <a:lstStyle/>
          <a:p>
            <a:fld id="{682A9D49-871F-5640-BCE3-20634A9797B6}" type="slidenum">
              <a:rPr lang="en-US" smtClean="0"/>
              <a:t>22</a:t>
            </a:fld>
            <a:endParaRPr lang="en-US"/>
          </a:p>
        </p:txBody>
      </p:sp>
      <p:graphicFrame>
        <p:nvGraphicFramePr>
          <p:cNvPr id="3" name="Table 2">
            <a:extLst>
              <a:ext uri="{FF2B5EF4-FFF2-40B4-BE49-F238E27FC236}">
                <a16:creationId xmlns:a16="http://schemas.microsoft.com/office/drawing/2014/main" id="{46F7A00B-71AF-F4B8-9312-418ABF17B06D}"/>
              </a:ext>
            </a:extLst>
          </p:cNvPr>
          <p:cNvGraphicFramePr>
            <a:graphicFrameLocks noGrp="1"/>
          </p:cNvGraphicFramePr>
          <p:nvPr>
            <p:extLst>
              <p:ext uri="{D42A27DB-BD31-4B8C-83A1-F6EECF244321}">
                <p14:modId xmlns:p14="http://schemas.microsoft.com/office/powerpoint/2010/main" val="2007488054"/>
              </p:ext>
            </p:extLst>
          </p:nvPr>
        </p:nvGraphicFramePr>
        <p:xfrm>
          <a:off x="432110" y="1155048"/>
          <a:ext cx="11519999" cy="5040007"/>
        </p:xfrm>
        <a:graphic>
          <a:graphicData uri="http://schemas.openxmlformats.org/drawingml/2006/table">
            <a:tbl>
              <a:tblPr firstRow="1">
                <a:tableStyleId>{B301B821-A1FF-4177-AEE7-76D212191A09}</a:tableStyleId>
              </a:tblPr>
              <a:tblGrid>
                <a:gridCol w="1378378">
                  <a:extLst>
                    <a:ext uri="{9D8B030D-6E8A-4147-A177-3AD203B41FA5}">
                      <a16:colId xmlns:a16="http://schemas.microsoft.com/office/drawing/2014/main" val="343954771"/>
                    </a:ext>
                  </a:extLst>
                </a:gridCol>
                <a:gridCol w="4731450">
                  <a:extLst>
                    <a:ext uri="{9D8B030D-6E8A-4147-A177-3AD203B41FA5}">
                      <a16:colId xmlns:a16="http://schemas.microsoft.com/office/drawing/2014/main" val="3642676286"/>
                    </a:ext>
                  </a:extLst>
                </a:gridCol>
                <a:gridCol w="2754909">
                  <a:extLst>
                    <a:ext uri="{9D8B030D-6E8A-4147-A177-3AD203B41FA5}">
                      <a16:colId xmlns:a16="http://schemas.microsoft.com/office/drawing/2014/main" val="2156000067"/>
                    </a:ext>
                  </a:extLst>
                </a:gridCol>
                <a:gridCol w="337108">
                  <a:extLst>
                    <a:ext uri="{9D8B030D-6E8A-4147-A177-3AD203B41FA5}">
                      <a16:colId xmlns:a16="http://schemas.microsoft.com/office/drawing/2014/main" val="475044086"/>
                    </a:ext>
                  </a:extLst>
                </a:gridCol>
                <a:gridCol w="499874">
                  <a:extLst>
                    <a:ext uri="{9D8B030D-6E8A-4147-A177-3AD203B41FA5}">
                      <a16:colId xmlns:a16="http://schemas.microsoft.com/office/drawing/2014/main" val="1034830045"/>
                    </a:ext>
                  </a:extLst>
                </a:gridCol>
                <a:gridCol w="909140">
                  <a:extLst>
                    <a:ext uri="{9D8B030D-6E8A-4147-A177-3AD203B41FA5}">
                      <a16:colId xmlns:a16="http://schemas.microsoft.com/office/drawing/2014/main" val="671905409"/>
                    </a:ext>
                  </a:extLst>
                </a:gridCol>
                <a:gridCol w="909140">
                  <a:extLst>
                    <a:ext uri="{9D8B030D-6E8A-4147-A177-3AD203B41FA5}">
                      <a16:colId xmlns:a16="http://schemas.microsoft.com/office/drawing/2014/main" val="2829710621"/>
                    </a:ext>
                  </a:extLst>
                </a:gridCol>
              </a:tblGrid>
              <a:tr h="165971">
                <a:tc>
                  <a:txBody>
                    <a:bodyPr/>
                    <a:lstStyle/>
                    <a:p>
                      <a:pPr algn="ctr" fontAlgn="ctr">
                        <a:buNone/>
                      </a:pPr>
                      <a:r>
                        <a:rPr lang="en-IN" sz="1000" u="none" strike="noStrike" dirty="0">
                          <a:effectLst/>
                        </a:rPr>
                        <a:t>Category</a:t>
                      </a:r>
                      <a:endParaRPr lang="en-IN" sz="1000" b="1" i="0" u="none" strike="noStrike" dirty="0">
                        <a:solidFill>
                          <a:srgbClr val="000000"/>
                        </a:solidFill>
                        <a:effectLst/>
                        <a:latin typeface="IBM Plex Sans" panose="020B0503050203000203" pitchFamily="34" charset="0"/>
                      </a:endParaRPr>
                    </a:p>
                  </a:txBody>
                  <a:tcPr marL="1759" marR="1759" marT="1759" marB="0" anchor="ctr">
                    <a:lnB w="3175" cap="flat" cmpd="sng" algn="ctr">
                      <a:solidFill>
                        <a:schemeClr val="tx1"/>
                      </a:solidFill>
                      <a:prstDash val="solid"/>
                      <a:round/>
                      <a:headEnd type="none" w="med" len="med"/>
                      <a:tailEnd type="none" w="med" len="med"/>
                    </a:lnB>
                  </a:tcPr>
                </a:tc>
                <a:tc>
                  <a:txBody>
                    <a:bodyPr/>
                    <a:lstStyle/>
                    <a:p>
                      <a:pPr algn="l" fontAlgn="ctr">
                        <a:buNone/>
                      </a:pPr>
                      <a:r>
                        <a:rPr lang="en-IN" sz="1000" u="none" strike="noStrike" dirty="0">
                          <a:effectLst/>
                        </a:rPr>
                        <a:t>Non-functional requirement</a:t>
                      </a:r>
                      <a:endParaRPr lang="en-IN" sz="1000" b="1" i="0" u="none" strike="noStrike" dirty="0">
                        <a:solidFill>
                          <a:srgbClr val="000000"/>
                        </a:solidFill>
                        <a:effectLst/>
                        <a:latin typeface="IBM Plex Sans" panose="020B0503050203000203" pitchFamily="34" charset="0"/>
                      </a:endParaRPr>
                    </a:p>
                  </a:txBody>
                  <a:tcPr marL="1759" marR="1759" marT="1759" marB="0" anchor="ctr"/>
                </a:tc>
                <a:tc>
                  <a:txBody>
                    <a:bodyPr/>
                    <a:lstStyle/>
                    <a:p>
                      <a:pPr algn="ctr" fontAlgn="ctr">
                        <a:buNone/>
                      </a:pPr>
                      <a:r>
                        <a:rPr lang="en-IN" sz="1000" u="none" strike="noStrike" dirty="0">
                          <a:effectLst/>
                        </a:rPr>
                        <a:t>Requirements</a:t>
                      </a:r>
                      <a:endParaRPr lang="en-IN" sz="1000" b="1" i="0" u="none" strike="noStrike" dirty="0">
                        <a:solidFill>
                          <a:srgbClr val="000000"/>
                        </a:solidFill>
                        <a:effectLst/>
                        <a:latin typeface="IBM Plex Sans" panose="020B0503050203000203" pitchFamily="34" charset="0"/>
                      </a:endParaRPr>
                    </a:p>
                  </a:txBody>
                  <a:tcPr marL="1759" marR="1759" marT="1759" marB="0" anchor="ctr"/>
                </a:tc>
                <a:tc gridSpan="4">
                  <a:txBody>
                    <a:bodyPr/>
                    <a:lstStyle/>
                    <a:p>
                      <a:pPr algn="ctr" fontAlgn="b">
                        <a:buNone/>
                      </a:pPr>
                      <a:r>
                        <a:rPr lang="en-IN" sz="1000" u="none" strike="noStrike" dirty="0">
                          <a:effectLst/>
                        </a:rPr>
                        <a:t>Specifications</a:t>
                      </a:r>
                      <a:endParaRPr lang="en-IN" sz="1000" b="1" i="0" u="none" strike="noStrike" dirty="0">
                        <a:solidFill>
                          <a:srgbClr val="000000"/>
                        </a:solidFill>
                        <a:effectLst/>
                        <a:latin typeface="IBM Plex Sans" panose="020B0503050203000203" pitchFamily="34" charset="0"/>
                      </a:endParaRPr>
                    </a:p>
                  </a:txBody>
                  <a:tcPr marL="1759" marR="1759" marT="1759" marB="0" anchor="b"/>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25654617"/>
                  </a:ext>
                </a:extLst>
              </a:tr>
              <a:tr h="165971">
                <a:tc rowSpan="7">
                  <a:txBody>
                    <a:bodyPr/>
                    <a:lstStyle/>
                    <a:p>
                      <a:pPr algn="ctr" fontAlgn="ctr">
                        <a:buNone/>
                      </a:pPr>
                      <a:r>
                        <a:rPr lang="en-IN" sz="1000" b="1" u="none" strike="noStrike" dirty="0">
                          <a:effectLst/>
                          <a:latin typeface="IBM Plex Sans" panose="020B0503050203000203" pitchFamily="34" charset="0"/>
                        </a:rPr>
                        <a:t>Audit and Edit trail</a:t>
                      </a:r>
                    </a:p>
                    <a:p>
                      <a:pPr algn="l" fontAlgn="b">
                        <a:buNone/>
                      </a:pPr>
                      <a:r>
                        <a:rPr lang="en-IN" sz="1000" b="1" u="none" strike="noStrike" dirty="0">
                          <a:effectLst/>
                          <a:latin typeface="IBM Plex Sans" panose="020B0503050203000203" pitchFamily="34" charset="0"/>
                        </a:rPr>
                        <a:t> </a:t>
                      </a:r>
                    </a:p>
                    <a:p>
                      <a:pPr algn="l" fontAlgn="b">
                        <a:buNone/>
                      </a:pPr>
                      <a:r>
                        <a:rPr lang="en-IN" sz="1000" b="1" u="none" strike="noStrike" dirty="0">
                          <a:effectLst/>
                          <a:latin typeface="IBM Plex Sans" panose="020B0503050203000203" pitchFamily="34" charset="0"/>
                        </a:rPr>
                        <a:t> </a:t>
                      </a:r>
                    </a:p>
                    <a:p>
                      <a:pPr algn="l" fontAlgn="b">
                        <a:buNone/>
                      </a:pPr>
                      <a:r>
                        <a:rPr lang="en-IN" sz="1000" b="1" u="none" strike="noStrike" dirty="0">
                          <a:effectLst/>
                          <a:latin typeface="IBM Plex Sans" panose="020B0503050203000203" pitchFamily="34" charset="0"/>
                        </a:rPr>
                        <a:t> </a:t>
                      </a:r>
                    </a:p>
                    <a:p>
                      <a:pPr algn="l" fontAlgn="b">
                        <a:buNone/>
                      </a:pPr>
                      <a:r>
                        <a:rPr lang="en-IN" sz="1000" b="1" u="none" strike="noStrike" dirty="0">
                          <a:effectLst/>
                          <a:latin typeface="IBM Plex Sans" panose="020B0503050203000203" pitchFamily="34" charset="0"/>
                        </a:rPr>
                        <a:t> </a:t>
                      </a:r>
                    </a:p>
                    <a:p>
                      <a:pPr algn="l" fontAlgn="b">
                        <a:buNone/>
                      </a:pPr>
                      <a:r>
                        <a:rPr lang="en-IN" sz="1000" b="1" u="none" strike="noStrike" dirty="0">
                          <a:effectLst/>
                          <a:latin typeface="IBM Plex Sans" panose="020B0503050203000203" pitchFamily="34" charset="0"/>
                        </a:rPr>
                        <a:t> </a:t>
                      </a:r>
                    </a:p>
                    <a:p>
                      <a:pPr algn="l" fontAlgn="b">
                        <a:buNone/>
                      </a:pPr>
                      <a:r>
                        <a:rPr lang="en-IN" sz="1000" b="1" u="none" strike="noStrike" dirty="0">
                          <a:effectLst/>
                          <a:latin typeface="IBM Plex Sans" panose="020B0503050203000203" pitchFamily="34" charset="0"/>
                        </a:rPr>
                        <a:t> </a:t>
                      </a:r>
                      <a:endParaRPr lang="en-IN" sz="1000" b="1" i="0" u="none" strike="noStrike" dirty="0">
                        <a:solidFill>
                          <a:srgbClr val="0000FF"/>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en-IN" sz="1000" u="none" strike="noStrike">
                          <a:effectLst/>
                        </a:rPr>
                        <a:t> </a:t>
                      </a:r>
                      <a:endParaRPr lang="en-IN" sz="1000" b="0" i="0" u="none" strike="noStrike">
                        <a:solidFill>
                          <a:srgbClr val="0000FF"/>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B w="3175" cap="flat" cmpd="sng" algn="ctr">
                      <a:solidFill>
                        <a:schemeClr val="tx1"/>
                      </a:solidFill>
                      <a:prstDash val="solid"/>
                      <a:round/>
                      <a:headEnd type="none" w="med" len="med"/>
                      <a:tailEnd type="none" w="med" len="med"/>
                    </a:lnB>
                  </a:tcPr>
                </a:tc>
                <a:tc>
                  <a:txBody>
                    <a:bodyPr/>
                    <a:lstStyle/>
                    <a:p>
                      <a:pPr algn="ctr" fontAlgn="ctr">
                        <a:buNone/>
                      </a:pPr>
                      <a:r>
                        <a:rPr lang="en-IN" sz="1000" u="none" strike="noStrike" dirty="0">
                          <a:effectLst/>
                        </a:rPr>
                        <a:t> </a:t>
                      </a:r>
                      <a:endParaRPr lang="en-IN" sz="1000" b="0" i="0" u="none" strike="noStrike" dirty="0">
                        <a:solidFill>
                          <a:srgbClr val="0000FF"/>
                        </a:solidFill>
                        <a:effectLst/>
                        <a:latin typeface="IBM Plex Sans" panose="020B0503050203000203" pitchFamily="34" charset="0"/>
                      </a:endParaRPr>
                    </a:p>
                  </a:txBody>
                  <a:tcPr marL="1759" marR="1759" marT="1759" marB="0" anchor="ctr">
                    <a:lnB w="3175" cap="flat" cmpd="sng" algn="ctr">
                      <a:solidFill>
                        <a:schemeClr val="tx1"/>
                      </a:solidFill>
                      <a:prstDash val="solid"/>
                      <a:round/>
                      <a:headEnd type="none" w="med" len="med"/>
                      <a:tailEnd type="none" w="med" len="med"/>
                    </a:lnB>
                  </a:tcPr>
                </a:tc>
                <a:tc>
                  <a:txBody>
                    <a:bodyPr/>
                    <a:lstStyle/>
                    <a:p>
                      <a:pPr algn="l" fontAlgn="ctr">
                        <a:buNone/>
                      </a:pPr>
                      <a:r>
                        <a:rPr lang="en-IN" sz="1000" u="none" strike="noStrike" dirty="0">
                          <a:effectLst/>
                        </a:rPr>
                        <a:t> </a:t>
                      </a:r>
                      <a:endParaRPr lang="en-IN" sz="1000" b="0" i="0" u="none" strike="noStrike" dirty="0">
                        <a:solidFill>
                          <a:srgbClr val="0000FF"/>
                        </a:solidFill>
                        <a:effectLst/>
                        <a:latin typeface="IBM Plex Sans" panose="020B0503050203000203" pitchFamily="34" charset="0"/>
                      </a:endParaRPr>
                    </a:p>
                  </a:txBody>
                  <a:tcPr marL="1759" marR="1759" marT="1759" marB="0" anchor="ctr">
                    <a:lnB w="3175" cap="flat" cmpd="sng" algn="ctr">
                      <a:solidFill>
                        <a:schemeClr val="tx1"/>
                      </a:solidFill>
                      <a:prstDash val="solid"/>
                      <a:round/>
                      <a:headEnd type="none" w="med" len="med"/>
                      <a:tailEnd type="none" w="med" len="med"/>
                    </a:lnB>
                  </a:tcPr>
                </a:tc>
                <a:tc>
                  <a:txBody>
                    <a:bodyPr/>
                    <a:lstStyle/>
                    <a:p>
                      <a:pPr algn="l" fontAlgn="ctr">
                        <a:buNone/>
                      </a:pPr>
                      <a:r>
                        <a:rPr lang="en-IN" sz="1000" u="none" strike="noStrike" dirty="0">
                          <a:effectLst/>
                        </a:rPr>
                        <a:t> </a:t>
                      </a:r>
                      <a:endParaRPr lang="en-IN" sz="1000" b="0" i="0" u="none" strike="noStrike" dirty="0">
                        <a:solidFill>
                          <a:srgbClr val="0000FF"/>
                        </a:solidFill>
                        <a:effectLst/>
                        <a:latin typeface="IBM Plex Sans" panose="020B0503050203000203" pitchFamily="34" charset="0"/>
                      </a:endParaRPr>
                    </a:p>
                  </a:txBody>
                  <a:tcPr marL="1759" marR="1759" marT="1759" marB="0" anchor="ctr">
                    <a:lnB w="3175" cap="flat" cmpd="sng" algn="ctr">
                      <a:solidFill>
                        <a:schemeClr val="tx1"/>
                      </a:solidFill>
                      <a:prstDash val="solid"/>
                      <a:round/>
                      <a:headEnd type="none" w="med" len="med"/>
                      <a:tailEnd type="none" w="med" len="med"/>
                    </a:lnB>
                  </a:tcPr>
                </a:tc>
                <a:tc>
                  <a:txBody>
                    <a:bodyPr/>
                    <a:lstStyle/>
                    <a:p>
                      <a:pPr algn="l" fontAlgn="ctr">
                        <a:buNone/>
                      </a:pPr>
                      <a:r>
                        <a:rPr lang="en-IN" sz="1000" u="none" strike="noStrike" dirty="0">
                          <a:effectLst/>
                        </a:rPr>
                        <a:t> </a:t>
                      </a:r>
                      <a:endParaRPr lang="en-IN" sz="1000" b="0" i="0" u="none" strike="noStrike" dirty="0">
                        <a:solidFill>
                          <a:srgbClr val="0000FF"/>
                        </a:solidFill>
                        <a:effectLst/>
                        <a:latin typeface="IBM Plex Sans" panose="020B0503050203000203" pitchFamily="34" charset="0"/>
                      </a:endParaRPr>
                    </a:p>
                  </a:txBody>
                  <a:tcPr marL="1759" marR="1759" marT="1759" marB="0" anchor="ctr">
                    <a:lnB w="3175" cap="flat" cmpd="sng" algn="ctr">
                      <a:solidFill>
                        <a:schemeClr val="tx1"/>
                      </a:solidFill>
                      <a:prstDash val="solid"/>
                      <a:round/>
                      <a:headEnd type="none" w="med" len="med"/>
                      <a:tailEnd type="none" w="med" len="med"/>
                    </a:lnB>
                  </a:tcPr>
                </a:tc>
                <a:tc>
                  <a:txBody>
                    <a:bodyPr/>
                    <a:lstStyle/>
                    <a:p>
                      <a:pPr algn="l" fontAlgn="ctr">
                        <a:buNone/>
                      </a:pPr>
                      <a:r>
                        <a:rPr lang="en-IN" sz="1000" u="none" strike="noStrike" dirty="0">
                          <a:effectLst/>
                        </a:rPr>
                        <a:t> </a:t>
                      </a:r>
                      <a:endParaRPr lang="en-IN" sz="1000" b="0" i="0" u="none" strike="noStrike" dirty="0">
                        <a:solidFill>
                          <a:srgbClr val="0000FF"/>
                        </a:solidFill>
                        <a:effectLst/>
                        <a:latin typeface="IBM Plex Sans" panose="020B0503050203000203" pitchFamily="34" charset="0"/>
                      </a:endParaRPr>
                    </a:p>
                  </a:txBody>
                  <a:tcPr marL="1759" marR="1759" marT="1759" marB="0" anchor="ctr">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94675191"/>
                  </a:ext>
                </a:extLst>
              </a:tr>
              <a:tr h="658201">
                <a:tc vMerge="1">
                  <a:txBody>
                    <a:bodyPr/>
                    <a:lstStyle/>
                    <a:p>
                      <a:endParaRPr/>
                    </a:p>
                  </a:txBody>
                  <a:tcPr marL="1759" marR="1759" marT="1759" marB="0" anchor="b"/>
                </a:tc>
                <a:tc>
                  <a:txBody>
                    <a:bodyPr/>
                    <a:lstStyle/>
                    <a:p>
                      <a:pPr algn="l" fontAlgn="ctr">
                        <a:buNone/>
                      </a:pPr>
                      <a:r>
                        <a:rPr lang="en-IN" sz="1000" u="none" strike="noStrike" dirty="0">
                          <a:effectLst/>
                          <a:latin typeface="IBM Plex Sans" panose="020B0503050203000203" pitchFamily="34" charset="0"/>
                        </a:rPr>
                        <a:t>Audited elements- What business elements will be audited?</a:t>
                      </a:r>
                      <a:endParaRPr lang="en-IN" sz="1000" b="0" i="0" u="none" strike="noStrike" dirty="0">
                        <a:solidFill>
                          <a:srgbClr val="000000"/>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dirty="0">
                          <a:effectLst/>
                          <a:latin typeface="IBM Plex Sans" panose="020B0503050203000203" pitchFamily="34" charset="0"/>
                        </a:rPr>
                        <a:t>User master, role &amp; access configurations, Customer id, transactions, approval workflow, configuration changes, reference data, policy/rule configuration</a:t>
                      </a:r>
                      <a:endParaRPr lang="en-IN" sz="1000" b="0" i="0" u="none" strike="noStrike" dirty="0">
                        <a:solidFill>
                          <a:srgbClr val="0000FF"/>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FF"/>
                        </a:solidFill>
                        <a:effectLst/>
                        <a:latin typeface="IBM Plex Sans" panose="020B0503050203000203" pitchFamily="34" charset="0"/>
                      </a:endParaRPr>
                    </a:p>
                  </a:txBody>
                  <a:tcPr marL="1759" marR="1759" marT="1759"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dirty="0">
                          <a:effectLst/>
                          <a:latin typeface="IBM Plex Sans" panose="020B0503050203000203" pitchFamily="34" charset="0"/>
                        </a:rPr>
                        <a:t> </a:t>
                      </a:r>
                      <a:endParaRPr lang="en-IN" sz="1000" b="0" i="0" u="none" strike="noStrike" dirty="0">
                        <a:solidFill>
                          <a:srgbClr val="0000FF"/>
                        </a:solidFill>
                        <a:effectLst/>
                        <a:latin typeface="IBM Plex Sans" panose="020B0503050203000203" pitchFamily="34" charset="0"/>
                      </a:endParaRPr>
                    </a:p>
                  </a:txBody>
                  <a:tcPr marL="1759" marR="1759" marT="1759"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FF"/>
                        </a:solidFill>
                        <a:effectLst/>
                        <a:latin typeface="IBM Plex Sans" panose="020B0503050203000203" pitchFamily="34" charset="0"/>
                      </a:endParaRPr>
                    </a:p>
                  </a:txBody>
                  <a:tcPr marL="1759" marR="1759" marT="1759"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FF"/>
                        </a:solidFill>
                        <a:effectLst/>
                        <a:latin typeface="IBM Plex Sans" panose="020B0503050203000203" pitchFamily="34" charset="0"/>
                      </a:endParaRPr>
                    </a:p>
                  </a:txBody>
                  <a:tcPr marL="1759" marR="1759" marT="1759"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93295326"/>
                  </a:ext>
                </a:extLst>
              </a:tr>
              <a:tr h="494124">
                <a:tc vMerge="1">
                  <a:txBody>
                    <a:bodyPr/>
                    <a:lstStyle/>
                    <a:p>
                      <a:endParaRPr/>
                    </a:p>
                  </a:txBody>
                  <a:tcPr marL="1759" marR="1759" marT="1759" marB="0" anchor="b"/>
                </a:tc>
                <a:tc>
                  <a:txBody>
                    <a:bodyPr/>
                    <a:lstStyle/>
                    <a:p>
                      <a:pPr algn="l" fontAlgn="ctr">
                        <a:buNone/>
                      </a:pPr>
                      <a:r>
                        <a:rPr lang="en-IN" sz="1000" u="none" strike="noStrike" dirty="0">
                          <a:effectLst/>
                          <a:latin typeface="IBM Plex Sans" panose="020B0503050203000203" pitchFamily="34" charset="0"/>
                        </a:rPr>
                        <a:t>Audited fields- What data fields will be audited?</a:t>
                      </a:r>
                      <a:endParaRPr lang="en-IN" sz="1000" b="0" i="0" u="none" strike="noStrike" dirty="0">
                        <a:solidFill>
                          <a:srgbClr val="000000"/>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dirty="0">
                          <a:effectLst/>
                          <a:latin typeface="IBM Plex Sans" panose="020B0503050203000203" pitchFamily="34" charset="0"/>
                        </a:rPr>
                        <a:t>Action type (create/update/delete etc), Fields name, old/new value, timestamp, roles, approval status, access, PII fields etc</a:t>
                      </a:r>
                      <a:endParaRPr lang="en-IN" sz="1000" b="0" i="0" u="none" strike="noStrike" dirty="0">
                        <a:solidFill>
                          <a:srgbClr val="0000FF"/>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FF"/>
                        </a:solidFill>
                        <a:effectLst/>
                        <a:latin typeface="IBM Plex Sans" panose="020B0503050203000203" pitchFamily="34" charset="0"/>
                      </a:endParaRPr>
                    </a:p>
                  </a:txBody>
                  <a:tcPr marL="1759" marR="1759" marT="1759"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FF"/>
                        </a:solidFill>
                        <a:effectLst/>
                        <a:latin typeface="IBM Plex Sans" panose="020B0503050203000203" pitchFamily="34" charset="0"/>
                      </a:endParaRPr>
                    </a:p>
                  </a:txBody>
                  <a:tcPr marL="1759" marR="1759" marT="1759"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FF"/>
                        </a:solidFill>
                        <a:effectLst/>
                        <a:latin typeface="IBM Plex Sans" panose="020B0503050203000203" pitchFamily="34" charset="0"/>
                      </a:endParaRPr>
                    </a:p>
                  </a:txBody>
                  <a:tcPr marL="1759" marR="1759" marT="1759"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dirty="0">
                          <a:effectLst/>
                          <a:latin typeface="IBM Plex Sans" panose="020B0503050203000203" pitchFamily="34" charset="0"/>
                        </a:rPr>
                        <a:t> </a:t>
                      </a:r>
                      <a:endParaRPr lang="en-IN" sz="1000" b="0" i="0" u="none" strike="noStrike" dirty="0">
                        <a:solidFill>
                          <a:srgbClr val="0000FF"/>
                        </a:solidFill>
                        <a:effectLst/>
                        <a:latin typeface="IBM Plex Sans" panose="020B0503050203000203" pitchFamily="34" charset="0"/>
                      </a:endParaRPr>
                    </a:p>
                  </a:txBody>
                  <a:tcPr marL="1759" marR="1759" marT="1759"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0574981"/>
                  </a:ext>
                </a:extLst>
              </a:tr>
              <a:tr h="165971">
                <a:tc vMerge="1">
                  <a:txBody>
                    <a:bodyPr/>
                    <a:lstStyle/>
                    <a:p>
                      <a:endParaRPr/>
                    </a:p>
                  </a:txBody>
                  <a:tcPr marL="1759" marR="1759" marT="1759" marB="0" anchor="b"/>
                </a:tc>
                <a:tc>
                  <a:txBody>
                    <a:bodyPr/>
                    <a:lstStyle/>
                    <a:p>
                      <a:pPr algn="l" fontAlgn="ctr">
                        <a:buNone/>
                      </a:pPr>
                      <a:r>
                        <a:rPr lang="en-IN" sz="1000" u="none" strike="noStrike" dirty="0">
                          <a:effectLst/>
                          <a:latin typeface="IBM Plex Sans" panose="020B0503050203000203" pitchFamily="34" charset="0"/>
                        </a:rPr>
                        <a:t>Audit file characteristics (Audit &amp; compliance logs)- Timestamp, user id, role</a:t>
                      </a:r>
                      <a:endParaRPr lang="en-IN" sz="1000" b="0" i="0" u="none" strike="noStrike" dirty="0">
                        <a:solidFill>
                          <a:srgbClr val="0000FF"/>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dirty="0">
                          <a:effectLst/>
                          <a:latin typeface="IBM Plex Sans" panose="020B0503050203000203" pitchFamily="34" charset="0"/>
                        </a:rPr>
                        <a:t>User ID, Timestamp</a:t>
                      </a:r>
                      <a:endParaRPr lang="en-IN" sz="1000" b="0" i="0" u="none" strike="noStrike" dirty="0">
                        <a:solidFill>
                          <a:srgbClr val="0000FF"/>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FF"/>
                        </a:solidFill>
                        <a:effectLst/>
                        <a:latin typeface="IBM Plex Sans" panose="020B0503050203000203" pitchFamily="34" charset="0"/>
                      </a:endParaRPr>
                    </a:p>
                  </a:txBody>
                  <a:tcPr marL="1759" marR="1759" marT="1759"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FF"/>
                        </a:solidFill>
                        <a:effectLst/>
                        <a:latin typeface="IBM Plex Sans" panose="020B0503050203000203" pitchFamily="34" charset="0"/>
                      </a:endParaRPr>
                    </a:p>
                  </a:txBody>
                  <a:tcPr marL="1759" marR="1759" marT="1759"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FF"/>
                        </a:solidFill>
                        <a:effectLst/>
                        <a:latin typeface="IBM Plex Sans" panose="020B0503050203000203" pitchFamily="34" charset="0"/>
                      </a:endParaRPr>
                    </a:p>
                  </a:txBody>
                  <a:tcPr marL="1759" marR="1759" marT="1759"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FF"/>
                        </a:solidFill>
                        <a:effectLst/>
                        <a:latin typeface="IBM Plex Sans" panose="020B0503050203000203" pitchFamily="34" charset="0"/>
                      </a:endParaRPr>
                    </a:p>
                  </a:txBody>
                  <a:tcPr marL="1759" marR="1759" marT="1759"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58628196"/>
                  </a:ext>
                </a:extLst>
              </a:tr>
              <a:tr h="165971">
                <a:tc vMerge="1">
                  <a:txBody>
                    <a:bodyPr/>
                    <a:lstStyle/>
                    <a:p>
                      <a:endParaRPr/>
                    </a:p>
                  </a:txBody>
                  <a:tcPr marL="1759" marR="1759" marT="1759" marB="0" anchor="b"/>
                </a:tc>
                <a:tc>
                  <a:txBody>
                    <a:bodyPr/>
                    <a:lstStyle/>
                    <a:p>
                      <a:pPr algn="l" fontAlgn="ctr">
                        <a:buNone/>
                      </a:pPr>
                      <a:r>
                        <a:rPr lang="en-IN" sz="1000" u="none" strike="noStrike" dirty="0">
                          <a:effectLst/>
                          <a:latin typeface="IBM Plex Sans" panose="020B0503050203000203" pitchFamily="34" charset="0"/>
                        </a:rPr>
                        <a:t>Approval logs (who approved what, when)</a:t>
                      </a:r>
                      <a:endParaRPr lang="en-IN" sz="1000" b="0" i="0" u="none" strike="noStrike" dirty="0">
                        <a:solidFill>
                          <a:srgbClr val="0000FF"/>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a:effectLst/>
                          <a:latin typeface="IBM Plex Sans" panose="020B0503050203000203" pitchFamily="34" charset="0"/>
                        </a:rPr>
                        <a:t>Yes</a:t>
                      </a:r>
                      <a:endParaRPr lang="en-IN" sz="1000" b="0" i="0" u="none" strike="noStrike">
                        <a:solidFill>
                          <a:srgbClr val="0000FF"/>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dirty="0">
                          <a:effectLst/>
                          <a:latin typeface="IBM Plex Sans" panose="020B0503050203000203" pitchFamily="34" charset="0"/>
                        </a:rPr>
                        <a:t> </a:t>
                      </a:r>
                      <a:endParaRPr lang="en-IN" sz="1000" b="0" i="0" u="none" strike="noStrike" dirty="0">
                        <a:solidFill>
                          <a:srgbClr val="0000FF"/>
                        </a:solidFill>
                        <a:effectLst/>
                        <a:latin typeface="IBM Plex Sans" panose="020B0503050203000203" pitchFamily="34" charset="0"/>
                      </a:endParaRPr>
                    </a:p>
                  </a:txBody>
                  <a:tcPr marL="1759" marR="1759" marT="1759"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FF"/>
                        </a:solidFill>
                        <a:effectLst/>
                        <a:latin typeface="IBM Plex Sans" panose="020B0503050203000203" pitchFamily="34" charset="0"/>
                      </a:endParaRPr>
                    </a:p>
                  </a:txBody>
                  <a:tcPr marL="1759" marR="1759" marT="1759"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FF"/>
                        </a:solidFill>
                        <a:effectLst/>
                        <a:latin typeface="IBM Plex Sans" panose="020B0503050203000203" pitchFamily="34" charset="0"/>
                      </a:endParaRPr>
                    </a:p>
                  </a:txBody>
                  <a:tcPr marL="1759" marR="1759" marT="1759"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FF"/>
                        </a:solidFill>
                        <a:effectLst/>
                        <a:latin typeface="IBM Plex Sans" panose="020B0503050203000203" pitchFamily="34" charset="0"/>
                      </a:endParaRPr>
                    </a:p>
                  </a:txBody>
                  <a:tcPr marL="1759" marR="1759" marT="1759"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08994029"/>
                  </a:ext>
                </a:extLst>
              </a:tr>
              <a:tr h="494124">
                <a:tc vMerge="1">
                  <a:txBody>
                    <a:bodyPr/>
                    <a:lstStyle/>
                    <a:p>
                      <a:endParaRPr/>
                    </a:p>
                  </a:txBody>
                  <a:tcPr marL="1759" marR="1759" marT="1759" marB="0" anchor="b"/>
                </a:tc>
                <a:tc>
                  <a:txBody>
                    <a:bodyPr/>
                    <a:lstStyle/>
                    <a:p>
                      <a:pPr algn="l" fontAlgn="ctr">
                        <a:buNone/>
                      </a:pPr>
                      <a:r>
                        <a:rPr lang="en-IN" sz="1000" u="none" strike="noStrike" dirty="0">
                          <a:effectLst/>
                          <a:latin typeface="IBM Plex Sans" panose="020B0503050203000203" pitchFamily="34" charset="0"/>
                        </a:rPr>
                        <a:t>Elements- What elements history needs to be maintained</a:t>
                      </a:r>
                      <a:endParaRPr lang="en-IN" sz="1000" b="0" i="0" u="none" strike="noStrike" dirty="0">
                        <a:solidFill>
                          <a:srgbClr val="000000"/>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dirty="0">
                          <a:effectLst/>
                          <a:latin typeface="IBM Plex Sans" panose="020B0503050203000203" pitchFamily="34" charset="0"/>
                        </a:rPr>
                        <a:t>Version history, records to be retrieved, system must support comparison between versions</a:t>
                      </a:r>
                      <a:endParaRPr lang="en-IN" sz="1000" b="0" i="0" u="none" strike="noStrike" dirty="0">
                        <a:solidFill>
                          <a:srgbClr val="0000FF"/>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FF"/>
                        </a:solidFill>
                        <a:effectLst/>
                        <a:latin typeface="IBM Plex Sans" panose="020B0503050203000203" pitchFamily="34" charset="0"/>
                      </a:endParaRPr>
                    </a:p>
                  </a:txBody>
                  <a:tcPr marL="1759" marR="1759" marT="1759"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dirty="0">
                          <a:effectLst/>
                          <a:latin typeface="IBM Plex Sans" panose="020B0503050203000203" pitchFamily="34" charset="0"/>
                        </a:rPr>
                        <a:t> </a:t>
                      </a:r>
                      <a:endParaRPr lang="en-IN" sz="1000" b="0" i="0" u="none" strike="noStrike" dirty="0">
                        <a:solidFill>
                          <a:srgbClr val="0000FF"/>
                        </a:solidFill>
                        <a:effectLst/>
                        <a:latin typeface="IBM Plex Sans" panose="020B0503050203000203" pitchFamily="34" charset="0"/>
                      </a:endParaRPr>
                    </a:p>
                  </a:txBody>
                  <a:tcPr marL="1759" marR="1759" marT="1759"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dirty="0">
                          <a:effectLst/>
                          <a:latin typeface="IBM Plex Sans" panose="020B0503050203000203" pitchFamily="34" charset="0"/>
                        </a:rPr>
                        <a:t> </a:t>
                      </a:r>
                      <a:endParaRPr lang="en-IN" sz="1000" b="0" i="0" u="none" strike="noStrike" dirty="0">
                        <a:solidFill>
                          <a:srgbClr val="0000FF"/>
                        </a:solidFill>
                        <a:effectLst/>
                        <a:latin typeface="IBM Plex Sans" panose="020B0503050203000203" pitchFamily="34" charset="0"/>
                      </a:endParaRPr>
                    </a:p>
                  </a:txBody>
                  <a:tcPr marL="1759" marR="1759" marT="1759"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FF"/>
                        </a:solidFill>
                        <a:effectLst/>
                        <a:latin typeface="IBM Plex Sans" panose="020B0503050203000203" pitchFamily="34" charset="0"/>
                      </a:endParaRPr>
                    </a:p>
                  </a:txBody>
                  <a:tcPr marL="1759" marR="1759" marT="1759"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6235746"/>
                  </a:ext>
                </a:extLst>
              </a:tr>
              <a:tr h="165971">
                <a:tc vMerge="1">
                  <a:txBody>
                    <a:bodyPr/>
                    <a:lstStyle/>
                    <a:p>
                      <a:endParaRPr dirty="0"/>
                    </a:p>
                  </a:txBody>
                  <a:tcPr marL="1759" marR="1759" marT="1759" marB="0" anchor="b"/>
                </a:tc>
                <a:tc>
                  <a:txBody>
                    <a:bodyPr/>
                    <a:lstStyle/>
                    <a:p>
                      <a:pPr algn="l" fontAlgn="ctr">
                        <a:buNone/>
                      </a:pPr>
                      <a:r>
                        <a:rPr lang="en-IN" sz="1000" u="none" strike="noStrike" dirty="0">
                          <a:effectLst/>
                          <a:latin typeface="IBM Plex Sans" panose="020B0503050203000203" pitchFamily="34" charset="0"/>
                        </a:rPr>
                        <a:t>Audit Monitoring &amp; Compliance Reporting</a:t>
                      </a:r>
                      <a:endParaRPr lang="en-IN" sz="1000" b="0" i="0" u="none" strike="noStrike" dirty="0">
                        <a:solidFill>
                          <a:srgbClr val="0000FF"/>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u="none" strike="noStrike" dirty="0">
                          <a:effectLst/>
                          <a:latin typeface="IBM Plex Sans" panose="020B0503050203000203" pitchFamily="34" charset="0"/>
                        </a:rPr>
                        <a:t>Yes</a:t>
                      </a:r>
                      <a:endParaRPr lang="en-IN" sz="1000" b="0" i="0" u="none" strike="noStrike" dirty="0">
                        <a:solidFill>
                          <a:srgbClr val="0000FF"/>
                        </a:solidFill>
                        <a:effectLst/>
                        <a:latin typeface="IBM Plex Sans" panose="020B0503050203000203" pitchFamily="34" charset="0"/>
                      </a:endParaRPr>
                    </a:p>
                  </a:txBody>
                  <a:tcPr marL="1759" marR="1759" marT="1759"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FF"/>
                        </a:solidFill>
                        <a:effectLst/>
                        <a:latin typeface="IBM Plex Sans" panose="020B0503050203000203" pitchFamily="34" charset="0"/>
                      </a:endParaRPr>
                    </a:p>
                  </a:txBody>
                  <a:tcPr marL="1759" marR="1759" marT="1759"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dirty="0">
                          <a:effectLst/>
                          <a:latin typeface="IBM Plex Sans" panose="020B0503050203000203" pitchFamily="34" charset="0"/>
                        </a:rPr>
                        <a:t> </a:t>
                      </a:r>
                      <a:endParaRPr lang="en-IN" sz="1000" b="0" i="0" u="none" strike="noStrike" dirty="0">
                        <a:solidFill>
                          <a:srgbClr val="0000FF"/>
                        </a:solidFill>
                        <a:effectLst/>
                        <a:latin typeface="IBM Plex Sans" panose="020B0503050203000203" pitchFamily="34" charset="0"/>
                      </a:endParaRPr>
                    </a:p>
                  </a:txBody>
                  <a:tcPr marL="1759" marR="1759" marT="1759"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tcPr>
                </a:tc>
                <a:tc>
                  <a:txBody>
                    <a:bodyPr/>
                    <a:lstStyle/>
                    <a:p>
                      <a:pPr algn="l" fontAlgn="t">
                        <a:buNone/>
                      </a:pPr>
                      <a:r>
                        <a:rPr lang="en-IN" sz="1000" u="none" strike="noStrike" dirty="0">
                          <a:effectLst/>
                          <a:latin typeface="IBM Plex Sans" panose="020B0503050203000203" pitchFamily="34" charset="0"/>
                        </a:rPr>
                        <a:t> </a:t>
                      </a:r>
                      <a:endParaRPr lang="en-IN" sz="1000" b="0" i="0" u="none" strike="noStrike" dirty="0">
                        <a:solidFill>
                          <a:srgbClr val="0000FF"/>
                        </a:solidFill>
                        <a:effectLst/>
                        <a:latin typeface="IBM Plex Sans" panose="020B0503050203000203" pitchFamily="34" charset="0"/>
                      </a:endParaRPr>
                    </a:p>
                  </a:txBody>
                  <a:tcPr marL="1759" marR="1759" marT="1759"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u="none" strike="noStrike">
                          <a:effectLst/>
                          <a:latin typeface="IBM Plex Sans" panose="020B0503050203000203" pitchFamily="34" charset="0"/>
                        </a:rPr>
                        <a:t> </a:t>
                      </a:r>
                      <a:endParaRPr lang="en-IN" sz="1000" b="0" i="0" u="none" strike="noStrike">
                        <a:solidFill>
                          <a:srgbClr val="0000FF"/>
                        </a:solidFill>
                        <a:effectLst/>
                        <a:latin typeface="IBM Plex Sans" panose="020B0503050203000203" pitchFamily="34" charset="0"/>
                      </a:endParaRPr>
                    </a:p>
                  </a:txBody>
                  <a:tcPr marL="1759" marR="1759" marT="1759"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16306111"/>
                  </a:ext>
                </a:extLst>
              </a:tr>
              <a:tr h="174332">
                <a:tc rowSpan="10">
                  <a:txBody>
                    <a:bodyPr/>
                    <a:lstStyle/>
                    <a:p>
                      <a:pPr algn="l" fontAlgn="ctr">
                        <a:buNone/>
                      </a:pPr>
                      <a:r>
                        <a:rPr lang="en-IN" sz="1000" b="1" u="none" strike="noStrike" dirty="0">
                          <a:effectLst/>
                          <a:latin typeface="IBM Plex Sans" panose="020B0503050203000203" pitchFamily="34" charset="0"/>
                        </a:rPr>
                        <a:t>Recovery and Backup</a:t>
                      </a:r>
                    </a:p>
                    <a:p>
                      <a:pPr algn="l" fontAlgn="b">
                        <a:buNone/>
                      </a:pPr>
                      <a:r>
                        <a:rPr lang="en-IN" sz="1000" b="1" u="none" strike="noStrike" dirty="0">
                          <a:effectLst/>
                          <a:latin typeface="IBM Plex Sans" panose="020B0503050203000203" pitchFamily="34" charset="0"/>
                        </a:rPr>
                        <a:t> </a:t>
                      </a:r>
                    </a:p>
                    <a:p>
                      <a:pPr algn="l" fontAlgn="b">
                        <a:buNone/>
                      </a:pPr>
                      <a:r>
                        <a:rPr lang="en-IN" sz="1000" u="none" strike="noStrike" dirty="0">
                          <a:effectLst/>
                          <a:latin typeface="IBM Plex Sans" panose="020B0503050203000203" pitchFamily="34" charset="0"/>
                        </a:rPr>
                        <a:t> </a:t>
                      </a:r>
                    </a:p>
                    <a:p>
                      <a:pPr algn="l" fontAlgn="b">
                        <a:buNone/>
                      </a:pPr>
                      <a:r>
                        <a:rPr lang="en-IN" sz="1000" u="none" strike="noStrike" dirty="0">
                          <a:effectLst/>
                          <a:latin typeface="IBM Plex Sans" panose="020B0503050203000203" pitchFamily="34" charset="0"/>
                        </a:rPr>
                        <a:t> </a:t>
                      </a:r>
                    </a:p>
                    <a:p>
                      <a:pPr algn="l" fontAlgn="b">
                        <a:buNone/>
                      </a:pPr>
                      <a:r>
                        <a:rPr lang="en-IN" sz="1000" u="none" strike="noStrike" dirty="0">
                          <a:effectLst/>
                          <a:latin typeface="IBM Plex Sans" panose="020B0503050203000203" pitchFamily="34" charset="0"/>
                        </a:rPr>
                        <a:t> </a:t>
                      </a:r>
                    </a:p>
                    <a:p>
                      <a:pPr algn="l" fontAlgn="b">
                        <a:buNone/>
                      </a:pPr>
                      <a:r>
                        <a:rPr lang="en-IN" sz="1000" u="none" strike="noStrike" dirty="0">
                          <a:effectLst/>
                          <a:latin typeface="IBM Plex Sans" panose="020B0503050203000203" pitchFamily="34" charset="0"/>
                        </a:rPr>
                        <a:t> </a:t>
                      </a:r>
                    </a:p>
                    <a:p>
                      <a:pPr algn="l" fontAlgn="b">
                        <a:buNone/>
                      </a:pPr>
                      <a:r>
                        <a:rPr lang="en-IN" sz="1000" u="none" strike="noStrike" dirty="0">
                          <a:effectLst/>
                          <a:latin typeface="IBM Plex Sans" panose="020B0503050203000203" pitchFamily="34" charset="0"/>
                        </a:rPr>
                        <a:t> </a:t>
                      </a:r>
                    </a:p>
                    <a:p>
                      <a:pPr algn="l" fontAlgn="b">
                        <a:buNone/>
                      </a:pPr>
                      <a:r>
                        <a:rPr lang="en-IN" sz="1000" u="none" strike="noStrike" dirty="0">
                          <a:effectLst/>
                          <a:latin typeface="IBM Plex Sans" panose="020B0503050203000203" pitchFamily="34" charset="0"/>
                        </a:rPr>
                        <a:t> </a:t>
                      </a:r>
                    </a:p>
                    <a:p>
                      <a:pPr algn="l" fontAlgn="b">
                        <a:buNone/>
                      </a:pPr>
                      <a:r>
                        <a:rPr lang="en-IN" sz="1000" u="none" strike="noStrike" dirty="0">
                          <a:effectLst/>
                          <a:latin typeface="IBM Plex Sans" panose="020B0503050203000203" pitchFamily="34" charset="0"/>
                        </a:rPr>
                        <a:t> </a:t>
                      </a:r>
                    </a:p>
                    <a:p>
                      <a:pPr algn="l" fontAlgn="b">
                        <a:buNone/>
                      </a:pPr>
                      <a:r>
                        <a:rPr lang="en-IN" sz="1000" u="none" strike="noStrike" dirty="0">
                          <a:effectLst/>
                          <a:latin typeface="IBM Plex Sans" panose="020B0503050203000203" pitchFamily="34" charset="0"/>
                        </a:rPr>
                        <a:t> </a:t>
                      </a:r>
                      <a:endParaRPr lang="en-IN" sz="1000" b="0" i="0" u="none" strike="noStrike" dirty="0">
                        <a:solidFill>
                          <a:srgbClr val="0000FF"/>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en-IN" sz="1000" b="0" i="0" u="none" strike="noStrike">
                          <a:solidFill>
                            <a:srgbClr val="000000"/>
                          </a:solidFill>
                          <a:effectLst/>
                          <a:latin typeface="IBM Plex Sans" panose="020B0503050203000203" pitchFamily="34" charset="0"/>
                        </a:rPr>
                        <a:t> </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b="0" i="0" u="none" strike="noStrike">
                          <a:solidFill>
                            <a:srgbClr val="000000"/>
                          </a:solidFill>
                          <a:effectLst/>
                          <a:latin typeface="IBM Plex Sans" panose="020B0503050203000203" pitchFamily="34" charset="0"/>
                        </a:rPr>
                        <a:t> </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b="0" i="0" u="none" strike="noStrike">
                          <a:solidFill>
                            <a:srgbClr val="000000"/>
                          </a:solidFill>
                          <a:effectLst/>
                          <a:latin typeface="IBM Plex Sans" panose="020B0503050203000203" pitchFamily="34" charset="0"/>
                        </a:rPr>
                        <a:t> </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gridSpan="3">
                  <a:txBody>
                    <a:bodyPr/>
                    <a:lstStyle/>
                    <a:p>
                      <a:pPr algn="ctr" fontAlgn="b">
                        <a:buNone/>
                      </a:pPr>
                      <a:r>
                        <a:rPr lang="en-IN" sz="1000" b="0" i="0" u="none" strike="noStrike">
                          <a:solidFill>
                            <a:srgbClr val="000000"/>
                          </a:solidFill>
                          <a:effectLst/>
                          <a:latin typeface="IBM Plex Sans" panose="020B0503050203000203" pitchFamily="34" charset="0"/>
                        </a:rPr>
                        <a:t> </a:t>
                      </a:r>
                    </a:p>
                  </a:txBody>
                  <a:tcPr marL="9525" marR="9525" marT="9525" marB="0" anchor="b">
                    <a:lnL w="3175" cap="flat" cmpd="sng" algn="ctr">
                      <a:solidFill>
                        <a:schemeClr val="tx1"/>
                      </a:solidFill>
                      <a:prstDash val="solid"/>
                      <a:round/>
                      <a:headEnd type="none" w="med" len="med"/>
                      <a:tailEnd type="none" w="med" len="med"/>
                    </a:ln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95121613"/>
                  </a:ext>
                </a:extLst>
              </a:tr>
              <a:tr h="174332">
                <a:tc vMerge="1">
                  <a:txBody>
                    <a:bodyPr/>
                    <a:lstStyle/>
                    <a:p>
                      <a:endParaRPr/>
                    </a:p>
                  </a:txBody>
                  <a:tcPr marL="1759" marR="1759" marT="1759" marB="0" anchor="b">
                    <a:lnT w="3175" cap="flat" cmpd="sng" algn="ctr">
                      <a:solidFill>
                        <a:schemeClr val="tx1"/>
                      </a:solidFill>
                      <a:prstDash val="solid"/>
                      <a:round/>
                      <a:headEnd type="none" w="med" len="med"/>
                      <a:tailEnd type="none" w="med" len="med"/>
                    </a:lnT>
                  </a:tcPr>
                </a:tc>
                <a:tc>
                  <a:txBody>
                    <a:bodyPr/>
                    <a:lstStyle/>
                    <a:p>
                      <a:pPr algn="l" fontAlgn="ctr">
                        <a:buNone/>
                      </a:pPr>
                      <a:r>
                        <a:rPr lang="en-IN" sz="1000" b="0" i="0" u="none" strike="noStrike">
                          <a:solidFill>
                            <a:srgbClr val="000000"/>
                          </a:solidFill>
                          <a:effectLst/>
                          <a:latin typeface="IBM Plex Sans" panose="020B0503050203000203" pitchFamily="34" charset="0"/>
                        </a:rPr>
                        <a:t>Custom Recovery process needed?</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b="0" i="0" u="none" strike="noStrike">
                          <a:solidFill>
                            <a:srgbClr val="000000"/>
                          </a:solidFill>
                          <a:effectLst/>
                          <a:latin typeface="IBM Plex Sans" panose="020B0503050203000203" pitchFamily="34" charset="0"/>
                        </a:rPr>
                        <a:t>Yes</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b="0" i="0" u="none" strike="noStrike">
                          <a:solidFill>
                            <a:srgbClr val="000000"/>
                          </a:solidFill>
                          <a:effectLst/>
                          <a:latin typeface="IBM Plex Sans" panose="020B0503050203000203" pitchFamily="34" charset="0"/>
                        </a:rPr>
                        <a:t> </a:t>
                      </a:r>
                    </a:p>
                  </a:txBody>
                  <a:tcPr marL="9525" marR="9525" marT="952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b="0" i="0" u="none" strike="noStrike">
                          <a:solidFill>
                            <a:srgbClr val="000000"/>
                          </a:solidFill>
                          <a:effectLst/>
                          <a:latin typeface="IBM Plex Sans" panose="020B0503050203000203" pitchFamily="34" charset="0"/>
                        </a:rPr>
                        <a:t> </a:t>
                      </a:r>
                    </a:p>
                  </a:txBody>
                  <a:tcPr marL="9525" marR="9525" marT="952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B w="3175" cap="flat" cmpd="sng" algn="ctr">
                      <a:solidFill>
                        <a:schemeClr val="tx1"/>
                      </a:solidFill>
                      <a:prstDash val="solid"/>
                      <a:round/>
                      <a:headEnd type="none" w="med" len="med"/>
                      <a:tailEnd type="none" w="med" len="med"/>
                    </a:lnB>
                  </a:tcPr>
                </a:tc>
                <a:tc>
                  <a:txBody>
                    <a:bodyPr/>
                    <a:lstStyle/>
                    <a:p>
                      <a:pPr algn="l" fontAlgn="t">
                        <a:buNone/>
                      </a:pPr>
                      <a:r>
                        <a:rPr lang="en-IN" sz="1000" b="0" i="0" u="none" strike="noStrike">
                          <a:solidFill>
                            <a:srgbClr val="000000"/>
                          </a:solidFill>
                          <a:effectLst/>
                          <a:latin typeface="IBM Plex Sans" panose="020B0503050203000203" pitchFamily="34" charset="0"/>
                        </a:rPr>
                        <a:t> </a:t>
                      </a:r>
                    </a:p>
                  </a:txBody>
                  <a:tcPr marL="9525" marR="9525" marT="952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b="0" i="0" u="none" strike="noStrike">
                          <a:solidFill>
                            <a:srgbClr val="000000"/>
                          </a:solidFill>
                          <a:effectLst/>
                          <a:latin typeface="IBM Plex Sans" panose="020B0503050203000203" pitchFamily="34" charset="0"/>
                        </a:rPr>
                        <a:t> </a:t>
                      </a:r>
                    </a:p>
                  </a:txBody>
                  <a:tcPr marL="9525" marR="9525" marT="952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00212354"/>
                  </a:ext>
                </a:extLst>
              </a:tr>
              <a:tr h="994715">
                <a:tc vMerge="1">
                  <a:txBody>
                    <a:bodyPr/>
                    <a:lstStyle/>
                    <a:p>
                      <a:endParaRPr/>
                    </a:p>
                  </a:txBody>
                  <a:tcPr marL="1759" marR="1759" marT="1759" marB="0" anchor="b"/>
                </a:tc>
                <a:tc>
                  <a:txBody>
                    <a:bodyPr/>
                    <a:lstStyle/>
                    <a:p>
                      <a:pPr algn="l" fontAlgn="ctr">
                        <a:buNone/>
                      </a:pPr>
                      <a:r>
                        <a:rPr lang="en-IN" sz="1000" b="0" i="0" u="none" strike="noStrike">
                          <a:solidFill>
                            <a:srgbClr val="000000"/>
                          </a:solidFill>
                          <a:effectLst/>
                          <a:latin typeface="IBM Plex Sans" panose="020B0503050203000203" pitchFamily="34" charset="0"/>
                        </a:rPr>
                        <a:t>Disaster scenarios recovery timescales- How quickly does recovery takes to perform/ down time acceptable</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b="0" i="0" u="none" strike="noStrike">
                          <a:solidFill>
                            <a:srgbClr val="000000"/>
                          </a:solidFill>
                          <a:effectLst/>
                          <a:latin typeface="IBM Plex Sans" panose="020B0503050203000203" pitchFamily="34" charset="0"/>
                        </a:rPr>
                        <a:t>RPO and RTO need to be specified in hours.  RPO refers to the maximum duration of data loss that can be tolerated. RTO refers to the time required to resume operations after a disaster, typically from the Disaster Recovery (DR) site.</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b="0" i="0" u="none" strike="noStrike">
                          <a:solidFill>
                            <a:srgbClr val="000000"/>
                          </a:solidFill>
                          <a:effectLst/>
                          <a:latin typeface="IBM Plex Sans" panose="020B0503050203000203" pitchFamily="34" charset="0"/>
                        </a:rPr>
                        <a:t> </a:t>
                      </a:r>
                    </a:p>
                  </a:txBody>
                  <a:tcPr marL="9525" marR="9525" marT="952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b="0" i="0" u="none" strike="noStrike">
                          <a:solidFill>
                            <a:srgbClr val="000000"/>
                          </a:solidFill>
                          <a:effectLst/>
                          <a:latin typeface="IBM Plex Sans" panose="020B0503050203000203" pitchFamily="34" charset="0"/>
                        </a:rPr>
                        <a:t>RPO = 15 minutes</a:t>
                      </a:r>
                      <a:br>
                        <a:rPr lang="en-IN" sz="1000" b="0" i="0" u="none" strike="noStrike">
                          <a:solidFill>
                            <a:srgbClr val="000000"/>
                          </a:solidFill>
                          <a:effectLst/>
                          <a:latin typeface="IBM Plex Sans" panose="020B0503050203000203" pitchFamily="34" charset="0"/>
                        </a:rPr>
                      </a:br>
                      <a:r>
                        <a:rPr lang="en-IN" sz="1000" b="0" i="0" u="none" strike="noStrike">
                          <a:solidFill>
                            <a:srgbClr val="000000"/>
                          </a:solidFill>
                          <a:effectLst/>
                          <a:latin typeface="IBM Plex Sans" panose="020B0503050203000203" pitchFamily="34" charset="0"/>
                        </a:rPr>
                        <a:t>RTO = 1 hour</a:t>
                      </a:r>
                    </a:p>
                  </a:txBody>
                  <a:tcPr marL="9525" marR="9525" marT="952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b="0" i="0" u="none" strike="noStrike">
                          <a:solidFill>
                            <a:srgbClr val="000000"/>
                          </a:solidFill>
                          <a:effectLst/>
                          <a:latin typeface="IBM Plex Sans" panose="020B0503050203000203" pitchFamily="34" charset="0"/>
                        </a:rPr>
                        <a:t> </a:t>
                      </a:r>
                    </a:p>
                  </a:txBody>
                  <a:tcPr marL="9525" marR="9525" marT="952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b="0" i="0" u="none" strike="noStrike">
                          <a:solidFill>
                            <a:srgbClr val="000000"/>
                          </a:solidFill>
                          <a:effectLst/>
                          <a:latin typeface="IBM Plex Sans" panose="020B0503050203000203" pitchFamily="34" charset="0"/>
                        </a:rPr>
                        <a:t> </a:t>
                      </a:r>
                    </a:p>
                  </a:txBody>
                  <a:tcPr marL="9525" marR="9525" marT="952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36339952"/>
                  </a:ext>
                </a:extLst>
              </a:tr>
              <a:tr h="174332">
                <a:tc vMerge="1">
                  <a:txBody>
                    <a:bodyPr/>
                    <a:lstStyle/>
                    <a:p>
                      <a:endParaRPr/>
                    </a:p>
                  </a:txBody>
                  <a:tcPr marL="1759" marR="1759" marT="1759" marB="0" anchor="b"/>
                </a:tc>
                <a:tc>
                  <a:txBody>
                    <a:bodyPr/>
                    <a:lstStyle/>
                    <a:p>
                      <a:pPr algn="l" fontAlgn="ctr">
                        <a:buNone/>
                      </a:pPr>
                      <a:r>
                        <a:rPr lang="en-IN" sz="1000" b="0" i="0" u="none" strike="noStrike">
                          <a:solidFill>
                            <a:srgbClr val="000000"/>
                          </a:solidFill>
                          <a:effectLst/>
                          <a:latin typeface="IBM Plex Sans" panose="020B0503050203000203" pitchFamily="34" charset="0"/>
                        </a:rPr>
                        <a:t>Backup frequency for disaster recovery - How often is backup taken for</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b="0" i="0" u="none" strike="noStrike">
                          <a:solidFill>
                            <a:srgbClr val="000000"/>
                          </a:solidFill>
                          <a:effectLst/>
                          <a:latin typeface="IBM Plex Sans" panose="020B0503050203000203" pitchFamily="34" charset="0"/>
                        </a:rPr>
                        <a:t>Once a day or twice a day.</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b="0" i="0" u="none" strike="noStrike">
                          <a:solidFill>
                            <a:srgbClr val="000000"/>
                          </a:solidFill>
                          <a:effectLst/>
                          <a:latin typeface="IBM Plex Sans" panose="020B0503050203000203" pitchFamily="34" charset="0"/>
                        </a:rPr>
                        <a:t> </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b="0" i="0" u="none" strike="noStrike">
                          <a:solidFill>
                            <a:srgbClr val="000000"/>
                          </a:solidFill>
                          <a:effectLst/>
                          <a:latin typeface="IBM Plex Sans" panose="020B0503050203000203" pitchFamily="34" charset="0"/>
                        </a:rPr>
                        <a:t> </a:t>
                      </a:r>
                    </a:p>
                  </a:txBody>
                  <a:tcPr marL="9525" marR="9525" marT="952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t">
                        <a:buNone/>
                      </a:pPr>
                      <a:r>
                        <a:rPr lang="en-IN" sz="1000" b="0" i="0" u="none" strike="noStrike">
                          <a:solidFill>
                            <a:srgbClr val="000000"/>
                          </a:solidFill>
                          <a:effectLst/>
                          <a:latin typeface="IBM Plex Sans" panose="020B0503050203000203" pitchFamily="34" charset="0"/>
                        </a:rPr>
                        <a:t> </a:t>
                      </a:r>
                    </a:p>
                  </a:txBody>
                  <a:tcPr marL="9525" marR="9525" marT="952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b="0" i="0" u="none" strike="noStrike">
                          <a:solidFill>
                            <a:srgbClr val="000000"/>
                          </a:solidFill>
                          <a:effectLst/>
                          <a:latin typeface="IBM Plex Sans" panose="020B0503050203000203" pitchFamily="34" charset="0"/>
                        </a:rPr>
                        <a:t> </a:t>
                      </a:r>
                    </a:p>
                  </a:txBody>
                  <a:tcPr marL="9525" marR="9525" marT="952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3925136"/>
                  </a:ext>
                </a:extLst>
              </a:tr>
              <a:tr h="174332">
                <a:tc vMerge="1">
                  <a:txBody>
                    <a:bodyPr/>
                    <a:lstStyle/>
                    <a:p>
                      <a:endParaRPr/>
                    </a:p>
                  </a:txBody>
                  <a:tcPr marL="1759" marR="1759" marT="1759" marB="0" anchor="b"/>
                </a:tc>
                <a:tc>
                  <a:txBody>
                    <a:bodyPr/>
                    <a:lstStyle/>
                    <a:p>
                      <a:pPr algn="l" fontAlgn="ctr">
                        <a:buNone/>
                      </a:pPr>
                      <a:r>
                        <a:rPr lang="en-IN" sz="1000" b="0" i="0" u="none" strike="noStrike">
                          <a:solidFill>
                            <a:srgbClr val="000000"/>
                          </a:solidFill>
                          <a:effectLst/>
                          <a:latin typeface="IBM Plex Sans" panose="020B0503050203000203" pitchFamily="34" charset="0"/>
                        </a:rPr>
                        <a:t> - Database  (like Weekly full and Daily/ hourly transactional)</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b="0" i="0" u="none" strike="noStrike">
                          <a:solidFill>
                            <a:srgbClr val="000000"/>
                          </a:solidFill>
                          <a:effectLst/>
                          <a:latin typeface="IBM Plex Sans" panose="020B0503050203000203" pitchFamily="34" charset="0"/>
                        </a:rPr>
                        <a:t>Daily full + hourly log backups</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b="0" i="0" u="none" strike="noStrike">
                          <a:solidFill>
                            <a:srgbClr val="000000"/>
                          </a:solidFill>
                          <a:effectLst/>
                          <a:latin typeface="IBM Plex Sans" panose="020B0503050203000203" pitchFamily="34" charset="0"/>
                        </a:rPr>
                        <a:t> </a:t>
                      </a:r>
                    </a:p>
                  </a:txBody>
                  <a:tcPr marL="9525" marR="9525" marT="952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b="0" i="0" u="none" strike="noStrike">
                          <a:solidFill>
                            <a:srgbClr val="000000"/>
                          </a:solidFill>
                          <a:effectLst/>
                          <a:latin typeface="IBM Plex Sans" panose="020B0503050203000203" pitchFamily="34" charset="0"/>
                        </a:rPr>
                        <a:t> </a:t>
                      </a:r>
                    </a:p>
                  </a:txBody>
                  <a:tcPr marL="9525" marR="9525" marT="952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t">
                        <a:buNone/>
                      </a:pPr>
                      <a:r>
                        <a:rPr lang="en-IN" sz="1000" b="0" i="0" u="none" strike="noStrike">
                          <a:solidFill>
                            <a:srgbClr val="000000"/>
                          </a:solidFill>
                          <a:effectLst/>
                          <a:latin typeface="IBM Plex Sans" panose="020B0503050203000203" pitchFamily="34" charset="0"/>
                        </a:rPr>
                        <a:t> </a:t>
                      </a:r>
                    </a:p>
                  </a:txBody>
                  <a:tcPr marL="9525" marR="9525" marT="952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b="0" i="0" u="none" strike="noStrike">
                          <a:solidFill>
                            <a:srgbClr val="000000"/>
                          </a:solidFill>
                          <a:effectLst/>
                          <a:latin typeface="IBM Plex Sans" panose="020B0503050203000203" pitchFamily="34" charset="0"/>
                        </a:rPr>
                        <a:t> </a:t>
                      </a:r>
                    </a:p>
                  </a:txBody>
                  <a:tcPr marL="9525" marR="9525" marT="952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37712023"/>
                  </a:ext>
                </a:extLst>
              </a:tr>
              <a:tr h="174332">
                <a:tc vMerge="1">
                  <a:txBody>
                    <a:bodyPr/>
                    <a:lstStyle/>
                    <a:p>
                      <a:endParaRPr/>
                    </a:p>
                  </a:txBody>
                  <a:tcPr marL="1759" marR="1759" marT="1759" marB="0" anchor="b"/>
                </a:tc>
                <a:tc>
                  <a:txBody>
                    <a:bodyPr/>
                    <a:lstStyle/>
                    <a:p>
                      <a:pPr algn="l" fontAlgn="ctr">
                        <a:buNone/>
                      </a:pPr>
                      <a:r>
                        <a:rPr lang="en-IN" sz="1000" b="0" i="0" u="none" strike="noStrike">
                          <a:solidFill>
                            <a:srgbClr val="000000"/>
                          </a:solidFill>
                          <a:effectLst/>
                          <a:latin typeface="IBM Plex Sans" panose="020B0503050203000203" pitchFamily="34" charset="0"/>
                        </a:rPr>
                        <a:t> -  Folders and files</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b="0" i="0" u="none" strike="noStrike">
                          <a:solidFill>
                            <a:srgbClr val="000000"/>
                          </a:solidFill>
                          <a:effectLst/>
                          <a:latin typeface="IBM Plex Sans" panose="020B0503050203000203" pitchFamily="34" charset="0"/>
                        </a:rPr>
                        <a:t>Daily</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b="0" i="0" u="none" strike="noStrike">
                          <a:solidFill>
                            <a:srgbClr val="000000"/>
                          </a:solidFill>
                          <a:effectLst/>
                          <a:latin typeface="IBM Plex Sans" panose="020B0503050203000203" pitchFamily="34" charset="0"/>
                        </a:rPr>
                        <a:t> </a:t>
                      </a:r>
                    </a:p>
                  </a:txBody>
                  <a:tcPr marL="9525" marR="9525" marT="952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b="0" i="0" u="none" strike="noStrike">
                          <a:solidFill>
                            <a:srgbClr val="000000"/>
                          </a:solidFill>
                          <a:effectLst/>
                          <a:latin typeface="IBM Plex Sans" panose="020B0503050203000203" pitchFamily="34" charset="0"/>
                        </a:rPr>
                        <a:t> </a:t>
                      </a:r>
                    </a:p>
                  </a:txBody>
                  <a:tcPr marL="9525" marR="9525" marT="952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t">
                        <a:buNone/>
                      </a:pPr>
                      <a:r>
                        <a:rPr lang="en-IN" sz="1000" b="0" i="0" u="none" strike="noStrike">
                          <a:solidFill>
                            <a:srgbClr val="000000"/>
                          </a:solidFill>
                          <a:effectLst/>
                          <a:latin typeface="IBM Plex Sans" panose="020B0503050203000203" pitchFamily="34" charset="0"/>
                        </a:rPr>
                        <a:t> </a:t>
                      </a:r>
                    </a:p>
                  </a:txBody>
                  <a:tcPr marL="9525" marR="9525" marT="952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b="0" i="0" u="none" strike="noStrike">
                          <a:solidFill>
                            <a:srgbClr val="000000"/>
                          </a:solidFill>
                          <a:effectLst/>
                          <a:latin typeface="IBM Plex Sans" panose="020B0503050203000203" pitchFamily="34" charset="0"/>
                        </a:rPr>
                        <a:t> </a:t>
                      </a:r>
                    </a:p>
                  </a:txBody>
                  <a:tcPr marL="9525" marR="9525" marT="952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9528197"/>
                  </a:ext>
                </a:extLst>
              </a:tr>
              <a:tr h="174332">
                <a:tc vMerge="1">
                  <a:txBody>
                    <a:bodyPr/>
                    <a:lstStyle/>
                    <a:p>
                      <a:endParaRPr/>
                    </a:p>
                  </a:txBody>
                  <a:tcPr marL="1759" marR="1759" marT="1759" marB="0" anchor="b"/>
                </a:tc>
                <a:tc>
                  <a:txBody>
                    <a:bodyPr/>
                    <a:lstStyle/>
                    <a:p>
                      <a:pPr algn="l" fontAlgn="ctr">
                        <a:buNone/>
                      </a:pPr>
                      <a:r>
                        <a:rPr lang="en-IN" sz="1000" b="0" i="0" u="none" strike="noStrike">
                          <a:solidFill>
                            <a:srgbClr val="000000"/>
                          </a:solidFill>
                          <a:effectLst/>
                          <a:latin typeface="IBM Plex Sans" panose="020B0503050203000203" pitchFamily="34" charset="0"/>
                        </a:rPr>
                        <a:t> -  Set-up data</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b="0" i="0" u="none" strike="noStrike">
                          <a:solidFill>
                            <a:srgbClr val="000000"/>
                          </a:solidFill>
                          <a:effectLst/>
                          <a:latin typeface="IBM Plex Sans" panose="020B0503050203000203" pitchFamily="34" charset="0"/>
                        </a:rPr>
                        <a:t>Once a day or twice a day.</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b="0" i="0" u="none" strike="noStrike">
                          <a:solidFill>
                            <a:srgbClr val="000000"/>
                          </a:solidFill>
                          <a:effectLst/>
                          <a:latin typeface="IBM Plex Sans" panose="020B0503050203000203" pitchFamily="34" charset="0"/>
                        </a:rPr>
                        <a:t> </a:t>
                      </a:r>
                    </a:p>
                  </a:txBody>
                  <a:tcPr marL="9525" marR="9525" marT="952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b="0" i="0" u="none" strike="noStrike">
                          <a:solidFill>
                            <a:srgbClr val="000000"/>
                          </a:solidFill>
                          <a:effectLst/>
                          <a:latin typeface="IBM Plex Sans" panose="020B0503050203000203" pitchFamily="34" charset="0"/>
                        </a:rPr>
                        <a:t> </a:t>
                      </a:r>
                    </a:p>
                  </a:txBody>
                  <a:tcPr marL="9525" marR="9525" marT="952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t">
                        <a:buNone/>
                      </a:pPr>
                      <a:r>
                        <a:rPr lang="en-IN" sz="1000" b="0" i="0" u="none" strike="noStrike">
                          <a:solidFill>
                            <a:srgbClr val="000000"/>
                          </a:solidFill>
                          <a:effectLst/>
                          <a:latin typeface="IBM Plex Sans" panose="020B0503050203000203" pitchFamily="34" charset="0"/>
                        </a:rPr>
                        <a:t> </a:t>
                      </a:r>
                    </a:p>
                  </a:txBody>
                  <a:tcPr marL="9525" marR="9525" marT="952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b="0" i="0" u="none" strike="noStrike">
                          <a:solidFill>
                            <a:srgbClr val="000000"/>
                          </a:solidFill>
                          <a:effectLst/>
                          <a:latin typeface="IBM Plex Sans" panose="020B0503050203000203" pitchFamily="34" charset="0"/>
                        </a:rPr>
                        <a:t> </a:t>
                      </a:r>
                    </a:p>
                  </a:txBody>
                  <a:tcPr marL="9525" marR="9525" marT="952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5107067"/>
                  </a:ext>
                </a:extLst>
              </a:tr>
              <a:tr h="174332">
                <a:tc vMerge="1">
                  <a:txBody>
                    <a:bodyPr/>
                    <a:lstStyle/>
                    <a:p>
                      <a:endParaRPr/>
                    </a:p>
                  </a:txBody>
                  <a:tcPr marL="1759" marR="1759" marT="1759" marB="0" anchor="b"/>
                </a:tc>
                <a:tc>
                  <a:txBody>
                    <a:bodyPr/>
                    <a:lstStyle/>
                    <a:p>
                      <a:pPr algn="l" fontAlgn="ctr">
                        <a:buNone/>
                      </a:pPr>
                      <a:r>
                        <a:rPr lang="en-IN" sz="1000" b="0" i="0" u="none" strike="noStrike">
                          <a:solidFill>
                            <a:srgbClr val="000000"/>
                          </a:solidFill>
                          <a:effectLst/>
                          <a:latin typeface="IBM Plex Sans" panose="020B0503050203000203" pitchFamily="34" charset="0"/>
                        </a:rPr>
                        <a:t> -  System state</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b="0" i="0" u="none" strike="noStrike">
                          <a:solidFill>
                            <a:srgbClr val="000000"/>
                          </a:solidFill>
                          <a:effectLst/>
                          <a:latin typeface="IBM Plex Sans" panose="020B0503050203000203" pitchFamily="34" charset="0"/>
                        </a:rPr>
                        <a:t>Daily</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b="0" i="0" u="none" strike="noStrike">
                          <a:solidFill>
                            <a:srgbClr val="000000"/>
                          </a:solidFill>
                          <a:effectLst/>
                          <a:latin typeface="IBM Plex Sans" panose="020B0503050203000203" pitchFamily="34" charset="0"/>
                        </a:rPr>
                        <a:t> </a:t>
                      </a:r>
                    </a:p>
                  </a:txBody>
                  <a:tcPr marL="9525" marR="9525" marT="952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b="0" i="0" u="none" strike="noStrike">
                          <a:solidFill>
                            <a:srgbClr val="000000"/>
                          </a:solidFill>
                          <a:effectLst/>
                          <a:latin typeface="IBM Plex Sans" panose="020B0503050203000203" pitchFamily="34" charset="0"/>
                        </a:rPr>
                        <a:t> </a:t>
                      </a:r>
                    </a:p>
                  </a:txBody>
                  <a:tcPr marL="9525" marR="9525" marT="952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t">
                        <a:buNone/>
                      </a:pPr>
                      <a:r>
                        <a:rPr lang="en-IN" sz="1000" b="0" i="0" u="none" strike="noStrike">
                          <a:solidFill>
                            <a:srgbClr val="000000"/>
                          </a:solidFill>
                          <a:effectLst/>
                          <a:latin typeface="IBM Plex Sans" panose="020B0503050203000203" pitchFamily="34" charset="0"/>
                        </a:rPr>
                        <a:t> </a:t>
                      </a:r>
                    </a:p>
                  </a:txBody>
                  <a:tcPr marL="9525" marR="9525" marT="952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b="0" i="0" u="none" strike="noStrike">
                          <a:solidFill>
                            <a:srgbClr val="000000"/>
                          </a:solidFill>
                          <a:effectLst/>
                          <a:latin typeface="IBM Plex Sans" panose="020B0503050203000203" pitchFamily="34" charset="0"/>
                        </a:rPr>
                        <a:t> </a:t>
                      </a:r>
                    </a:p>
                  </a:txBody>
                  <a:tcPr marL="9525" marR="9525" marT="952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6269865"/>
                  </a:ext>
                </a:extLst>
              </a:tr>
              <a:tr h="174332">
                <a:tc vMerge="1">
                  <a:txBody>
                    <a:bodyPr/>
                    <a:lstStyle/>
                    <a:p>
                      <a:endParaRPr/>
                    </a:p>
                  </a:txBody>
                  <a:tcPr marL="1759" marR="1759" marT="1759" marB="0" anchor="b"/>
                </a:tc>
                <a:tc>
                  <a:txBody>
                    <a:bodyPr/>
                    <a:lstStyle/>
                    <a:p>
                      <a:pPr algn="l" fontAlgn="ctr">
                        <a:buNone/>
                      </a:pPr>
                      <a:r>
                        <a:rPr lang="en-IN" sz="1000" b="0" i="0" u="none" strike="noStrike">
                          <a:solidFill>
                            <a:srgbClr val="000000"/>
                          </a:solidFill>
                          <a:effectLst/>
                          <a:latin typeface="IBM Plex Sans" panose="020B0503050203000203" pitchFamily="34" charset="0"/>
                        </a:rPr>
                        <a:t> -  Code</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b="0" i="0" u="none" strike="noStrike">
                          <a:solidFill>
                            <a:srgbClr val="000000"/>
                          </a:solidFill>
                          <a:effectLst/>
                          <a:latin typeface="IBM Plex Sans" panose="020B0503050203000203" pitchFamily="34" charset="0"/>
                        </a:rPr>
                        <a:t>On every release</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b="0" i="0" u="none" strike="noStrike">
                          <a:solidFill>
                            <a:srgbClr val="000000"/>
                          </a:solidFill>
                          <a:effectLst/>
                          <a:latin typeface="IBM Plex Sans" panose="020B0503050203000203" pitchFamily="34" charset="0"/>
                        </a:rPr>
                        <a:t> </a:t>
                      </a:r>
                    </a:p>
                  </a:txBody>
                  <a:tcPr marL="9525" marR="9525" marT="952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b="0" i="0" u="none" strike="noStrike">
                          <a:solidFill>
                            <a:srgbClr val="000000"/>
                          </a:solidFill>
                          <a:effectLst/>
                          <a:latin typeface="IBM Plex Sans" panose="020B0503050203000203" pitchFamily="34" charset="0"/>
                        </a:rPr>
                        <a:t> </a:t>
                      </a:r>
                    </a:p>
                  </a:txBody>
                  <a:tcPr marL="9525" marR="9525" marT="952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t">
                        <a:buNone/>
                      </a:pPr>
                      <a:r>
                        <a:rPr lang="en-IN" sz="1000" b="0" i="0" u="none" strike="noStrike">
                          <a:solidFill>
                            <a:srgbClr val="000000"/>
                          </a:solidFill>
                          <a:effectLst/>
                          <a:latin typeface="IBM Plex Sans" panose="020B0503050203000203" pitchFamily="34" charset="0"/>
                        </a:rPr>
                        <a:t> </a:t>
                      </a:r>
                    </a:p>
                  </a:txBody>
                  <a:tcPr marL="9525" marR="9525" marT="952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b="0" i="0" u="none" strike="noStrike">
                          <a:solidFill>
                            <a:srgbClr val="000000"/>
                          </a:solidFill>
                          <a:effectLst/>
                          <a:latin typeface="IBM Plex Sans" panose="020B0503050203000203" pitchFamily="34" charset="0"/>
                        </a:rPr>
                        <a:t> </a:t>
                      </a:r>
                    </a:p>
                  </a:txBody>
                  <a:tcPr marL="9525" marR="9525" marT="952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73110450"/>
                  </a:ext>
                </a:extLst>
              </a:tr>
              <a:tr h="174332">
                <a:tc vMerge="1">
                  <a:txBody>
                    <a:bodyPr/>
                    <a:lstStyle/>
                    <a:p>
                      <a:endParaRPr dirty="0"/>
                    </a:p>
                  </a:txBody>
                  <a:tcPr marL="1759" marR="1759" marT="1759" marB="0" anchor="b"/>
                </a:tc>
                <a:tc>
                  <a:txBody>
                    <a:bodyPr/>
                    <a:lstStyle/>
                    <a:p>
                      <a:pPr algn="l" fontAlgn="ctr">
                        <a:buNone/>
                      </a:pPr>
                      <a:r>
                        <a:rPr lang="en-IN" sz="1000" b="0" i="0" u="none" strike="noStrike">
                          <a:solidFill>
                            <a:srgbClr val="000000"/>
                          </a:solidFill>
                          <a:effectLst/>
                          <a:latin typeface="IBM Plex Sans" panose="020B0503050203000203" pitchFamily="34" charset="0"/>
                        </a:rPr>
                        <a:t>Database purging / archival policy</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en-IN" sz="1000" b="0" i="0" u="none" strike="noStrike">
                          <a:solidFill>
                            <a:srgbClr val="000000"/>
                          </a:solidFill>
                          <a:effectLst/>
                          <a:latin typeface="IBM Plex Sans" panose="020B0503050203000203" pitchFamily="34" charset="0"/>
                        </a:rPr>
                        <a:t>Years or months.</a:t>
                      </a: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b="0" i="0" u="none" strike="noStrike">
                          <a:solidFill>
                            <a:srgbClr val="000000"/>
                          </a:solidFill>
                          <a:effectLst/>
                          <a:latin typeface="IBM Plex Sans" panose="020B0503050203000203" pitchFamily="34" charset="0"/>
                        </a:rPr>
                        <a:t> </a:t>
                      </a:r>
                    </a:p>
                  </a:txBody>
                  <a:tcPr marL="9525" marR="9525" marT="952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t">
                        <a:buNone/>
                      </a:pPr>
                      <a:r>
                        <a:rPr lang="en-IN" sz="1000" b="0" i="0" u="none" strike="noStrike">
                          <a:solidFill>
                            <a:srgbClr val="000000"/>
                          </a:solidFill>
                          <a:effectLst/>
                          <a:latin typeface="IBM Plex Sans" panose="020B0503050203000203" pitchFamily="34" charset="0"/>
                        </a:rPr>
                        <a:t> </a:t>
                      </a:r>
                    </a:p>
                  </a:txBody>
                  <a:tcPr marL="9525" marR="9525" marT="952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t">
                        <a:buNone/>
                      </a:pPr>
                      <a:r>
                        <a:rPr lang="en-IN" sz="1000" b="0" i="0" u="none" strike="noStrike">
                          <a:solidFill>
                            <a:srgbClr val="000000"/>
                          </a:solidFill>
                          <a:effectLst/>
                          <a:latin typeface="IBM Plex Sans" panose="020B0503050203000203" pitchFamily="34" charset="0"/>
                        </a:rPr>
                        <a:t> </a:t>
                      </a:r>
                    </a:p>
                  </a:txBody>
                  <a:tcPr marL="9525" marR="9525" marT="952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t">
                        <a:buNone/>
                      </a:pPr>
                      <a:r>
                        <a:rPr lang="en-IN" sz="1000" b="0" i="0" u="none" strike="noStrike" dirty="0">
                          <a:solidFill>
                            <a:srgbClr val="000000"/>
                          </a:solidFill>
                          <a:effectLst/>
                          <a:latin typeface="IBM Plex Sans" panose="020B0503050203000203" pitchFamily="34" charset="0"/>
                        </a:rPr>
                        <a:t> </a:t>
                      </a:r>
                    </a:p>
                  </a:txBody>
                  <a:tcPr marL="9525" marR="9525" marT="952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94178635"/>
                  </a:ext>
                </a:extLst>
              </a:tr>
            </a:tbl>
          </a:graphicData>
        </a:graphic>
      </p:graphicFrame>
    </p:spTree>
    <p:extLst>
      <p:ext uri="{BB962C8B-B14F-4D97-AF65-F5344CB8AC3E}">
        <p14:creationId xmlns:p14="http://schemas.microsoft.com/office/powerpoint/2010/main" val="27352862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A3727F0-A728-D602-00DB-621F3FA17AF1}"/>
              </a:ext>
            </a:extLst>
          </p:cNvPr>
          <p:cNvSpPr>
            <a:spLocks noGrp="1"/>
          </p:cNvSpPr>
          <p:nvPr>
            <p:ph type="sldNum" sz="quarter" idx="12"/>
          </p:nvPr>
        </p:nvSpPr>
        <p:spPr/>
        <p:txBody>
          <a:bodyPr/>
          <a:lstStyle/>
          <a:p>
            <a:fld id="{682A9D49-871F-5640-BCE3-20634A9797B6}" type="slidenum">
              <a:rPr lang="en-US" smtClean="0"/>
              <a:t>23</a:t>
            </a:fld>
            <a:endParaRPr lang="en-US"/>
          </a:p>
        </p:txBody>
      </p:sp>
      <p:graphicFrame>
        <p:nvGraphicFramePr>
          <p:cNvPr id="3" name="Table 2">
            <a:extLst>
              <a:ext uri="{FF2B5EF4-FFF2-40B4-BE49-F238E27FC236}">
                <a16:creationId xmlns:a16="http://schemas.microsoft.com/office/drawing/2014/main" id="{2BADE66C-4469-BC1B-E21A-DC5785CFFDF8}"/>
              </a:ext>
            </a:extLst>
          </p:cNvPr>
          <p:cNvGraphicFramePr>
            <a:graphicFrameLocks noGrp="1"/>
          </p:cNvGraphicFramePr>
          <p:nvPr>
            <p:extLst>
              <p:ext uri="{D42A27DB-BD31-4B8C-83A1-F6EECF244321}">
                <p14:modId xmlns:p14="http://schemas.microsoft.com/office/powerpoint/2010/main" val="2124736421"/>
              </p:ext>
            </p:extLst>
          </p:nvPr>
        </p:nvGraphicFramePr>
        <p:xfrm>
          <a:off x="369850" y="1037908"/>
          <a:ext cx="11520000" cy="5040002"/>
        </p:xfrm>
        <a:graphic>
          <a:graphicData uri="http://schemas.openxmlformats.org/drawingml/2006/table">
            <a:tbl>
              <a:tblPr firstRow="1">
                <a:tableStyleId>{B301B821-A1FF-4177-AEE7-76D212191A09}</a:tableStyleId>
              </a:tblPr>
              <a:tblGrid>
                <a:gridCol w="1645714">
                  <a:extLst>
                    <a:ext uri="{9D8B030D-6E8A-4147-A177-3AD203B41FA5}">
                      <a16:colId xmlns:a16="http://schemas.microsoft.com/office/drawing/2014/main" val="2740400171"/>
                    </a:ext>
                  </a:extLst>
                </a:gridCol>
                <a:gridCol w="2400079">
                  <a:extLst>
                    <a:ext uri="{9D8B030D-6E8A-4147-A177-3AD203B41FA5}">
                      <a16:colId xmlns:a16="http://schemas.microsoft.com/office/drawing/2014/main" val="1596251730"/>
                    </a:ext>
                  </a:extLst>
                </a:gridCol>
                <a:gridCol w="2167390">
                  <a:extLst>
                    <a:ext uri="{9D8B030D-6E8A-4147-A177-3AD203B41FA5}">
                      <a16:colId xmlns:a16="http://schemas.microsoft.com/office/drawing/2014/main" val="4258499693"/>
                    </a:ext>
                  </a:extLst>
                </a:gridCol>
                <a:gridCol w="1720776">
                  <a:extLst>
                    <a:ext uri="{9D8B030D-6E8A-4147-A177-3AD203B41FA5}">
                      <a16:colId xmlns:a16="http://schemas.microsoft.com/office/drawing/2014/main" val="2182820618"/>
                    </a:ext>
                  </a:extLst>
                </a:gridCol>
                <a:gridCol w="1063991">
                  <a:extLst>
                    <a:ext uri="{9D8B030D-6E8A-4147-A177-3AD203B41FA5}">
                      <a16:colId xmlns:a16="http://schemas.microsoft.com/office/drawing/2014/main" val="396541086"/>
                    </a:ext>
                  </a:extLst>
                </a:gridCol>
                <a:gridCol w="1510605">
                  <a:extLst>
                    <a:ext uri="{9D8B030D-6E8A-4147-A177-3AD203B41FA5}">
                      <a16:colId xmlns:a16="http://schemas.microsoft.com/office/drawing/2014/main" val="3258866073"/>
                    </a:ext>
                  </a:extLst>
                </a:gridCol>
                <a:gridCol w="1011445">
                  <a:extLst>
                    <a:ext uri="{9D8B030D-6E8A-4147-A177-3AD203B41FA5}">
                      <a16:colId xmlns:a16="http://schemas.microsoft.com/office/drawing/2014/main" val="1126908554"/>
                    </a:ext>
                  </a:extLst>
                </a:gridCol>
              </a:tblGrid>
              <a:tr h="163560">
                <a:tc>
                  <a:txBody>
                    <a:bodyPr/>
                    <a:lstStyle/>
                    <a:p>
                      <a:pPr algn="ctr" fontAlgn="ctr">
                        <a:buNone/>
                      </a:pPr>
                      <a:r>
                        <a:rPr lang="en-IN" sz="1000" u="none" strike="noStrike" dirty="0">
                          <a:effectLst/>
                        </a:rPr>
                        <a:t>Category</a:t>
                      </a:r>
                      <a:endParaRPr lang="en-IN" sz="1000" b="1" i="0" u="none" strike="noStrike" dirty="0">
                        <a:solidFill>
                          <a:srgbClr val="000000"/>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en-IN" sz="1000" u="none" strike="noStrike" dirty="0">
                          <a:effectLst/>
                        </a:rPr>
                        <a:t>Non-functional requirement</a:t>
                      </a:r>
                      <a:endParaRPr lang="en-IN" sz="1000" b="1" i="0" u="none" strike="noStrike" dirty="0">
                        <a:solidFill>
                          <a:srgbClr val="000000"/>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en-IN" sz="1000" u="none" strike="noStrike" dirty="0">
                          <a:effectLst/>
                        </a:rPr>
                        <a:t>Category</a:t>
                      </a:r>
                      <a:endParaRPr lang="en-IN" sz="1000" b="1" i="0" u="none" strike="noStrike" dirty="0">
                        <a:solidFill>
                          <a:srgbClr val="000000"/>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rtl="0" fontAlgn="ctr">
                        <a:buNone/>
                      </a:pPr>
                      <a:r>
                        <a:rPr lang="en-IN" sz="1000" u="none" strike="noStrike" dirty="0">
                          <a:effectLst/>
                          <a:latin typeface="IBM Plex Sans" panose="020B0503050203000203" pitchFamily="34" charset="0"/>
                        </a:rPr>
                        <a:t>Current</a:t>
                      </a:r>
                      <a:endParaRPr lang="en-IN" sz="1000" b="1" i="0" u="none" strike="noStrike" dirty="0">
                        <a:solidFill>
                          <a:srgbClr val="000000"/>
                        </a:solidFill>
                        <a:effectLst/>
                        <a:latin typeface="IBM Plex Sans" panose="020B0503050203000203" pitchFamily="34" charset="0"/>
                      </a:endParaRPr>
                    </a:p>
                  </a:txBody>
                  <a:tcPr marL="2773" marR="2773" marT="277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rtl="0" fontAlgn="ctr">
                        <a:buNone/>
                      </a:pPr>
                      <a:r>
                        <a:rPr lang="en-IN" sz="1000" u="none" strike="noStrike" dirty="0">
                          <a:effectLst/>
                          <a:latin typeface="IBM Plex Sans" panose="020B0503050203000203" pitchFamily="34" charset="0"/>
                        </a:rPr>
                        <a:t>Future in 1 year</a:t>
                      </a:r>
                      <a:endParaRPr lang="en-IN" sz="1000" b="1" i="0" u="none" strike="noStrike" dirty="0">
                        <a:solidFill>
                          <a:srgbClr val="000000"/>
                        </a:solidFill>
                        <a:effectLst/>
                        <a:latin typeface="IBM Plex Sans" panose="020B0503050203000203" pitchFamily="34" charset="0"/>
                      </a:endParaRPr>
                    </a:p>
                  </a:txBody>
                  <a:tcPr marL="2773" marR="2773" marT="277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rtl="0" fontAlgn="ctr">
                        <a:buNone/>
                      </a:pPr>
                      <a:r>
                        <a:rPr lang="en-IN" sz="1000" u="none" strike="noStrike" dirty="0">
                          <a:effectLst/>
                          <a:latin typeface="IBM Plex Sans" panose="020B0503050203000203" pitchFamily="34" charset="0"/>
                        </a:rPr>
                        <a:t>In 2 years</a:t>
                      </a:r>
                      <a:endParaRPr lang="en-IN" sz="1000" b="1" i="0" u="none" strike="noStrike" dirty="0">
                        <a:solidFill>
                          <a:srgbClr val="000000"/>
                        </a:solidFill>
                        <a:effectLst/>
                        <a:latin typeface="IBM Plex Sans" panose="020B0503050203000203" pitchFamily="34" charset="0"/>
                      </a:endParaRPr>
                    </a:p>
                  </a:txBody>
                  <a:tcPr marL="2773" marR="2773" marT="277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rtl="0" fontAlgn="ctr">
                        <a:buNone/>
                      </a:pPr>
                      <a:r>
                        <a:rPr lang="en-IN" sz="1000" u="none" strike="noStrike" dirty="0">
                          <a:effectLst/>
                          <a:latin typeface="IBM Plex Sans" panose="020B0503050203000203" pitchFamily="34" charset="0"/>
                        </a:rPr>
                        <a:t>In 3 years</a:t>
                      </a:r>
                      <a:endParaRPr lang="en-IN" sz="1000" b="1" i="0" u="none" strike="noStrike" dirty="0">
                        <a:solidFill>
                          <a:srgbClr val="000000"/>
                        </a:solidFill>
                        <a:effectLst/>
                        <a:latin typeface="IBM Plex Sans" panose="020B0503050203000203" pitchFamily="34" charset="0"/>
                      </a:endParaRPr>
                    </a:p>
                  </a:txBody>
                  <a:tcPr marL="2773" marR="2773" marT="277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62692365"/>
                  </a:ext>
                </a:extLst>
              </a:tr>
              <a:tr h="484834">
                <a:tc rowSpan="3">
                  <a:txBody>
                    <a:bodyPr/>
                    <a:lstStyle/>
                    <a:p>
                      <a:pPr algn="l" rtl="0" fontAlgn="ctr">
                        <a:buNone/>
                      </a:pPr>
                      <a:r>
                        <a:rPr lang="en-IN" sz="1000" b="1" u="none" strike="noStrike" dirty="0">
                          <a:effectLst/>
                          <a:latin typeface="IBM Plex Sans" panose="020B0503050203000203" pitchFamily="34" charset="0"/>
                        </a:rPr>
                        <a:t>Regulatory Compliance </a:t>
                      </a:r>
                    </a:p>
                    <a:p>
                      <a:pPr algn="l" rtl="0" fontAlgn="ctr">
                        <a:buNone/>
                      </a:pPr>
                      <a:r>
                        <a:rPr lang="en-IN" sz="1000" b="1" u="none" strike="noStrike" dirty="0">
                          <a:effectLst/>
                          <a:latin typeface="IBM Plex Sans" panose="020B0503050203000203" pitchFamily="34" charset="0"/>
                        </a:rPr>
                        <a:t> </a:t>
                      </a:r>
                    </a:p>
                    <a:p>
                      <a:pPr algn="l" rtl="0" fontAlgn="ctr">
                        <a:buNone/>
                      </a:pPr>
                      <a:r>
                        <a:rPr lang="en-IN" sz="1000" b="1" u="none" strike="noStrike" dirty="0">
                          <a:effectLst/>
                          <a:latin typeface="IBM Plex Sans" panose="020B0503050203000203" pitchFamily="34" charset="0"/>
                        </a:rPr>
                        <a:t> </a:t>
                      </a:r>
                      <a:endParaRPr lang="en-IN" sz="1000" b="1" i="0" u="none" strike="noStrike" dirty="0">
                        <a:solidFill>
                          <a:srgbClr val="000000"/>
                        </a:solidFill>
                        <a:effectLst/>
                        <a:latin typeface="IBM Plex Sans" panose="020B0503050203000203" pitchFamily="34" charset="0"/>
                      </a:endParaRPr>
                    </a:p>
                  </a:txBody>
                  <a:tcPr marL="2773" marR="2773" marT="277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ctr">
                        <a:buNone/>
                      </a:pPr>
                      <a:r>
                        <a:rPr lang="en-IN" sz="1000" u="none" strike="noStrike" dirty="0">
                          <a:effectLst/>
                          <a:latin typeface="IBM Plex Sans" panose="020B0503050203000203" pitchFamily="34" charset="0"/>
                        </a:rPr>
                        <a:t>Financial regulations (based on geography): SEBI (India), SEC / FINRA (US), GDPR / DPDP Act?</a:t>
                      </a:r>
                      <a:endParaRPr lang="en-IN" sz="1000" b="0" i="0" u="none" strike="noStrike" dirty="0">
                        <a:solidFill>
                          <a:srgbClr val="000000"/>
                        </a:solidFill>
                        <a:effectLst/>
                        <a:latin typeface="IBM Plex Sans" panose="020B0503050203000203" pitchFamily="34" charset="0"/>
                      </a:endParaRPr>
                    </a:p>
                  </a:txBody>
                  <a:tcPr marL="2773" marR="2773" marT="277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rtl="0" fontAlgn="b">
                        <a:buNone/>
                      </a:pPr>
                      <a:r>
                        <a:rPr lang="en-IN" sz="1000" u="none" strike="noStrike" dirty="0">
                          <a:effectLst/>
                          <a:latin typeface="IBM Plex Sans" panose="020B0503050203000203" pitchFamily="34" charset="0"/>
                        </a:rPr>
                        <a:t>Yes</a:t>
                      </a:r>
                      <a:endParaRPr lang="en-IN" sz="1000" b="0" i="0" u="none" strike="noStrike" dirty="0">
                        <a:solidFill>
                          <a:srgbClr val="000000"/>
                        </a:solidFill>
                        <a:effectLst/>
                        <a:latin typeface="IBM Plex Sans" panose="020B0503050203000203" pitchFamily="34" charset="0"/>
                      </a:endParaRPr>
                    </a:p>
                  </a:txBody>
                  <a:tcPr marL="2773" marR="2773" marT="2773"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rtl="0" fontAlgn="b">
                        <a:buNone/>
                      </a:pPr>
                      <a:r>
                        <a:rPr lang="en-IN" sz="1000" u="none" strike="noStrike" dirty="0">
                          <a:effectLst/>
                          <a:latin typeface="IBM Plex Sans" panose="020B0503050203000203" pitchFamily="34" charset="0"/>
                        </a:rPr>
                        <a:t> </a:t>
                      </a:r>
                      <a:endParaRPr lang="en-IN" sz="1000" b="0" i="0" u="none" strike="noStrike" dirty="0">
                        <a:solidFill>
                          <a:srgbClr val="000000"/>
                        </a:solidFill>
                        <a:effectLst/>
                        <a:latin typeface="IBM Plex Sans" panose="020B0503050203000203" pitchFamily="34" charset="0"/>
                      </a:endParaRPr>
                    </a:p>
                  </a:txBody>
                  <a:tcPr marL="2773" marR="2773" marT="2773"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rtl="0" fontAlgn="b">
                        <a:buNone/>
                      </a:pPr>
                      <a:r>
                        <a:rPr lang="en-IN" sz="1000" u="none" strike="noStrike" dirty="0">
                          <a:effectLst/>
                          <a:latin typeface="IBM Plex Sans" panose="020B0503050203000203" pitchFamily="34" charset="0"/>
                        </a:rPr>
                        <a:t> </a:t>
                      </a:r>
                      <a:endParaRPr lang="en-IN" sz="1000" b="0" i="0" u="none" strike="noStrike" dirty="0">
                        <a:solidFill>
                          <a:srgbClr val="000000"/>
                        </a:solidFill>
                        <a:effectLst/>
                        <a:latin typeface="IBM Plex Sans" panose="020B0503050203000203" pitchFamily="34" charset="0"/>
                      </a:endParaRPr>
                    </a:p>
                  </a:txBody>
                  <a:tcPr marL="2773" marR="2773" marT="2773"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rtl="0" fontAlgn="b">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2773" marR="2773" marT="2773"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b">
                        <a:buNone/>
                      </a:pPr>
                      <a:r>
                        <a:rPr lang="en-IN" sz="1000" u="none" strike="noStrike" dirty="0">
                          <a:effectLst/>
                          <a:latin typeface="IBM Plex Sans" panose="020B0503050203000203" pitchFamily="34" charset="0"/>
                        </a:rPr>
                        <a:t> </a:t>
                      </a:r>
                      <a:endParaRPr lang="en-IN" sz="1000" b="0" i="0" u="none" strike="noStrike" dirty="0">
                        <a:solidFill>
                          <a:srgbClr val="000000"/>
                        </a:solidFill>
                        <a:effectLst/>
                        <a:latin typeface="IBM Plex Sans" panose="020B0503050203000203" pitchFamily="34" charset="0"/>
                      </a:endParaRPr>
                    </a:p>
                  </a:txBody>
                  <a:tcPr marL="2773" marR="2773" marT="2773"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41589651"/>
                  </a:ext>
                </a:extLst>
              </a:tr>
              <a:tr h="175305">
                <a:tc vMerge="1">
                  <a:txBody>
                    <a:bodyPr/>
                    <a:lstStyle/>
                    <a:p>
                      <a:endParaRPr/>
                    </a:p>
                  </a:txBody>
                  <a:tcPr marL="2773" marR="2773" marT="277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ctr">
                        <a:buNone/>
                      </a:pPr>
                      <a:r>
                        <a:rPr lang="en-IN" sz="1000" u="none" strike="noStrike" dirty="0">
                          <a:effectLst/>
                          <a:latin typeface="IBM Plex Sans" panose="020B0503050203000203" pitchFamily="34" charset="0"/>
                        </a:rPr>
                        <a:t>Data retention &amp; archival rules</a:t>
                      </a:r>
                      <a:endParaRPr lang="en-IN" sz="1000" b="0" i="0" u="none" strike="noStrike" dirty="0">
                        <a:solidFill>
                          <a:srgbClr val="000000"/>
                        </a:solidFill>
                        <a:effectLst/>
                        <a:latin typeface="IBM Plex Sans" panose="020B0503050203000203" pitchFamily="34" charset="0"/>
                      </a:endParaRPr>
                    </a:p>
                  </a:txBody>
                  <a:tcPr marL="2773" marR="2773" marT="277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rtl="0" fontAlgn="b">
                        <a:buNone/>
                      </a:pPr>
                      <a:r>
                        <a:rPr lang="en-IN" sz="1000" u="none" strike="noStrike" dirty="0">
                          <a:effectLst/>
                          <a:latin typeface="IBM Plex Sans" panose="020B0503050203000203" pitchFamily="34" charset="0"/>
                        </a:rPr>
                        <a:t>Yes</a:t>
                      </a:r>
                      <a:endParaRPr lang="en-IN" sz="1000" b="0" i="0" u="none" strike="noStrike" dirty="0">
                        <a:solidFill>
                          <a:srgbClr val="0000FF"/>
                        </a:solidFill>
                        <a:effectLst/>
                        <a:latin typeface="IBM Plex Sans" panose="020B0503050203000203" pitchFamily="34" charset="0"/>
                      </a:endParaRPr>
                    </a:p>
                  </a:txBody>
                  <a:tcPr marL="2773" marR="2773" marT="2773"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rtl="0" fontAlgn="b">
                        <a:buNone/>
                      </a:pPr>
                      <a:r>
                        <a:rPr lang="en-IN" sz="1000" u="none" strike="noStrike" dirty="0">
                          <a:effectLst/>
                          <a:latin typeface="IBM Plex Sans" panose="020B0503050203000203" pitchFamily="34" charset="0"/>
                        </a:rPr>
                        <a:t> </a:t>
                      </a:r>
                      <a:endParaRPr lang="en-IN" sz="1000" b="0" i="0" u="none" strike="noStrike" dirty="0">
                        <a:solidFill>
                          <a:srgbClr val="000000"/>
                        </a:solidFill>
                        <a:effectLst/>
                        <a:latin typeface="IBM Plex Sans" panose="020B0503050203000203" pitchFamily="34" charset="0"/>
                      </a:endParaRPr>
                    </a:p>
                  </a:txBody>
                  <a:tcPr marL="2773" marR="2773" marT="2773"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rtl="0" fontAlgn="b">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2773" marR="2773" marT="2773"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rtl="0" fontAlgn="b">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2773" marR="2773" marT="2773"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b">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2773" marR="2773" marT="2773"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5833215"/>
                  </a:ext>
                </a:extLst>
              </a:tr>
              <a:tr h="175305">
                <a:tc vMerge="1">
                  <a:txBody>
                    <a:bodyPr/>
                    <a:lstStyle/>
                    <a:p>
                      <a:endParaRPr dirty="0"/>
                    </a:p>
                  </a:txBody>
                  <a:tcPr marL="2773" marR="2773" marT="277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t">
                        <a:buNone/>
                      </a:pPr>
                      <a:r>
                        <a:rPr lang="en-IN" sz="1000" u="none" strike="noStrike" dirty="0">
                          <a:effectLst/>
                          <a:latin typeface="IBM Plex Sans" panose="020B0503050203000203" pitchFamily="34" charset="0"/>
                        </a:rPr>
                        <a:t>Audit log retention period</a:t>
                      </a:r>
                      <a:endParaRPr lang="en-IN" sz="1000" b="0" i="0" u="none" strike="noStrike" dirty="0">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rtl="0" fontAlgn="b">
                        <a:buNone/>
                      </a:pPr>
                      <a:r>
                        <a:rPr lang="en-IN" sz="1000" u="none" strike="noStrike" dirty="0">
                          <a:effectLst/>
                          <a:latin typeface="IBM Plex Sans" panose="020B0503050203000203" pitchFamily="34" charset="0"/>
                        </a:rPr>
                        <a:t>Years or months. TBD</a:t>
                      </a:r>
                      <a:endParaRPr lang="en-IN" sz="1000" b="0" i="0" u="none" strike="noStrike" dirty="0">
                        <a:solidFill>
                          <a:srgbClr val="000000"/>
                        </a:solidFill>
                        <a:effectLst/>
                        <a:latin typeface="IBM Plex Sans" panose="020B0503050203000203" pitchFamily="34" charset="0"/>
                      </a:endParaRPr>
                    </a:p>
                  </a:txBody>
                  <a:tcPr marL="2773" marR="2773" marT="2773"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rtl="0"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rtl="0"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rtl="0"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70634748"/>
                  </a:ext>
                </a:extLst>
              </a:tr>
              <a:tr h="324197">
                <a:tc rowSpan="2">
                  <a:txBody>
                    <a:bodyPr/>
                    <a:lstStyle/>
                    <a:p>
                      <a:pPr algn="l" rtl="0" fontAlgn="ctr">
                        <a:buNone/>
                      </a:pPr>
                      <a:r>
                        <a:rPr lang="en-IN" sz="1000" b="1" u="none" strike="noStrike" dirty="0">
                          <a:effectLst/>
                          <a:latin typeface="IBM Plex Sans" panose="020B0503050203000203" pitchFamily="34" charset="0"/>
                        </a:rPr>
                        <a:t>Document Management</a:t>
                      </a:r>
                    </a:p>
                    <a:p>
                      <a:pPr algn="l" rtl="0" fontAlgn="ctr">
                        <a:buNone/>
                      </a:pPr>
                      <a:r>
                        <a:rPr lang="en-IN" sz="1000" b="1" u="none" strike="noStrike" dirty="0">
                          <a:effectLst/>
                          <a:latin typeface="IBM Plex Sans" panose="020B0503050203000203" pitchFamily="34" charset="0"/>
                        </a:rPr>
                        <a:t> </a:t>
                      </a:r>
                      <a:endParaRPr lang="en-IN" sz="1000" b="1" i="0" u="none" strike="noStrike" dirty="0">
                        <a:solidFill>
                          <a:srgbClr val="000000"/>
                        </a:solidFill>
                        <a:effectLst/>
                        <a:latin typeface="IBM Plex Sans" panose="020B0503050203000203" pitchFamily="34" charset="0"/>
                      </a:endParaRPr>
                    </a:p>
                  </a:txBody>
                  <a:tcPr marL="2773" marR="2773" marT="277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ctr">
                        <a:buNone/>
                      </a:pPr>
                      <a:r>
                        <a:rPr lang="en-IN" sz="1000" u="none" strike="noStrike">
                          <a:effectLst/>
                          <a:latin typeface="IBM Plex Sans" panose="020B0503050203000203" pitchFamily="34" charset="0"/>
                        </a:rPr>
                        <a:t>Maximum number of documents per month</a:t>
                      </a:r>
                      <a:endParaRPr lang="en-IN" sz="1000" b="0" i="0" u="none" strike="noStrike">
                        <a:solidFill>
                          <a:srgbClr val="000000"/>
                        </a:solidFill>
                        <a:effectLst/>
                        <a:latin typeface="IBM Plex Sans" panose="020B0503050203000203" pitchFamily="34" charset="0"/>
                      </a:endParaRPr>
                    </a:p>
                  </a:txBody>
                  <a:tcPr marL="2773" marR="2773" marT="277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rtl="0" fontAlgn="t">
                        <a:buNone/>
                      </a:pPr>
                      <a:r>
                        <a:rPr lang="en-IN" sz="1000" u="none" strike="noStrike" dirty="0">
                          <a:effectLst/>
                          <a:latin typeface="IBM Plex Sans" panose="020B0503050203000203" pitchFamily="34" charset="0"/>
                        </a:rPr>
                        <a:t> </a:t>
                      </a:r>
                      <a:endParaRPr lang="en-IN" sz="1000" b="0" i="0" u="none" strike="noStrike" dirty="0">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rtl="0" fontAlgn="t">
                        <a:buNone/>
                      </a:pPr>
                      <a:r>
                        <a:rPr lang="en-IN" sz="1000" u="none" strike="noStrike" dirty="0">
                          <a:effectLst/>
                          <a:latin typeface="IBM Plex Sans" panose="020B0503050203000203" pitchFamily="34" charset="0"/>
                        </a:rPr>
                        <a:t>500</a:t>
                      </a:r>
                      <a:endParaRPr lang="en-IN" sz="1000" b="0" i="0" u="none" strike="noStrike" dirty="0">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rtl="0" fontAlgn="t">
                        <a:buNone/>
                      </a:pPr>
                      <a:r>
                        <a:rPr lang="en-IN" sz="1000" u="none" strike="noStrike" dirty="0">
                          <a:effectLst/>
                          <a:latin typeface="IBM Plex Sans" panose="020B0503050203000203" pitchFamily="34" charset="0"/>
                        </a:rPr>
                        <a:t>550</a:t>
                      </a:r>
                      <a:endParaRPr lang="en-IN" sz="1000" b="0" i="0" u="none" strike="noStrike" dirty="0">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rtl="0" fontAlgn="t">
                        <a:buNone/>
                      </a:pPr>
                      <a:r>
                        <a:rPr lang="en-IN" sz="1000" u="none" strike="noStrike">
                          <a:effectLst/>
                          <a:latin typeface="IBM Plex Sans" panose="020B0503050203000203" pitchFamily="34" charset="0"/>
                        </a:rPr>
                        <a:t>600</a:t>
                      </a:r>
                      <a:endParaRPr lang="en-IN" sz="1000" b="0" i="0" u="none" strike="noStrike">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rtl="0" fontAlgn="t">
                        <a:buNone/>
                      </a:pPr>
                      <a:r>
                        <a:rPr lang="en-IN" sz="1000" u="none" strike="noStrike">
                          <a:effectLst/>
                          <a:latin typeface="IBM Plex Sans" panose="020B0503050203000203" pitchFamily="34" charset="0"/>
                        </a:rPr>
                        <a:t>650</a:t>
                      </a:r>
                      <a:endParaRPr lang="en-IN" sz="1000" b="0" i="0" u="none" strike="noStrike">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197657"/>
                  </a:ext>
                </a:extLst>
              </a:tr>
              <a:tr h="175305">
                <a:tc vMerge="1">
                  <a:txBody>
                    <a:bodyPr/>
                    <a:lstStyle/>
                    <a:p>
                      <a:endParaRPr dirty="0"/>
                    </a:p>
                  </a:txBody>
                  <a:tcPr marL="2773" marR="2773" marT="277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ctr">
                        <a:buNone/>
                      </a:pPr>
                      <a:r>
                        <a:rPr lang="en-IN" sz="1000" u="none" strike="noStrike" dirty="0">
                          <a:effectLst/>
                          <a:latin typeface="IBM Plex Sans" panose="020B0503050203000203" pitchFamily="34" charset="0"/>
                        </a:rPr>
                        <a:t>Average size of each document</a:t>
                      </a:r>
                      <a:endParaRPr lang="en-IN" sz="1000" b="0" i="0" u="none" strike="noStrike" dirty="0">
                        <a:solidFill>
                          <a:srgbClr val="000000"/>
                        </a:solidFill>
                        <a:effectLst/>
                        <a:latin typeface="IBM Plex Sans" panose="020B0503050203000203" pitchFamily="34" charset="0"/>
                      </a:endParaRPr>
                    </a:p>
                  </a:txBody>
                  <a:tcPr marL="2773" marR="2773" marT="277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rtl="0" fontAlgn="t">
                        <a:buNone/>
                      </a:pPr>
                      <a:r>
                        <a:rPr lang="en-IN" sz="1000" u="none" strike="noStrike" dirty="0">
                          <a:effectLst/>
                          <a:latin typeface="IBM Plex Sans" panose="020B0503050203000203" pitchFamily="34" charset="0"/>
                        </a:rPr>
                        <a:t> </a:t>
                      </a:r>
                      <a:endParaRPr lang="en-IN" sz="1000" b="0" i="0" u="none" strike="noStrike" dirty="0">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rtl="0" fontAlgn="t">
                        <a:buNone/>
                      </a:pPr>
                      <a:r>
                        <a:rPr lang="en-IN" sz="1000" u="none" strike="noStrike">
                          <a:effectLst/>
                          <a:latin typeface="IBM Plex Sans" panose="020B0503050203000203" pitchFamily="34" charset="0"/>
                        </a:rPr>
                        <a:t>1-5 MB</a:t>
                      </a:r>
                      <a:endParaRPr lang="en-IN" sz="1000" b="0" i="0" u="none" strike="noStrike">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rtl="0" fontAlgn="t">
                        <a:buNone/>
                      </a:pPr>
                      <a:r>
                        <a:rPr lang="en-IN" sz="1000" u="none" strike="noStrike" dirty="0">
                          <a:effectLst/>
                          <a:latin typeface="IBM Plex Sans" panose="020B0503050203000203" pitchFamily="34" charset="0"/>
                        </a:rPr>
                        <a:t>1-5 MB</a:t>
                      </a:r>
                      <a:endParaRPr lang="en-IN" sz="1000" b="0" i="0" u="none" strike="noStrike" dirty="0">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rtl="0" fontAlgn="t">
                        <a:buNone/>
                      </a:pPr>
                      <a:r>
                        <a:rPr lang="en-IN" sz="1000" u="none" strike="noStrike">
                          <a:effectLst/>
                          <a:latin typeface="IBM Plex Sans" panose="020B0503050203000203" pitchFamily="34" charset="0"/>
                        </a:rPr>
                        <a:t>1-5 MB</a:t>
                      </a:r>
                      <a:endParaRPr lang="en-IN" sz="1000" b="0" i="0" u="none" strike="noStrike">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rtl="0" fontAlgn="t">
                        <a:buNone/>
                      </a:pPr>
                      <a:r>
                        <a:rPr lang="en-IN" sz="1000" u="none" strike="noStrike">
                          <a:effectLst/>
                          <a:latin typeface="IBM Plex Sans" panose="020B0503050203000203" pitchFamily="34" charset="0"/>
                        </a:rPr>
                        <a:t>1-5 MB</a:t>
                      </a:r>
                      <a:endParaRPr lang="en-IN" sz="1000" b="0" i="0" u="none" strike="noStrike">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48399457"/>
                  </a:ext>
                </a:extLst>
              </a:tr>
              <a:tr h="249323">
                <a:tc rowSpan="16">
                  <a:txBody>
                    <a:bodyPr/>
                    <a:lstStyle/>
                    <a:p>
                      <a:pPr algn="l" rtl="0" fontAlgn="ctr">
                        <a:buNone/>
                      </a:pPr>
                      <a:r>
                        <a:rPr lang="en-IN" sz="1000" b="1" u="none" strike="noStrike" dirty="0">
                          <a:effectLst/>
                          <a:latin typeface="IBM Plex Sans" panose="020B0503050203000203" pitchFamily="34" charset="0"/>
                        </a:rPr>
                        <a:t> User Experience</a:t>
                      </a:r>
                    </a:p>
                    <a:p>
                      <a:pPr algn="l" rtl="0" fontAlgn="ctr">
                        <a:buNone/>
                      </a:pPr>
                      <a:r>
                        <a:rPr lang="en-IN" sz="1000" b="1" u="none" strike="noStrike" dirty="0">
                          <a:effectLst/>
                          <a:latin typeface="IBM Plex Sans" panose="020B0503050203000203" pitchFamily="34" charset="0"/>
                        </a:rPr>
                        <a:t> </a:t>
                      </a:r>
                    </a:p>
                    <a:p>
                      <a:pPr algn="l" rtl="0" fontAlgn="ctr">
                        <a:buNone/>
                      </a:pPr>
                      <a:r>
                        <a:rPr lang="en-IN" sz="1000" b="1" u="none" strike="noStrike" dirty="0">
                          <a:effectLst/>
                          <a:latin typeface="IBM Plex Sans" panose="020B0503050203000203" pitchFamily="34" charset="0"/>
                        </a:rPr>
                        <a:t> </a:t>
                      </a:r>
                    </a:p>
                    <a:p>
                      <a:pPr algn="l" rtl="0" fontAlgn="ctr">
                        <a:buNone/>
                      </a:pPr>
                      <a:r>
                        <a:rPr lang="en-IN" sz="1000" b="1" u="none" strike="noStrike" dirty="0">
                          <a:effectLst/>
                          <a:latin typeface="IBM Plex Sans" panose="020B0503050203000203" pitchFamily="34" charset="0"/>
                        </a:rPr>
                        <a:t> </a:t>
                      </a:r>
                    </a:p>
                    <a:p>
                      <a:pPr algn="l" rtl="0" fontAlgn="ctr">
                        <a:buNone/>
                      </a:pPr>
                      <a:r>
                        <a:rPr lang="en-IN" sz="1000" b="1" u="none" strike="noStrike" dirty="0">
                          <a:effectLst/>
                          <a:latin typeface="IBM Plex Sans" panose="020B0503050203000203" pitchFamily="34" charset="0"/>
                        </a:rPr>
                        <a:t> </a:t>
                      </a:r>
                    </a:p>
                    <a:p>
                      <a:pPr algn="l" rtl="0" fontAlgn="ctr">
                        <a:buNone/>
                      </a:pPr>
                      <a:r>
                        <a:rPr lang="en-IN" sz="1000" b="1" u="none" strike="noStrike" dirty="0">
                          <a:effectLst/>
                          <a:latin typeface="IBM Plex Sans" panose="020B0503050203000203" pitchFamily="34" charset="0"/>
                        </a:rPr>
                        <a:t> </a:t>
                      </a:r>
                    </a:p>
                    <a:p>
                      <a:pPr algn="l" rtl="0" fontAlgn="ctr">
                        <a:buNone/>
                      </a:pPr>
                      <a:r>
                        <a:rPr lang="en-IN" sz="1000" b="1" u="none" strike="noStrike" dirty="0">
                          <a:effectLst/>
                          <a:latin typeface="IBM Plex Sans" panose="020B0503050203000203" pitchFamily="34" charset="0"/>
                        </a:rPr>
                        <a:t> </a:t>
                      </a:r>
                    </a:p>
                    <a:p>
                      <a:pPr algn="l" rtl="0" fontAlgn="ctr">
                        <a:buNone/>
                      </a:pPr>
                      <a:r>
                        <a:rPr lang="en-IN" sz="1000" b="1" u="none" strike="noStrike" dirty="0">
                          <a:effectLst/>
                          <a:latin typeface="IBM Plex Sans" panose="020B0503050203000203" pitchFamily="34" charset="0"/>
                        </a:rPr>
                        <a:t> </a:t>
                      </a:r>
                    </a:p>
                    <a:p>
                      <a:pPr algn="l" rtl="0" fontAlgn="ctr">
                        <a:buNone/>
                      </a:pPr>
                      <a:r>
                        <a:rPr lang="en-IN" sz="1000" b="1" u="none" strike="noStrike" dirty="0">
                          <a:effectLst/>
                          <a:latin typeface="IBM Plex Sans" panose="020B0503050203000203" pitchFamily="34" charset="0"/>
                        </a:rPr>
                        <a:t> </a:t>
                      </a:r>
                    </a:p>
                    <a:p>
                      <a:pPr algn="l" rtl="0" fontAlgn="ctr">
                        <a:buNone/>
                      </a:pPr>
                      <a:r>
                        <a:rPr lang="en-IN" sz="1000" b="1" u="none" strike="noStrike" dirty="0">
                          <a:effectLst/>
                          <a:latin typeface="IBM Plex Sans" panose="020B0503050203000203" pitchFamily="34" charset="0"/>
                        </a:rPr>
                        <a:t> </a:t>
                      </a:r>
                    </a:p>
                    <a:p>
                      <a:pPr algn="l" rtl="0" fontAlgn="ctr">
                        <a:buNone/>
                      </a:pPr>
                      <a:r>
                        <a:rPr lang="en-IN" sz="1000" b="1" u="none" strike="noStrike" dirty="0">
                          <a:effectLst/>
                          <a:latin typeface="IBM Plex Sans" panose="020B0503050203000203" pitchFamily="34" charset="0"/>
                        </a:rPr>
                        <a:t> </a:t>
                      </a:r>
                    </a:p>
                    <a:p>
                      <a:pPr algn="l" rtl="0" fontAlgn="ctr">
                        <a:buNone/>
                      </a:pPr>
                      <a:r>
                        <a:rPr lang="en-IN" sz="1000" b="1" u="none" strike="noStrike" dirty="0">
                          <a:effectLst/>
                          <a:latin typeface="IBM Plex Sans" panose="020B0503050203000203" pitchFamily="34" charset="0"/>
                        </a:rPr>
                        <a:t> </a:t>
                      </a:r>
                    </a:p>
                    <a:p>
                      <a:pPr algn="l" rtl="0" fontAlgn="ctr">
                        <a:buNone/>
                      </a:pPr>
                      <a:r>
                        <a:rPr lang="en-IN" sz="1000" b="1" u="none" strike="noStrike" dirty="0">
                          <a:effectLst/>
                          <a:latin typeface="IBM Plex Sans" panose="020B0503050203000203" pitchFamily="34" charset="0"/>
                        </a:rPr>
                        <a:t> </a:t>
                      </a:r>
                    </a:p>
                    <a:p>
                      <a:pPr algn="l" rtl="0" fontAlgn="ctr">
                        <a:buNone/>
                      </a:pPr>
                      <a:r>
                        <a:rPr lang="en-IN" sz="1000" b="1" u="none" strike="noStrike" dirty="0">
                          <a:effectLst/>
                          <a:latin typeface="IBM Plex Sans" panose="020B0503050203000203" pitchFamily="34" charset="0"/>
                        </a:rPr>
                        <a:t> </a:t>
                      </a:r>
                    </a:p>
                    <a:p>
                      <a:pPr algn="l" rtl="0" fontAlgn="ctr">
                        <a:buNone/>
                      </a:pPr>
                      <a:r>
                        <a:rPr lang="en-IN" sz="1000" b="1" u="none" strike="noStrike" dirty="0">
                          <a:effectLst/>
                          <a:latin typeface="IBM Plex Sans" panose="020B0503050203000203" pitchFamily="34" charset="0"/>
                        </a:rPr>
                        <a:t> </a:t>
                      </a:r>
                    </a:p>
                    <a:p>
                      <a:pPr algn="l" rtl="0" fontAlgn="ctr">
                        <a:buNone/>
                      </a:pPr>
                      <a:r>
                        <a:rPr lang="en-IN" sz="1000" b="1" u="none" strike="noStrike" dirty="0">
                          <a:effectLst/>
                          <a:latin typeface="IBM Plex Sans" panose="020B0503050203000203" pitchFamily="34" charset="0"/>
                        </a:rPr>
                        <a:t> </a:t>
                      </a:r>
                      <a:endParaRPr lang="en-IN" sz="1000" b="1" i="0" u="none" strike="noStrike" dirty="0">
                        <a:solidFill>
                          <a:srgbClr val="FFFFFF"/>
                        </a:solidFill>
                        <a:effectLst/>
                        <a:latin typeface="IBM Plex Sans" panose="020B0503050203000203" pitchFamily="34" charset="0"/>
                      </a:endParaRPr>
                    </a:p>
                  </a:txBody>
                  <a:tcPr marL="2773" marR="2773" marT="277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ctr">
                        <a:buNone/>
                      </a:pPr>
                      <a:r>
                        <a:rPr lang="en-IN" sz="1000" u="none" strike="noStrike">
                          <a:effectLst/>
                          <a:latin typeface="IBM Plex Sans" panose="020B0503050203000203" pitchFamily="34" charset="0"/>
                        </a:rPr>
                        <a:t>Chrome (latest + last 2 versions)</a:t>
                      </a:r>
                      <a:endParaRPr lang="en-IN" sz="1000" b="0" i="0" u="none" strike="noStrike">
                        <a:solidFill>
                          <a:srgbClr val="000000"/>
                        </a:solidFill>
                        <a:effectLst/>
                        <a:latin typeface="IBM Plex Sans" panose="020B0503050203000203" pitchFamily="34" charset="0"/>
                      </a:endParaRPr>
                    </a:p>
                  </a:txBody>
                  <a:tcPr marL="2773" marR="2773" marT="277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rtl="0" fontAlgn="b">
                        <a:buNone/>
                      </a:pPr>
                      <a:r>
                        <a:rPr lang="en-IN" sz="1000" u="none" strike="noStrike" dirty="0">
                          <a:effectLst/>
                          <a:latin typeface="IBM Plex Sans" panose="020B0503050203000203" pitchFamily="34" charset="0"/>
                        </a:rPr>
                        <a:t>Yes</a:t>
                      </a:r>
                      <a:endParaRPr lang="en-IN" sz="1000" b="0" i="0" u="none" strike="noStrike" dirty="0">
                        <a:solidFill>
                          <a:srgbClr val="000000"/>
                        </a:solidFill>
                        <a:effectLst/>
                        <a:latin typeface="IBM Plex Sans" panose="020B0503050203000203" pitchFamily="34" charset="0"/>
                      </a:endParaRPr>
                    </a:p>
                  </a:txBody>
                  <a:tcPr marL="2773" marR="2773" marT="2773"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rtl="0" fontAlgn="b">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2773" marR="2773" marT="2773"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rtl="0" fontAlgn="b">
                        <a:buNone/>
                      </a:pPr>
                      <a:r>
                        <a:rPr lang="en-IN" sz="1000" u="none" strike="noStrike" dirty="0">
                          <a:effectLst/>
                          <a:latin typeface="IBM Plex Sans" panose="020B0503050203000203" pitchFamily="34" charset="0"/>
                        </a:rPr>
                        <a:t> </a:t>
                      </a:r>
                      <a:endParaRPr lang="en-IN" sz="1000" b="0" i="0" u="none" strike="noStrike" dirty="0">
                        <a:solidFill>
                          <a:srgbClr val="000000"/>
                        </a:solidFill>
                        <a:effectLst/>
                        <a:latin typeface="IBM Plex Sans" panose="020B0503050203000203" pitchFamily="34" charset="0"/>
                      </a:endParaRPr>
                    </a:p>
                  </a:txBody>
                  <a:tcPr marL="2773" marR="2773" marT="2773"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rtl="0" fontAlgn="b">
                        <a:buNone/>
                      </a:pPr>
                      <a:r>
                        <a:rPr lang="en-IN" sz="1000" u="none" strike="noStrike" dirty="0">
                          <a:effectLst/>
                          <a:latin typeface="IBM Plex Sans" panose="020B0503050203000203" pitchFamily="34" charset="0"/>
                        </a:rPr>
                        <a:t> </a:t>
                      </a:r>
                      <a:endParaRPr lang="en-IN" sz="1000" b="0" i="0" u="none" strike="noStrike" dirty="0">
                        <a:solidFill>
                          <a:srgbClr val="000000"/>
                        </a:solidFill>
                        <a:effectLst/>
                        <a:latin typeface="IBM Plex Sans" panose="020B0503050203000203" pitchFamily="34" charset="0"/>
                      </a:endParaRPr>
                    </a:p>
                  </a:txBody>
                  <a:tcPr marL="2773" marR="2773" marT="2773"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rtl="0" fontAlgn="b">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2773" marR="2773" marT="2773"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93635348"/>
                  </a:ext>
                </a:extLst>
              </a:tr>
              <a:tr h="324197">
                <a:tc vMerge="1">
                  <a:txBody>
                    <a:bodyPr/>
                    <a:lstStyle/>
                    <a:p>
                      <a:endParaRPr/>
                    </a:p>
                  </a:txBody>
                  <a:tcPr marL="2773" marR="2773" marT="277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ctr">
                        <a:buNone/>
                      </a:pPr>
                      <a:r>
                        <a:rPr lang="en-IN" sz="1000" u="none" strike="noStrike">
                          <a:effectLst/>
                          <a:latin typeface="IBM Plex Sans" panose="020B0503050203000203" pitchFamily="34" charset="0"/>
                        </a:rPr>
                        <a:t>Microsoft Edge (Chromium, latest + last 2)</a:t>
                      </a:r>
                      <a:endParaRPr lang="en-IN" sz="1000" b="0" i="0" u="none" strike="noStrike">
                        <a:solidFill>
                          <a:srgbClr val="000000"/>
                        </a:solidFill>
                        <a:effectLst/>
                        <a:latin typeface="IBM Plex Sans" panose="020B0503050203000203" pitchFamily="34" charset="0"/>
                      </a:endParaRPr>
                    </a:p>
                  </a:txBody>
                  <a:tcPr marL="2773" marR="2773" marT="277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rtl="0" fontAlgn="b">
                        <a:buNone/>
                      </a:pPr>
                      <a:r>
                        <a:rPr lang="en-IN" sz="1000" u="none" strike="noStrike" dirty="0">
                          <a:effectLst/>
                          <a:latin typeface="IBM Plex Sans" panose="020B0503050203000203" pitchFamily="34" charset="0"/>
                        </a:rPr>
                        <a:t>Yes</a:t>
                      </a:r>
                      <a:endParaRPr lang="en-IN" sz="1000" b="0" i="0" u="none" strike="noStrike" dirty="0">
                        <a:solidFill>
                          <a:srgbClr val="000000"/>
                        </a:solidFill>
                        <a:effectLst/>
                        <a:latin typeface="IBM Plex Sans" panose="020B0503050203000203" pitchFamily="34" charset="0"/>
                      </a:endParaRPr>
                    </a:p>
                  </a:txBody>
                  <a:tcPr marL="2773" marR="2773" marT="2773"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rtl="0" fontAlgn="b">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2773" marR="2773" marT="2773"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rtl="0" fontAlgn="b">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2773" marR="2773" marT="2773"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rtl="0" fontAlgn="b">
                        <a:buNone/>
                      </a:pPr>
                      <a:r>
                        <a:rPr lang="en-IN" sz="1000" u="none" strike="noStrike" dirty="0">
                          <a:effectLst/>
                          <a:latin typeface="IBM Plex Sans" panose="020B0503050203000203" pitchFamily="34" charset="0"/>
                        </a:rPr>
                        <a:t> </a:t>
                      </a:r>
                      <a:endParaRPr lang="en-IN" sz="1000" b="0" i="0" u="none" strike="noStrike" dirty="0">
                        <a:solidFill>
                          <a:srgbClr val="000000"/>
                        </a:solidFill>
                        <a:effectLst/>
                        <a:latin typeface="IBM Plex Sans" panose="020B0503050203000203" pitchFamily="34" charset="0"/>
                      </a:endParaRPr>
                    </a:p>
                  </a:txBody>
                  <a:tcPr marL="2773" marR="2773" marT="2773"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rtl="0" fontAlgn="b">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2773" marR="2773" marT="2773"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13411587"/>
                  </a:ext>
                </a:extLst>
              </a:tr>
              <a:tr h="249323">
                <a:tc vMerge="1">
                  <a:txBody>
                    <a:bodyPr/>
                    <a:lstStyle/>
                    <a:p>
                      <a:endParaRPr/>
                    </a:p>
                  </a:txBody>
                  <a:tcPr marL="2773" marR="2773" marT="277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ctr">
                        <a:buNone/>
                      </a:pPr>
                      <a:r>
                        <a:rPr lang="en-IN" sz="1000" u="none" strike="noStrike">
                          <a:effectLst/>
                          <a:latin typeface="IBM Plex Sans" panose="020B0503050203000203" pitchFamily="34" charset="0"/>
                        </a:rPr>
                        <a:t>Safari (macOS &amp; iOS – last 2 versions)</a:t>
                      </a:r>
                      <a:endParaRPr lang="en-IN" sz="1000" b="0" i="0" u="none" strike="noStrike">
                        <a:solidFill>
                          <a:srgbClr val="000000"/>
                        </a:solidFill>
                        <a:effectLst/>
                        <a:latin typeface="IBM Plex Sans" panose="020B0503050203000203" pitchFamily="34" charset="0"/>
                      </a:endParaRPr>
                    </a:p>
                  </a:txBody>
                  <a:tcPr marL="2773" marR="2773" marT="277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rtl="0" fontAlgn="b">
                        <a:buNone/>
                      </a:pPr>
                      <a:r>
                        <a:rPr lang="en-IN" sz="1000" u="none" strike="noStrike" dirty="0">
                          <a:effectLst/>
                          <a:latin typeface="IBM Plex Sans" panose="020B0503050203000203" pitchFamily="34" charset="0"/>
                        </a:rPr>
                        <a:t>Yes</a:t>
                      </a:r>
                      <a:endParaRPr lang="en-IN" sz="1000" b="0" i="0" u="none" strike="noStrike" dirty="0">
                        <a:solidFill>
                          <a:srgbClr val="000000"/>
                        </a:solidFill>
                        <a:effectLst/>
                        <a:latin typeface="IBM Plex Sans" panose="020B0503050203000203" pitchFamily="34" charset="0"/>
                      </a:endParaRPr>
                    </a:p>
                  </a:txBody>
                  <a:tcPr marL="2773" marR="2773" marT="2773"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t">
                        <a:buNone/>
                      </a:pPr>
                      <a:r>
                        <a:rPr lang="en-IN" sz="1000" u="none" strike="noStrike" dirty="0">
                          <a:effectLst/>
                          <a:latin typeface="IBM Plex Sans" panose="020B0503050203000203" pitchFamily="34" charset="0"/>
                        </a:rPr>
                        <a:t> </a:t>
                      </a:r>
                      <a:endParaRPr lang="en-IN" sz="1000" b="0" i="0" u="none" strike="noStrike" dirty="0">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t">
                        <a:buNone/>
                      </a:pPr>
                      <a:r>
                        <a:rPr lang="en-IN" sz="1000" u="none" strike="noStrike" dirty="0">
                          <a:effectLst/>
                          <a:latin typeface="IBM Plex Sans" panose="020B0503050203000203" pitchFamily="34" charset="0"/>
                        </a:rPr>
                        <a:t> </a:t>
                      </a:r>
                      <a:endParaRPr lang="en-IN" sz="1000" b="0" i="0" u="none" strike="noStrike" dirty="0">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09454765"/>
                  </a:ext>
                </a:extLst>
              </a:tr>
              <a:tr h="163560">
                <a:tc vMerge="1">
                  <a:txBody>
                    <a:bodyPr/>
                    <a:lstStyle/>
                    <a:p>
                      <a:endParaRPr/>
                    </a:p>
                  </a:txBody>
                  <a:tcPr marL="2773" marR="2773" marT="277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ctr">
                        <a:buNone/>
                      </a:pPr>
                      <a:r>
                        <a:rPr lang="en-IN" sz="1000" u="none" strike="noStrike">
                          <a:effectLst/>
                          <a:latin typeface="IBM Plex Sans" panose="020B0503050203000203" pitchFamily="34" charset="0"/>
                        </a:rPr>
                        <a:t>Desktop</a:t>
                      </a:r>
                      <a:endParaRPr lang="en-IN" sz="1000" b="0" i="0" u="none" strike="noStrike">
                        <a:solidFill>
                          <a:srgbClr val="000000"/>
                        </a:solidFill>
                        <a:effectLst/>
                        <a:latin typeface="IBM Plex Sans" panose="020B0503050203000203" pitchFamily="34" charset="0"/>
                      </a:endParaRPr>
                    </a:p>
                  </a:txBody>
                  <a:tcPr marL="2773" marR="2773" marT="277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rtl="0" fontAlgn="b">
                        <a:buNone/>
                      </a:pPr>
                      <a:r>
                        <a:rPr lang="en-IN" sz="1000" u="none" strike="noStrike" dirty="0">
                          <a:effectLst/>
                          <a:latin typeface="IBM Plex Sans" panose="020B0503050203000203" pitchFamily="34" charset="0"/>
                        </a:rPr>
                        <a:t>Yes</a:t>
                      </a:r>
                      <a:endParaRPr lang="en-IN" sz="1000" b="0" i="0" u="none" strike="noStrike" dirty="0">
                        <a:solidFill>
                          <a:srgbClr val="000000"/>
                        </a:solidFill>
                        <a:effectLst/>
                        <a:latin typeface="IBM Plex Sans" panose="020B0503050203000203" pitchFamily="34" charset="0"/>
                      </a:endParaRPr>
                    </a:p>
                  </a:txBody>
                  <a:tcPr marL="2773" marR="2773" marT="2773"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t">
                        <a:buNone/>
                      </a:pPr>
                      <a:r>
                        <a:rPr lang="en-IN" sz="1000" u="none" strike="noStrike" dirty="0">
                          <a:effectLst/>
                          <a:latin typeface="IBM Plex Sans" panose="020B0503050203000203" pitchFamily="34" charset="0"/>
                        </a:rPr>
                        <a:t> </a:t>
                      </a:r>
                      <a:endParaRPr lang="en-IN" sz="1000" b="0" i="0" u="none" strike="noStrike" dirty="0">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t">
                        <a:buNone/>
                      </a:pPr>
                      <a:r>
                        <a:rPr lang="en-IN" sz="1000" u="none" strike="noStrike" dirty="0">
                          <a:effectLst/>
                          <a:latin typeface="IBM Plex Sans" panose="020B0503050203000203" pitchFamily="34" charset="0"/>
                        </a:rPr>
                        <a:t> </a:t>
                      </a:r>
                      <a:endParaRPr lang="en-IN" sz="1000" b="0" i="0" u="none" strike="noStrike" dirty="0">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10818558"/>
                  </a:ext>
                </a:extLst>
              </a:tr>
              <a:tr h="163560">
                <a:tc vMerge="1">
                  <a:txBody>
                    <a:bodyPr/>
                    <a:lstStyle/>
                    <a:p>
                      <a:endParaRPr/>
                    </a:p>
                  </a:txBody>
                  <a:tcPr marL="2773" marR="2773" marT="277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ctr">
                        <a:buNone/>
                      </a:pPr>
                      <a:r>
                        <a:rPr lang="en-IN" sz="1000" u="none" strike="noStrike">
                          <a:effectLst/>
                          <a:latin typeface="IBM Plex Sans" panose="020B0503050203000203" pitchFamily="34" charset="0"/>
                        </a:rPr>
                        <a:t>Tablet</a:t>
                      </a:r>
                      <a:endParaRPr lang="en-IN" sz="1000" b="0" i="0" u="none" strike="noStrike">
                        <a:solidFill>
                          <a:srgbClr val="000000"/>
                        </a:solidFill>
                        <a:effectLst/>
                        <a:latin typeface="IBM Plex Sans" panose="020B0503050203000203" pitchFamily="34" charset="0"/>
                      </a:endParaRPr>
                    </a:p>
                  </a:txBody>
                  <a:tcPr marL="2773" marR="2773" marT="277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rtl="0" fontAlgn="b">
                        <a:buNone/>
                      </a:pPr>
                      <a:r>
                        <a:rPr lang="en-IN" sz="1000" u="none" strike="noStrike" dirty="0">
                          <a:effectLst/>
                          <a:latin typeface="IBM Plex Sans" panose="020B0503050203000203" pitchFamily="34" charset="0"/>
                        </a:rPr>
                        <a:t>Yes</a:t>
                      </a:r>
                      <a:endParaRPr lang="en-IN" sz="1000" b="0" i="0" u="none" strike="noStrike" dirty="0">
                        <a:solidFill>
                          <a:srgbClr val="000000"/>
                        </a:solidFill>
                        <a:effectLst/>
                        <a:latin typeface="IBM Plex Sans" panose="020B0503050203000203" pitchFamily="34" charset="0"/>
                      </a:endParaRPr>
                    </a:p>
                  </a:txBody>
                  <a:tcPr marL="2773" marR="2773" marT="2773"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t">
                        <a:buNone/>
                      </a:pPr>
                      <a:r>
                        <a:rPr lang="en-IN" sz="1000" u="none" strike="noStrike" dirty="0">
                          <a:effectLst/>
                          <a:latin typeface="IBM Plex Sans" panose="020B0503050203000203" pitchFamily="34" charset="0"/>
                        </a:rPr>
                        <a:t> </a:t>
                      </a:r>
                      <a:endParaRPr lang="en-IN" sz="1000" b="0" i="0" u="none" strike="noStrike" dirty="0">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t">
                        <a:buNone/>
                      </a:pPr>
                      <a:r>
                        <a:rPr lang="en-IN" sz="1000" u="none" strike="noStrike" dirty="0">
                          <a:effectLst/>
                          <a:latin typeface="IBM Plex Sans" panose="020B0503050203000203" pitchFamily="34" charset="0"/>
                        </a:rPr>
                        <a:t> </a:t>
                      </a:r>
                      <a:endParaRPr lang="en-IN" sz="1000" b="0" i="0" u="none" strike="noStrike" dirty="0">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47112174"/>
                  </a:ext>
                </a:extLst>
              </a:tr>
              <a:tr h="163560">
                <a:tc vMerge="1">
                  <a:txBody>
                    <a:bodyPr/>
                    <a:lstStyle/>
                    <a:p>
                      <a:endParaRPr/>
                    </a:p>
                  </a:txBody>
                  <a:tcPr marL="2773" marR="2773" marT="277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ctr">
                        <a:buNone/>
                      </a:pPr>
                      <a:r>
                        <a:rPr lang="en-IN" sz="1000" u="none" strike="noStrike">
                          <a:effectLst/>
                          <a:latin typeface="IBM Plex Sans" panose="020B0503050203000203" pitchFamily="34" charset="0"/>
                        </a:rPr>
                        <a:t>Mobile</a:t>
                      </a:r>
                      <a:endParaRPr lang="en-IN" sz="1000" b="0" i="0" u="none" strike="noStrike">
                        <a:solidFill>
                          <a:srgbClr val="000000"/>
                        </a:solidFill>
                        <a:effectLst/>
                        <a:latin typeface="IBM Plex Sans" panose="020B0503050203000203" pitchFamily="34" charset="0"/>
                      </a:endParaRPr>
                    </a:p>
                  </a:txBody>
                  <a:tcPr marL="2773" marR="2773" marT="277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rtl="0" fontAlgn="b">
                        <a:buNone/>
                      </a:pPr>
                      <a:r>
                        <a:rPr lang="en-IN" sz="1000" u="none" strike="noStrike" dirty="0">
                          <a:effectLst/>
                          <a:latin typeface="IBM Plex Sans" panose="020B0503050203000203" pitchFamily="34" charset="0"/>
                        </a:rPr>
                        <a:t>Yes</a:t>
                      </a:r>
                      <a:endParaRPr lang="en-IN" sz="1000" b="0" i="0" u="none" strike="noStrike" dirty="0">
                        <a:solidFill>
                          <a:srgbClr val="000000"/>
                        </a:solidFill>
                        <a:effectLst/>
                        <a:latin typeface="IBM Plex Sans" panose="020B0503050203000203" pitchFamily="34" charset="0"/>
                      </a:endParaRPr>
                    </a:p>
                  </a:txBody>
                  <a:tcPr marL="2773" marR="2773" marT="2773"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t">
                        <a:buNone/>
                      </a:pPr>
                      <a:r>
                        <a:rPr lang="en-IN" sz="1000" u="none" strike="noStrike" dirty="0">
                          <a:effectLst/>
                          <a:latin typeface="IBM Plex Sans" panose="020B0503050203000203" pitchFamily="34" charset="0"/>
                        </a:rPr>
                        <a:t> </a:t>
                      </a:r>
                      <a:endParaRPr lang="en-IN" sz="1000" b="0" i="0" u="none" strike="noStrike" dirty="0">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t">
                        <a:buNone/>
                      </a:pPr>
                      <a:r>
                        <a:rPr lang="en-IN" sz="1000" u="none" strike="noStrike" dirty="0">
                          <a:effectLst/>
                          <a:latin typeface="IBM Plex Sans" panose="020B0503050203000203" pitchFamily="34" charset="0"/>
                        </a:rPr>
                        <a:t> </a:t>
                      </a:r>
                      <a:endParaRPr lang="en-IN" sz="1000" b="0" i="0" u="none" strike="noStrike" dirty="0">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908176"/>
                  </a:ext>
                </a:extLst>
              </a:tr>
              <a:tr h="249323">
                <a:tc vMerge="1">
                  <a:txBody>
                    <a:bodyPr/>
                    <a:lstStyle/>
                    <a:p>
                      <a:endParaRPr/>
                    </a:p>
                  </a:txBody>
                  <a:tcPr marL="2773" marR="2773" marT="277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ctr">
                        <a:buNone/>
                      </a:pPr>
                      <a:r>
                        <a:rPr lang="en-IN" sz="1000" u="none" strike="noStrike">
                          <a:effectLst/>
                          <a:latin typeface="IBM Plex Sans" panose="020B0503050203000203" pitchFamily="34" charset="0"/>
                        </a:rPr>
                        <a:t>Orientation support (portrait/landscape)</a:t>
                      </a:r>
                      <a:endParaRPr lang="en-IN" sz="1000" b="0" i="0" u="none" strike="noStrike">
                        <a:solidFill>
                          <a:srgbClr val="000000"/>
                        </a:solidFill>
                        <a:effectLst/>
                        <a:latin typeface="IBM Plex Sans" panose="020B0503050203000203" pitchFamily="34" charset="0"/>
                      </a:endParaRPr>
                    </a:p>
                  </a:txBody>
                  <a:tcPr marL="2773" marR="2773" marT="277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rtl="0" fontAlgn="b">
                        <a:buNone/>
                      </a:pPr>
                      <a:r>
                        <a:rPr lang="en-IN" sz="1000" u="none" strike="noStrike" dirty="0">
                          <a:effectLst/>
                          <a:latin typeface="IBM Plex Sans" panose="020B0503050203000203" pitchFamily="34" charset="0"/>
                        </a:rPr>
                        <a:t>Yes</a:t>
                      </a:r>
                      <a:endParaRPr lang="en-IN" sz="1000" b="0" i="0" u="none" strike="noStrike" dirty="0">
                        <a:solidFill>
                          <a:srgbClr val="000000"/>
                        </a:solidFill>
                        <a:effectLst/>
                        <a:latin typeface="IBM Plex Sans" panose="020B0503050203000203" pitchFamily="34" charset="0"/>
                      </a:endParaRPr>
                    </a:p>
                  </a:txBody>
                  <a:tcPr marL="2773" marR="2773" marT="2773"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t">
                        <a:buNone/>
                      </a:pPr>
                      <a:r>
                        <a:rPr lang="en-IN" sz="1000" u="none" strike="noStrike" dirty="0">
                          <a:effectLst/>
                          <a:latin typeface="IBM Plex Sans" panose="020B0503050203000203" pitchFamily="34" charset="0"/>
                        </a:rPr>
                        <a:t> </a:t>
                      </a:r>
                      <a:endParaRPr lang="en-IN" sz="1000" b="0" i="0" u="none" strike="noStrike" dirty="0">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t">
                        <a:buNone/>
                      </a:pPr>
                      <a:r>
                        <a:rPr lang="en-IN" sz="1000" u="none" strike="noStrike" dirty="0">
                          <a:effectLst/>
                          <a:latin typeface="IBM Plex Sans" panose="020B0503050203000203" pitchFamily="34" charset="0"/>
                        </a:rPr>
                        <a:t> </a:t>
                      </a:r>
                      <a:endParaRPr lang="en-IN" sz="1000" b="0" i="0" u="none" strike="noStrike" dirty="0">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0388241"/>
                  </a:ext>
                </a:extLst>
              </a:tr>
              <a:tr h="560975">
                <a:tc vMerge="1">
                  <a:txBody>
                    <a:bodyPr/>
                    <a:lstStyle/>
                    <a:p>
                      <a:endParaRPr/>
                    </a:p>
                  </a:txBody>
                  <a:tcPr marL="2773" marR="2773" marT="277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ctr">
                        <a:buNone/>
                      </a:pPr>
                      <a:r>
                        <a:rPr lang="en-IN" sz="1000" u="none" strike="noStrike">
                          <a:effectLst/>
                          <a:latin typeface="IBM Plex Sans" panose="020B0503050203000203" pitchFamily="34" charset="0"/>
                        </a:rPr>
                        <a:t>Internationalization and localization (application level / code level / log level)</a:t>
                      </a:r>
                      <a:endParaRPr lang="en-IN" sz="1000" b="0" i="0" u="none" strike="noStrike">
                        <a:solidFill>
                          <a:srgbClr val="000000"/>
                        </a:solidFill>
                        <a:effectLst/>
                        <a:latin typeface="IBM Plex Sans" panose="020B0503050203000203" pitchFamily="34" charset="0"/>
                      </a:endParaRPr>
                    </a:p>
                  </a:txBody>
                  <a:tcPr marL="2773" marR="2773" marT="277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rtl="0" fontAlgn="b">
                        <a:buNone/>
                      </a:pPr>
                      <a:r>
                        <a:rPr lang="en-IN" sz="1000" u="none" strike="noStrike">
                          <a:effectLst/>
                          <a:latin typeface="IBM Plex Sans" panose="020B0503050203000203" pitchFamily="34" charset="0"/>
                        </a:rPr>
                        <a:t>No </a:t>
                      </a:r>
                      <a:endParaRPr lang="en-IN" sz="1000" b="0" i="0" u="none" strike="noStrike">
                        <a:solidFill>
                          <a:srgbClr val="000000"/>
                        </a:solidFill>
                        <a:effectLst/>
                        <a:latin typeface="IBM Plex Sans" panose="020B0503050203000203" pitchFamily="34" charset="0"/>
                      </a:endParaRPr>
                    </a:p>
                  </a:txBody>
                  <a:tcPr marL="2773" marR="2773" marT="2773"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t">
                        <a:buNone/>
                      </a:pPr>
                      <a:r>
                        <a:rPr lang="en-IN" sz="1000" u="none" strike="noStrike" dirty="0">
                          <a:effectLst/>
                          <a:latin typeface="IBM Plex Sans" panose="020B0503050203000203" pitchFamily="34" charset="0"/>
                        </a:rPr>
                        <a:t> </a:t>
                      </a:r>
                      <a:endParaRPr lang="en-IN" sz="1000" b="0" i="0" u="none" strike="noStrike" dirty="0">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t">
                        <a:buNone/>
                      </a:pPr>
                      <a:r>
                        <a:rPr lang="en-IN" sz="1000" u="none" strike="noStrike" dirty="0">
                          <a:effectLst/>
                          <a:latin typeface="IBM Plex Sans" panose="020B0503050203000203" pitchFamily="34" charset="0"/>
                        </a:rPr>
                        <a:t> </a:t>
                      </a:r>
                      <a:endParaRPr lang="en-IN" sz="1000" b="0" i="0" u="none" strike="noStrike" dirty="0">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t">
                        <a:buNone/>
                      </a:pPr>
                      <a:r>
                        <a:rPr lang="en-IN" sz="1000" u="none" strike="noStrike" dirty="0">
                          <a:effectLst/>
                          <a:latin typeface="IBM Plex Sans" panose="020B0503050203000203" pitchFamily="34" charset="0"/>
                        </a:rPr>
                        <a:t> </a:t>
                      </a:r>
                      <a:endParaRPr lang="en-IN" sz="1000" b="0" i="0" u="none" strike="noStrike" dirty="0">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9027075"/>
                  </a:ext>
                </a:extLst>
              </a:tr>
              <a:tr h="163560">
                <a:tc vMerge="1">
                  <a:txBody>
                    <a:bodyPr/>
                    <a:lstStyle/>
                    <a:p>
                      <a:endParaRPr/>
                    </a:p>
                  </a:txBody>
                  <a:tcPr marL="2773" marR="2773" marT="277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ctr">
                        <a:buNone/>
                      </a:pPr>
                      <a:r>
                        <a:rPr lang="en-IN" sz="1000" u="none" strike="noStrike">
                          <a:effectLst/>
                          <a:latin typeface="IBM Plex Sans" panose="020B0503050203000203" pitchFamily="34" charset="0"/>
                        </a:rPr>
                        <a:t>Languages supported </a:t>
                      </a:r>
                      <a:endParaRPr lang="en-IN" sz="1000" b="0" i="0" u="none" strike="noStrike">
                        <a:solidFill>
                          <a:srgbClr val="000000"/>
                        </a:solidFill>
                        <a:effectLst/>
                        <a:latin typeface="IBM Plex Sans" panose="020B0503050203000203" pitchFamily="34" charset="0"/>
                      </a:endParaRPr>
                    </a:p>
                  </a:txBody>
                  <a:tcPr marL="2773" marR="2773" marT="277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rtl="0" fontAlgn="b">
                        <a:buNone/>
                      </a:pPr>
                      <a:r>
                        <a:rPr lang="en-IN" sz="1000" u="none" strike="noStrike" dirty="0">
                          <a:effectLst/>
                          <a:latin typeface="IBM Plex Sans" panose="020B0503050203000203" pitchFamily="34" charset="0"/>
                        </a:rPr>
                        <a:t>English</a:t>
                      </a:r>
                      <a:endParaRPr lang="en-IN" sz="1000" b="0" i="0" u="none" strike="noStrike" dirty="0">
                        <a:solidFill>
                          <a:srgbClr val="000000"/>
                        </a:solidFill>
                        <a:effectLst/>
                        <a:latin typeface="IBM Plex Sans" panose="020B0503050203000203" pitchFamily="34" charset="0"/>
                      </a:endParaRPr>
                    </a:p>
                  </a:txBody>
                  <a:tcPr marL="2773" marR="2773" marT="2773"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t">
                        <a:buNone/>
                      </a:pPr>
                      <a:r>
                        <a:rPr lang="en-IN" sz="1000" u="none" strike="noStrike" dirty="0">
                          <a:effectLst/>
                          <a:latin typeface="IBM Plex Sans" panose="020B0503050203000203" pitchFamily="34" charset="0"/>
                        </a:rPr>
                        <a:t> </a:t>
                      </a:r>
                      <a:endParaRPr lang="en-IN" sz="1000" b="0" i="0" u="none" strike="noStrike" dirty="0">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t">
                        <a:buNone/>
                      </a:pPr>
                      <a:r>
                        <a:rPr lang="en-IN" sz="1000" u="none" strike="noStrike" dirty="0">
                          <a:effectLst/>
                          <a:latin typeface="IBM Plex Sans" panose="020B0503050203000203" pitchFamily="34" charset="0"/>
                        </a:rPr>
                        <a:t> </a:t>
                      </a:r>
                      <a:endParaRPr lang="en-IN" sz="1000" b="0" i="0" u="none" strike="noStrike" dirty="0">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32620109"/>
                  </a:ext>
                </a:extLst>
              </a:tr>
              <a:tr h="163560">
                <a:tc vMerge="1">
                  <a:txBody>
                    <a:bodyPr/>
                    <a:lstStyle/>
                    <a:p>
                      <a:endParaRPr/>
                    </a:p>
                  </a:txBody>
                  <a:tcPr marL="2773" marR="2773" marT="277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ctr">
                        <a:buNone/>
                      </a:pPr>
                      <a:r>
                        <a:rPr lang="en-IN" sz="1000" u="none" strike="noStrike">
                          <a:effectLst/>
                          <a:latin typeface="IBM Plex Sans" panose="020B0503050203000203" pitchFamily="34" charset="0"/>
                        </a:rPr>
                        <a:t>Date time display</a:t>
                      </a:r>
                      <a:endParaRPr lang="en-IN" sz="1000" b="0" i="0" u="none" strike="noStrike">
                        <a:solidFill>
                          <a:srgbClr val="000000"/>
                        </a:solidFill>
                        <a:effectLst/>
                        <a:latin typeface="IBM Plex Sans" panose="020B0503050203000203" pitchFamily="34" charset="0"/>
                      </a:endParaRPr>
                    </a:p>
                  </a:txBody>
                  <a:tcPr marL="2773" marR="2773" marT="277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rtl="0" fontAlgn="b">
                        <a:buNone/>
                      </a:pPr>
                      <a:r>
                        <a:rPr lang="en-IN" sz="1000" u="none" strike="noStrike">
                          <a:effectLst/>
                          <a:latin typeface="IBM Plex Sans" panose="020B0503050203000203" pitchFamily="34" charset="0"/>
                        </a:rPr>
                        <a:t>Yes</a:t>
                      </a:r>
                      <a:endParaRPr lang="en-IN" sz="1000" b="0" i="0" u="none" strike="noStrike">
                        <a:solidFill>
                          <a:srgbClr val="000000"/>
                        </a:solidFill>
                        <a:effectLst/>
                        <a:latin typeface="IBM Plex Sans" panose="020B0503050203000203" pitchFamily="34" charset="0"/>
                      </a:endParaRPr>
                    </a:p>
                  </a:txBody>
                  <a:tcPr marL="2773" marR="2773" marT="2773"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t">
                        <a:buNone/>
                      </a:pPr>
                      <a:r>
                        <a:rPr lang="en-IN" sz="1000" u="none" strike="noStrike" dirty="0">
                          <a:effectLst/>
                          <a:latin typeface="IBM Plex Sans" panose="020B0503050203000203" pitchFamily="34" charset="0"/>
                        </a:rPr>
                        <a:t> </a:t>
                      </a:r>
                      <a:endParaRPr lang="en-IN" sz="1000" b="0" i="0" u="none" strike="noStrike" dirty="0">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74220216"/>
                  </a:ext>
                </a:extLst>
              </a:tr>
              <a:tr h="163560">
                <a:tc vMerge="1">
                  <a:txBody>
                    <a:bodyPr/>
                    <a:lstStyle/>
                    <a:p>
                      <a:endParaRPr/>
                    </a:p>
                  </a:txBody>
                  <a:tcPr marL="2773" marR="2773" marT="277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ctr">
                        <a:buNone/>
                      </a:pPr>
                      <a:r>
                        <a:rPr lang="en-IN" sz="1000" u="none" strike="noStrike">
                          <a:effectLst/>
                          <a:latin typeface="IBM Plex Sans" panose="020B0503050203000203" pitchFamily="34" charset="0"/>
                        </a:rPr>
                        <a:t>Currency</a:t>
                      </a:r>
                      <a:endParaRPr lang="en-IN" sz="1000" b="0" i="0" u="none" strike="noStrike">
                        <a:solidFill>
                          <a:srgbClr val="000000"/>
                        </a:solidFill>
                        <a:effectLst/>
                        <a:latin typeface="IBM Plex Sans" panose="020B0503050203000203" pitchFamily="34" charset="0"/>
                      </a:endParaRPr>
                    </a:p>
                  </a:txBody>
                  <a:tcPr marL="2773" marR="2773" marT="277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rtl="0" fontAlgn="b">
                        <a:buNone/>
                      </a:pPr>
                      <a:r>
                        <a:rPr lang="en-IN" sz="1000" u="none" strike="noStrike" dirty="0">
                          <a:effectLst/>
                          <a:latin typeface="IBM Plex Sans" panose="020B0503050203000203" pitchFamily="34" charset="0"/>
                        </a:rPr>
                        <a:t>All</a:t>
                      </a:r>
                      <a:endParaRPr lang="en-IN" sz="1000" b="0" i="0" u="none" strike="noStrike" dirty="0">
                        <a:solidFill>
                          <a:srgbClr val="000000"/>
                        </a:solidFill>
                        <a:effectLst/>
                        <a:latin typeface="IBM Plex Sans" panose="020B0503050203000203" pitchFamily="34" charset="0"/>
                      </a:endParaRPr>
                    </a:p>
                  </a:txBody>
                  <a:tcPr marL="2773" marR="2773" marT="2773"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t">
                        <a:buNone/>
                      </a:pPr>
                      <a:r>
                        <a:rPr lang="en-IN" sz="1000" u="none" strike="noStrike" dirty="0">
                          <a:effectLst/>
                          <a:latin typeface="IBM Plex Sans" panose="020B0503050203000203" pitchFamily="34" charset="0"/>
                        </a:rPr>
                        <a:t> </a:t>
                      </a:r>
                      <a:endParaRPr lang="en-IN" sz="1000" b="0" i="0" u="none" strike="noStrike" dirty="0">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62759253"/>
                  </a:ext>
                </a:extLst>
              </a:tr>
              <a:tr h="163560">
                <a:tc vMerge="1">
                  <a:txBody>
                    <a:bodyPr/>
                    <a:lstStyle/>
                    <a:p>
                      <a:endParaRPr/>
                    </a:p>
                  </a:txBody>
                  <a:tcPr marL="2773" marR="2773" marT="277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ctr">
                        <a:buNone/>
                      </a:pPr>
                      <a:r>
                        <a:rPr lang="en-IN" sz="1000" u="none" strike="noStrike">
                          <a:effectLst/>
                          <a:latin typeface="IBM Plex Sans" panose="020B0503050203000203" pitchFamily="34" charset="0"/>
                        </a:rPr>
                        <a:t>Time‑zone handling</a:t>
                      </a:r>
                      <a:endParaRPr lang="en-IN" sz="1000" b="0" i="0" u="none" strike="noStrike">
                        <a:solidFill>
                          <a:srgbClr val="000000"/>
                        </a:solidFill>
                        <a:effectLst/>
                        <a:latin typeface="IBM Plex Sans" panose="020B0503050203000203" pitchFamily="34" charset="0"/>
                      </a:endParaRPr>
                    </a:p>
                  </a:txBody>
                  <a:tcPr marL="2773" marR="2773" marT="277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rtl="0" fontAlgn="b">
                        <a:buNone/>
                      </a:pPr>
                      <a:r>
                        <a:rPr lang="en-IN" sz="1000" u="none" strike="noStrike" dirty="0">
                          <a:effectLst/>
                          <a:latin typeface="IBM Plex Sans" panose="020B0503050203000203" pitchFamily="34" charset="0"/>
                        </a:rPr>
                        <a:t>All</a:t>
                      </a:r>
                      <a:endParaRPr lang="en-IN" sz="1000" b="0" i="0" u="none" strike="noStrike" dirty="0">
                        <a:solidFill>
                          <a:srgbClr val="000000"/>
                        </a:solidFill>
                        <a:effectLst/>
                        <a:latin typeface="IBM Plex Sans" panose="020B0503050203000203" pitchFamily="34" charset="0"/>
                      </a:endParaRPr>
                    </a:p>
                  </a:txBody>
                  <a:tcPr marL="2773" marR="2773" marT="2773"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t">
                        <a:buNone/>
                      </a:pPr>
                      <a:r>
                        <a:rPr lang="en-IN" sz="1000" u="none" strike="noStrike" dirty="0">
                          <a:effectLst/>
                          <a:latin typeface="IBM Plex Sans" panose="020B0503050203000203" pitchFamily="34" charset="0"/>
                        </a:rPr>
                        <a:t> </a:t>
                      </a:r>
                      <a:endParaRPr lang="en-IN" sz="1000" b="0" i="0" u="none" strike="noStrike" dirty="0">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70458535"/>
                  </a:ext>
                </a:extLst>
              </a:tr>
              <a:tr h="249323">
                <a:tc vMerge="1">
                  <a:txBody>
                    <a:bodyPr/>
                    <a:lstStyle/>
                    <a:p>
                      <a:endParaRPr/>
                    </a:p>
                  </a:txBody>
                  <a:tcPr marL="2773" marR="2773" marT="277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ctr">
                        <a:buNone/>
                      </a:pPr>
                      <a:r>
                        <a:rPr lang="en-IN" sz="1000" u="none" strike="noStrike">
                          <a:effectLst/>
                          <a:latin typeface="IBM Plex Sans" panose="020B0503050203000203" pitchFamily="34" charset="0"/>
                        </a:rPr>
                        <a:t>Accessibility requirements</a:t>
                      </a:r>
                      <a:endParaRPr lang="en-IN" sz="1000" b="0" i="0" u="none" strike="noStrike">
                        <a:solidFill>
                          <a:srgbClr val="000000"/>
                        </a:solidFill>
                        <a:effectLst/>
                        <a:latin typeface="IBM Plex Sans" panose="020B0503050203000203" pitchFamily="34" charset="0"/>
                      </a:endParaRPr>
                    </a:p>
                  </a:txBody>
                  <a:tcPr marL="2773" marR="2773" marT="277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rtl="0" fontAlgn="b">
                        <a:buNone/>
                      </a:pPr>
                      <a:r>
                        <a:rPr lang="en-IN" sz="1000" u="none" strike="noStrike" dirty="0">
                          <a:effectLst/>
                          <a:latin typeface="IBM Plex Sans" panose="020B0503050203000203" pitchFamily="34" charset="0"/>
                        </a:rPr>
                        <a:t>No </a:t>
                      </a:r>
                      <a:endParaRPr lang="en-IN" sz="1000" b="0" i="0" u="none" strike="noStrike" dirty="0">
                        <a:solidFill>
                          <a:srgbClr val="000000"/>
                        </a:solidFill>
                        <a:effectLst/>
                        <a:latin typeface="IBM Plex Sans" panose="020B0503050203000203" pitchFamily="34" charset="0"/>
                      </a:endParaRPr>
                    </a:p>
                  </a:txBody>
                  <a:tcPr marL="2773" marR="2773" marT="2773"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t">
                        <a:buNone/>
                      </a:pPr>
                      <a:r>
                        <a:rPr lang="en-IN" sz="1000" u="none" strike="noStrike" dirty="0">
                          <a:effectLst/>
                          <a:latin typeface="IBM Plex Sans" panose="020B0503050203000203" pitchFamily="34" charset="0"/>
                        </a:rPr>
                        <a:t> </a:t>
                      </a:r>
                      <a:endParaRPr lang="en-IN" sz="1000" b="0" i="0" u="none" strike="noStrike" dirty="0">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3655834"/>
                  </a:ext>
                </a:extLst>
              </a:tr>
              <a:tr h="163560">
                <a:tc vMerge="1">
                  <a:txBody>
                    <a:bodyPr/>
                    <a:lstStyle/>
                    <a:p>
                      <a:endParaRPr/>
                    </a:p>
                  </a:txBody>
                  <a:tcPr marL="2773" marR="2773" marT="277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ctr">
                        <a:buNone/>
                      </a:pPr>
                      <a:r>
                        <a:rPr lang="en-IN" sz="1000" u="none" strike="noStrike">
                          <a:effectLst/>
                          <a:latin typeface="IBM Plex Sans" panose="020B0503050203000203" pitchFamily="34" charset="0"/>
                        </a:rPr>
                        <a:t>Text to speech</a:t>
                      </a:r>
                      <a:endParaRPr lang="en-IN" sz="1000" b="0" i="0" u="none" strike="noStrike">
                        <a:solidFill>
                          <a:srgbClr val="000000"/>
                        </a:solidFill>
                        <a:effectLst/>
                        <a:latin typeface="IBM Plex Sans" panose="020B0503050203000203" pitchFamily="34" charset="0"/>
                      </a:endParaRPr>
                    </a:p>
                  </a:txBody>
                  <a:tcPr marL="2773" marR="2773" marT="277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rtl="0" fontAlgn="b">
                        <a:buNone/>
                      </a:pPr>
                      <a:r>
                        <a:rPr lang="en-IN" sz="1000" u="none" strike="noStrike" dirty="0">
                          <a:effectLst/>
                          <a:latin typeface="IBM Plex Sans" panose="020B0503050203000203" pitchFamily="34" charset="0"/>
                        </a:rPr>
                        <a:t>Yes</a:t>
                      </a:r>
                      <a:endParaRPr lang="en-IN" sz="1000" b="0" i="0" u="none" strike="noStrike" dirty="0">
                        <a:solidFill>
                          <a:srgbClr val="000000"/>
                        </a:solidFill>
                        <a:effectLst/>
                        <a:latin typeface="IBM Plex Sans" panose="020B0503050203000203" pitchFamily="34" charset="0"/>
                      </a:endParaRPr>
                    </a:p>
                  </a:txBody>
                  <a:tcPr marL="2773" marR="2773" marT="2773"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t">
                        <a:buNone/>
                      </a:pPr>
                      <a:r>
                        <a:rPr lang="en-IN" sz="1000" u="none" strike="noStrike" dirty="0">
                          <a:effectLst/>
                          <a:latin typeface="IBM Plex Sans" panose="020B0503050203000203" pitchFamily="34" charset="0"/>
                        </a:rPr>
                        <a:t> </a:t>
                      </a:r>
                      <a:endParaRPr lang="en-IN" sz="1000" b="0" i="0" u="none" strike="noStrike" dirty="0">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0299785"/>
                  </a:ext>
                </a:extLst>
              </a:tr>
              <a:tr h="163560">
                <a:tc vMerge="1">
                  <a:txBody>
                    <a:bodyPr/>
                    <a:lstStyle/>
                    <a:p>
                      <a:endParaRPr/>
                    </a:p>
                  </a:txBody>
                  <a:tcPr marL="2773" marR="2773" marT="277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ctr">
                        <a:buNone/>
                      </a:pPr>
                      <a:r>
                        <a:rPr lang="en-IN" sz="1000" u="none" strike="noStrike">
                          <a:effectLst/>
                          <a:latin typeface="IBM Plex Sans" panose="020B0503050203000203" pitchFamily="34" charset="0"/>
                        </a:rPr>
                        <a:t>Speech to text</a:t>
                      </a:r>
                      <a:endParaRPr lang="en-IN" sz="1000" b="0" i="0" u="none" strike="noStrike">
                        <a:solidFill>
                          <a:srgbClr val="000000"/>
                        </a:solidFill>
                        <a:effectLst/>
                        <a:latin typeface="IBM Plex Sans" panose="020B0503050203000203" pitchFamily="34" charset="0"/>
                      </a:endParaRPr>
                    </a:p>
                  </a:txBody>
                  <a:tcPr marL="2773" marR="2773" marT="277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rtl="0" fontAlgn="b">
                        <a:buNone/>
                      </a:pPr>
                      <a:r>
                        <a:rPr lang="en-IN" sz="1000" u="none" strike="noStrike" dirty="0">
                          <a:effectLst/>
                          <a:latin typeface="IBM Plex Sans" panose="020B0503050203000203" pitchFamily="34" charset="0"/>
                        </a:rPr>
                        <a:t>Yes</a:t>
                      </a:r>
                      <a:endParaRPr lang="en-IN" sz="1000" b="0" i="0" u="none" strike="noStrike" dirty="0">
                        <a:solidFill>
                          <a:srgbClr val="000000"/>
                        </a:solidFill>
                        <a:effectLst/>
                        <a:latin typeface="IBM Plex Sans" panose="020B0503050203000203" pitchFamily="34" charset="0"/>
                      </a:endParaRPr>
                    </a:p>
                  </a:txBody>
                  <a:tcPr marL="2773" marR="2773" marT="2773"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t">
                        <a:buNone/>
                      </a:pPr>
                      <a:r>
                        <a:rPr lang="en-IN" sz="1000" u="none" strike="noStrike" dirty="0">
                          <a:effectLst/>
                          <a:latin typeface="IBM Plex Sans" panose="020B0503050203000203" pitchFamily="34" charset="0"/>
                        </a:rPr>
                        <a:t> </a:t>
                      </a:r>
                      <a:endParaRPr lang="en-IN" sz="1000" b="0" i="0" u="none" strike="noStrike" dirty="0">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87380556"/>
                  </a:ext>
                </a:extLst>
              </a:tr>
              <a:tr h="186992">
                <a:tc vMerge="1">
                  <a:txBody>
                    <a:bodyPr/>
                    <a:lstStyle/>
                    <a:p>
                      <a:endParaRPr dirty="0"/>
                    </a:p>
                  </a:txBody>
                  <a:tcPr marL="2773" marR="2773" marT="277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ctr">
                        <a:buNone/>
                      </a:pPr>
                      <a:r>
                        <a:rPr lang="en-IN" sz="1000" u="none" strike="noStrike" dirty="0">
                          <a:effectLst/>
                          <a:latin typeface="IBM Plex Sans" panose="020B0503050203000203" pitchFamily="34" charset="0"/>
                        </a:rPr>
                        <a:t>WCAG 2.1 AA compliance</a:t>
                      </a:r>
                      <a:endParaRPr lang="en-IN" sz="1000" b="0" i="0" u="none" strike="noStrike" dirty="0">
                        <a:solidFill>
                          <a:srgbClr val="000000"/>
                        </a:solidFill>
                        <a:effectLst/>
                        <a:latin typeface="IBM Plex Sans" panose="020B0503050203000203" pitchFamily="34" charset="0"/>
                      </a:endParaRPr>
                    </a:p>
                  </a:txBody>
                  <a:tcPr marL="2773" marR="2773" marT="277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rtl="0" fontAlgn="b">
                        <a:buNone/>
                      </a:pPr>
                      <a:r>
                        <a:rPr lang="en-IN" sz="1000" u="none" strike="noStrike" dirty="0">
                          <a:effectLst/>
                          <a:latin typeface="IBM Plex Sans" panose="020B0503050203000203" pitchFamily="34" charset="0"/>
                        </a:rPr>
                        <a:t>Yes</a:t>
                      </a:r>
                      <a:endParaRPr lang="en-IN" sz="1000" b="0" i="0" u="none" strike="noStrike" dirty="0">
                        <a:solidFill>
                          <a:srgbClr val="000000"/>
                        </a:solidFill>
                        <a:effectLst/>
                        <a:latin typeface="IBM Plex Sans" panose="020B0503050203000203" pitchFamily="34" charset="0"/>
                      </a:endParaRPr>
                    </a:p>
                  </a:txBody>
                  <a:tcPr marL="2773" marR="2773" marT="2773"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t">
                        <a:buNone/>
                      </a:pPr>
                      <a:r>
                        <a:rPr lang="en-IN" sz="1000" u="none" strike="noStrike" dirty="0">
                          <a:effectLst/>
                          <a:latin typeface="IBM Plex Sans" panose="020B0503050203000203" pitchFamily="34" charset="0"/>
                        </a:rPr>
                        <a:t> </a:t>
                      </a:r>
                      <a:endParaRPr lang="en-IN" sz="1000" b="0" i="0" u="none" strike="noStrike" dirty="0">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t">
                        <a:buNone/>
                      </a:pPr>
                      <a:r>
                        <a:rPr lang="en-IN" sz="1000" u="none" strike="noStrike">
                          <a:effectLst/>
                          <a:latin typeface="IBM Plex Sans" panose="020B0503050203000203" pitchFamily="34" charset="0"/>
                        </a:rPr>
                        <a:t> </a:t>
                      </a:r>
                      <a:endParaRPr lang="en-IN" sz="1000" b="0" i="0" u="none" strike="noStrike">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rtl="0" fontAlgn="t">
                        <a:buNone/>
                      </a:pPr>
                      <a:r>
                        <a:rPr lang="en-IN" sz="1000" u="none" strike="noStrike" dirty="0">
                          <a:effectLst/>
                          <a:latin typeface="IBM Plex Sans" panose="020B0503050203000203" pitchFamily="34" charset="0"/>
                        </a:rPr>
                        <a:t> </a:t>
                      </a:r>
                      <a:endParaRPr lang="en-IN" sz="1000" b="0" i="0" u="none" strike="noStrike" dirty="0">
                        <a:solidFill>
                          <a:srgbClr val="000000"/>
                        </a:solidFill>
                        <a:effectLst/>
                        <a:latin typeface="IBM Plex Sans" panose="020B0503050203000203" pitchFamily="34" charset="0"/>
                      </a:endParaRPr>
                    </a:p>
                  </a:txBody>
                  <a:tcPr marL="2773" marR="2773" marT="2773"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83935081"/>
                  </a:ext>
                </a:extLst>
              </a:tr>
            </a:tbl>
          </a:graphicData>
        </a:graphic>
      </p:graphicFrame>
    </p:spTree>
    <p:extLst>
      <p:ext uri="{BB962C8B-B14F-4D97-AF65-F5344CB8AC3E}">
        <p14:creationId xmlns:p14="http://schemas.microsoft.com/office/powerpoint/2010/main" val="933320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D66047-CA8C-1992-DEFE-3A8FE423F65C}"/>
              </a:ext>
            </a:extLst>
          </p:cNvPr>
          <p:cNvSpPr>
            <a:spLocks noGrp="1"/>
          </p:cNvSpPr>
          <p:nvPr>
            <p:ph type="sldNum" sz="quarter" idx="12"/>
          </p:nvPr>
        </p:nvSpPr>
        <p:spPr/>
        <p:txBody>
          <a:bodyPr/>
          <a:lstStyle/>
          <a:p>
            <a:fld id="{682A9D49-871F-5640-BCE3-20634A9797B6}" type="slidenum">
              <a:rPr lang="en-US" smtClean="0"/>
              <a:t>24</a:t>
            </a:fld>
            <a:endParaRPr lang="en-US"/>
          </a:p>
        </p:txBody>
      </p:sp>
      <p:graphicFrame>
        <p:nvGraphicFramePr>
          <p:cNvPr id="3" name="Table 2">
            <a:extLst>
              <a:ext uri="{FF2B5EF4-FFF2-40B4-BE49-F238E27FC236}">
                <a16:creationId xmlns:a16="http://schemas.microsoft.com/office/drawing/2014/main" id="{671FCA3F-BA8A-B0F3-9515-3AD0DF6F9CEB}"/>
              </a:ext>
            </a:extLst>
          </p:cNvPr>
          <p:cNvGraphicFramePr>
            <a:graphicFrameLocks noGrp="1"/>
          </p:cNvGraphicFramePr>
          <p:nvPr>
            <p:extLst>
              <p:ext uri="{D42A27DB-BD31-4B8C-83A1-F6EECF244321}">
                <p14:modId xmlns:p14="http://schemas.microsoft.com/office/powerpoint/2010/main" val="1705065754"/>
              </p:ext>
            </p:extLst>
          </p:nvPr>
        </p:nvGraphicFramePr>
        <p:xfrm>
          <a:off x="336000" y="1196200"/>
          <a:ext cx="11519999" cy="5039999"/>
        </p:xfrm>
        <a:graphic>
          <a:graphicData uri="http://schemas.openxmlformats.org/drawingml/2006/table">
            <a:tbl>
              <a:tblPr firstRow="1">
                <a:tableStyleId>{B301B821-A1FF-4177-AEE7-76D212191A09}</a:tableStyleId>
              </a:tblPr>
              <a:tblGrid>
                <a:gridCol w="1683478">
                  <a:extLst>
                    <a:ext uri="{9D8B030D-6E8A-4147-A177-3AD203B41FA5}">
                      <a16:colId xmlns:a16="http://schemas.microsoft.com/office/drawing/2014/main" val="2268242745"/>
                    </a:ext>
                  </a:extLst>
                </a:gridCol>
                <a:gridCol w="3561740">
                  <a:extLst>
                    <a:ext uri="{9D8B030D-6E8A-4147-A177-3AD203B41FA5}">
                      <a16:colId xmlns:a16="http://schemas.microsoft.com/office/drawing/2014/main" val="2205220887"/>
                    </a:ext>
                  </a:extLst>
                </a:gridCol>
                <a:gridCol w="1169182">
                  <a:extLst>
                    <a:ext uri="{9D8B030D-6E8A-4147-A177-3AD203B41FA5}">
                      <a16:colId xmlns:a16="http://schemas.microsoft.com/office/drawing/2014/main" val="3800756140"/>
                    </a:ext>
                  </a:extLst>
                </a:gridCol>
                <a:gridCol w="531346">
                  <a:extLst>
                    <a:ext uri="{9D8B030D-6E8A-4147-A177-3AD203B41FA5}">
                      <a16:colId xmlns:a16="http://schemas.microsoft.com/office/drawing/2014/main" val="2086749168"/>
                    </a:ext>
                  </a:extLst>
                </a:gridCol>
                <a:gridCol w="636899">
                  <a:extLst>
                    <a:ext uri="{9D8B030D-6E8A-4147-A177-3AD203B41FA5}">
                      <a16:colId xmlns:a16="http://schemas.microsoft.com/office/drawing/2014/main" val="463368007"/>
                    </a:ext>
                  </a:extLst>
                </a:gridCol>
                <a:gridCol w="717376">
                  <a:extLst>
                    <a:ext uri="{9D8B030D-6E8A-4147-A177-3AD203B41FA5}">
                      <a16:colId xmlns:a16="http://schemas.microsoft.com/office/drawing/2014/main" val="3037286298"/>
                    </a:ext>
                  </a:extLst>
                </a:gridCol>
                <a:gridCol w="679043">
                  <a:extLst>
                    <a:ext uri="{9D8B030D-6E8A-4147-A177-3AD203B41FA5}">
                      <a16:colId xmlns:a16="http://schemas.microsoft.com/office/drawing/2014/main" val="3820514914"/>
                    </a:ext>
                  </a:extLst>
                </a:gridCol>
                <a:gridCol w="679043">
                  <a:extLst>
                    <a:ext uri="{9D8B030D-6E8A-4147-A177-3AD203B41FA5}">
                      <a16:colId xmlns:a16="http://schemas.microsoft.com/office/drawing/2014/main" val="2875078721"/>
                    </a:ext>
                  </a:extLst>
                </a:gridCol>
                <a:gridCol w="1861892">
                  <a:extLst>
                    <a:ext uri="{9D8B030D-6E8A-4147-A177-3AD203B41FA5}">
                      <a16:colId xmlns:a16="http://schemas.microsoft.com/office/drawing/2014/main" val="3171965782"/>
                    </a:ext>
                  </a:extLst>
                </a:gridCol>
              </a:tblGrid>
              <a:tr h="327126">
                <a:tc>
                  <a:txBody>
                    <a:bodyPr/>
                    <a:lstStyle/>
                    <a:p>
                      <a:pPr algn="ctr" fontAlgn="ctr">
                        <a:buNone/>
                      </a:pPr>
                      <a:r>
                        <a:rPr lang="en-IN" sz="1000" u="none" strike="noStrike" dirty="0">
                          <a:effectLst/>
                        </a:rPr>
                        <a:t>Category</a:t>
                      </a:r>
                      <a:endParaRPr lang="en-IN" sz="1000" b="1" i="0" u="none" strike="noStrike" dirty="0">
                        <a:solidFill>
                          <a:srgbClr val="000000"/>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en-IN" sz="1000" u="none" strike="noStrike" dirty="0">
                          <a:effectLst/>
                        </a:rPr>
                        <a:t>Non-functional requirement</a:t>
                      </a:r>
                      <a:endParaRPr lang="en-IN" sz="1000" b="1" i="0" u="none" strike="noStrike" dirty="0">
                        <a:solidFill>
                          <a:srgbClr val="000000"/>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buNone/>
                      </a:pPr>
                      <a:r>
                        <a:rPr lang="en-IN" sz="1000" u="none" strike="noStrike" dirty="0">
                          <a:effectLst/>
                        </a:rPr>
                        <a:t>Category</a:t>
                      </a:r>
                      <a:endParaRPr lang="en-IN" sz="1000" b="1" i="0" u="none" strike="noStrike" dirty="0">
                        <a:solidFill>
                          <a:srgbClr val="000000"/>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buNone/>
                      </a:pPr>
                      <a:r>
                        <a:rPr lang="en-IN" sz="1000" u="none" strike="noStrike" dirty="0">
                          <a:effectLst/>
                          <a:latin typeface="IBM Plex Sans" panose="020B0503050203000203" pitchFamily="34" charset="0"/>
                        </a:rPr>
                        <a:t>Current</a:t>
                      </a:r>
                      <a:endParaRPr lang="en-IN" sz="1000" b="1" i="0" u="none" strike="noStrike" dirty="0">
                        <a:solidFill>
                          <a:srgbClr val="000000"/>
                        </a:solidFill>
                        <a:effectLst/>
                        <a:latin typeface="IBM Plex Sans" panose="020B0503050203000203" pitchFamily="34" charset="0"/>
                      </a:endParaRPr>
                    </a:p>
                  </a:txBody>
                  <a:tcPr marL="2773" marR="2773" marT="277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buNone/>
                      </a:pPr>
                      <a:r>
                        <a:rPr lang="en-IN" sz="1000" u="none" strike="noStrike" dirty="0">
                          <a:effectLst/>
                          <a:latin typeface="IBM Plex Sans" panose="020B0503050203000203" pitchFamily="34" charset="0"/>
                        </a:rPr>
                        <a:t>Future in 1 year</a:t>
                      </a:r>
                      <a:endParaRPr lang="en-IN" sz="1000" b="1" i="0" u="none" strike="noStrike" dirty="0">
                        <a:solidFill>
                          <a:srgbClr val="000000"/>
                        </a:solidFill>
                        <a:effectLst/>
                        <a:latin typeface="IBM Plex Sans" panose="020B0503050203000203" pitchFamily="34" charset="0"/>
                      </a:endParaRPr>
                    </a:p>
                  </a:txBody>
                  <a:tcPr marL="2773" marR="2773" marT="277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buNone/>
                      </a:pPr>
                      <a:r>
                        <a:rPr lang="en-IN" sz="1000" u="none" strike="noStrike" dirty="0">
                          <a:effectLst/>
                          <a:latin typeface="IBM Plex Sans" panose="020B0503050203000203" pitchFamily="34" charset="0"/>
                        </a:rPr>
                        <a:t>In 2 years</a:t>
                      </a:r>
                      <a:endParaRPr lang="en-IN" sz="1000" b="1" i="0" u="none" strike="noStrike" dirty="0">
                        <a:solidFill>
                          <a:srgbClr val="000000"/>
                        </a:solidFill>
                        <a:effectLst/>
                        <a:latin typeface="IBM Plex Sans" panose="020B0503050203000203" pitchFamily="34" charset="0"/>
                      </a:endParaRPr>
                    </a:p>
                  </a:txBody>
                  <a:tcPr marL="2773" marR="2773" marT="277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buNone/>
                      </a:pPr>
                      <a:r>
                        <a:rPr lang="en-IN" sz="1000" u="none" strike="noStrike" dirty="0">
                          <a:effectLst/>
                          <a:latin typeface="IBM Plex Sans" panose="020B0503050203000203" pitchFamily="34" charset="0"/>
                        </a:rPr>
                        <a:t>In 3 years</a:t>
                      </a:r>
                      <a:endParaRPr lang="en-IN" sz="1000" b="1" i="0" u="none" strike="noStrike" dirty="0">
                        <a:solidFill>
                          <a:srgbClr val="000000"/>
                        </a:solidFill>
                        <a:effectLst/>
                        <a:latin typeface="IBM Plex Sans" panose="020B0503050203000203" pitchFamily="34" charset="0"/>
                      </a:endParaRPr>
                    </a:p>
                  </a:txBody>
                  <a:tcPr marL="2773" marR="2773" marT="277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buNone/>
                      </a:pPr>
                      <a:r>
                        <a:rPr lang="en-IN" sz="1000" u="none" strike="noStrike" dirty="0">
                          <a:effectLst/>
                        </a:rPr>
                        <a:t>Category</a:t>
                      </a:r>
                      <a:endParaRPr lang="en-IN" sz="1000" b="1" i="0" u="none" strike="noStrike" dirty="0">
                        <a:solidFill>
                          <a:srgbClr val="000000"/>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en-IN" sz="1000" u="none" strike="noStrike" dirty="0">
                          <a:effectLst/>
                        </a:rPr>
                        <a:t>Non-functional requirement</a:t>
                      </a:r>
                      <a:endParaRPr lang="en-IN" sz="1000" b="1" i="0" u="none" strike="noStrike" dirty="0">
                        <a:solidFill>
                          <a:srgbClr val="000000"/>
                        </a:solidFill>
                        <a:effectLst/>
                        <a:latin typeface="IBM Plex Sans" panose="020B0503050203000203" pitchFamily="34" charset="0"/>
                      </a:endParaRPr>
                    </a:p>
                  </a:txBody>
                  <a:tcPr marL="1759" marR="1759" marT="17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19354033"/>
                  </a:ext>
                </a:extLst>
              </a:tr>
              <a:tr h="259502">
                <a:tc rowSpan="13">
                  <a:txBody>
                    <a:bodyPr/>
                    <a:lstStyle/>
                    <a:p>
                      <a:pPr marL="0" algn="l" defTabSz="914400" rtl="0" eaLnBrk="1" fontAlgn="ctr" latinLnBrk="0" hangingPunct="1">
                        <a:buNone/>
                      </a:pPr>
                      <a:r>
                        <a:rPr lang="en-IN" sz="1000" u="none" strike="noStrike" kern="1200" dirty="0">
                          <a:solidFill>
                            <a:schemeClr val="dk1"/>
                          </a:solidFill>
                          <a:effectLst/>
                        </a:rPr>
                        <a:t> </a:t>
                      </a:r>
                      <a:r>
                        <a:rPr lang="en-IN" sz="1000" b="1" u="none" strike="noStrike" kern="1200" dirty="0">
                          <a:solidFill>
                            <a:schemeClr val="dk1"/>
                          </a:solidFill>
                          <a:effectLst/>
                        </a:rPr>
                        <a:t>Performance &amp; System Load</a:t>
                      </a:r>
                    </a:p>
                    <a:p>
                      <a:pPr marL="0" algn="l" defTabSz="914400" rtl="0" eaLnBrk="1" fontAlgn="ctr" latinLnBrk="0" hangingPunct="1">
                        <a:buNone/>
                      </a:pPr>
                      <a:r>
                        <a:rPr lang="en-IN" sz="1000" u="none" strike="noStrike" kern="1200" dirty="0">
                          <a:solidFill>
                            <a:schemeClr val="dk1"/>
                          </a:solidFill>
                          <a:effectLst/>
                        </a:rPr>
                        <a:t> </a:t>
                      </a:r>
                    </a:p>
                    <a:p>
                      <a:pPr marL="0" algn="l" defTabSz="914400" rtl="0" eaLnBrk="1" fontAlgn="ctr" latinLnBrk="0" hangingPunct="1">
                        <a:buNone/>
                      </a:pPr>
                      <a:r>
                        <a:rPr lang="en-IN" sz="1000" u="none" strike="noStrike" kern="1200" dirty="0">
                          <a:solidFill>
                            <a:schemeClr val="dk1"/>
                          </a:solidFill>
                          <a:effectLst/>
                        </a:rPr>
                        <a:t> </a:t>
                      </a:r>
                    </a:p>
                    <a:p>
                      <a:pPr marL="0" algn="l" defTabSz="914400" rtl="0" eaLnBrk="1" fontAlgn="ctr" latinLnBrk="0" hangingPunct="1">
                        <a:buNone/>
                      </a:pPr>
                      <a:r>
                        <a:rPr lang="en-IN" sz="1000" u="none" strike="noStrike" kern="1200" dirty="0">
                          <a:solidFill>
                            <a:schemeClr val="dk1"/>
                          </a:solidFill>
                          <a:effectLst/>
                        </a:rPr>
                        <a:t> </a:t>
                      </a:r>
                    </a:p>
                    <a:p>
                      <a:pPr marL="0" algn="l" defTabSz="914400" rtl="0" eaLnBrk="1" fontAlgn="ctr" latinLnBrk="0" hangingPunct="1">
                        <a:buNone/>
                      </a:pPr>
                      <a:r>
                        <a:rPr lang="en-IN" sz="1000" u="none" strike="noStrike" kern="1200" dirty="0">
                          <a:solidFill>
                            <a:schemeClr val="dk1"/>
                          </a:solidFill>
                          <a:effectLst/>
                        </a:rPr>
                        <a:t> </a:t>
                      </a:r>
                    </a:p>
                    <a:p>
                      <a:pPr marL="0" algn="l" defTabSz="914400" rtl="0" eaLnBrk="1" fontAlgn="ctr" latinLnBrk="0" hangingPunct="1">
                        <a:buNone/>
                      </a:pPr>
                      <a:r>
                        <a:rPr lang="en-IN" sz="1000" u="none" strike="noStrike" kern="1200" dirty="0">
                          <a:solidFill>
                            <a:schemeClr val="dk1"/>
                          </a:solidFill>
                          <a:effectLst/>
                        </a:rPr>
                        <a:t> </a:t>
                      </a:r>
                    </a:p>
                    <a:p>
                      <a:pPr marL="0" algn="l" defTabSz="914400" rtl="0" eaLnBrk="1" fontAlgn="ctr" latinLnBrk="0" hangingPunct="1">
                        <a:buNone/>
                      </a:pPr>
                      <a:r>
                        <a:rPr lang="en-IN" sz="1000" u="none" strike="noStrike" kern="1200" dirty="0">
                          <a:solidFill>
                            <a:schemeClr val="dk1"/>
                          </a:solidFill>
                          <a:effectLst/>
                        </a:rPr>
                        <a:t> </a:t>
                      </a:r>
                    </a:p>
                    <a:p>
                      <a:pPr marL="0" algn="l" defTabSz="914400" rtl="0" eaLnBrk="1" fontAlgn="ctr" latinLnBrk="0" hangingPunct="1">
                        <a:buNone/>
                      </a:pPr>
                      <a:r>
                        <a:rPr lang="en-IN" sz="1000" u="none" strike="noStrike" kern="1200" dirty="0">
                          <a:solidFill>
                            <a:schemeClr val="dk1"/>
                          </a:solidFill>
                          <a:effectLst/>
                        </a:rPr>
                        <a:t> </a:t>
                      </a:r>
                    </a:p>
                    <a:p>
                      <a:pPr marL="0" algn="l" defTabSz="914400" rtl="0" eaLnBrk="1" fontAlgn="ctr" latinLnBrk="0" hangingPunct="1">
                        <a:buNone/>
                      </a:pPr>
                      <a:r>
                        <a:rPr lang="en-IN" sz="1000" u="none" strike="noStrike" kern="1200" dirty="0">
                          <a:solidFill>
                            <a:schemeClr val="dk1"/>
                          </a:solidFill>
                          <a:effectLst/>
                        </a:rPr>
                        <a:t> </a:t>
                      </a:r>
                    </a:p>
                    <a:p>
                      <a:pPr marL="0" algn="l" defTabSz="914400" rtl="0" eaLnBrk="1" fontAlgn="ctr" latinLnBrk="0" hangingPunct="1">
                        <a:buNone/>
                      </a:pPr>
                      <a:r>
                        <a:rPr lang="en-IN" sz="1000" u="none" strike="noStrike" kern="1200" dirty="0">
                          <a:solidFill>
                            <a:schemeClr val="dk1"/>
                          </a:solidFill>
                          <a:effectLst/>
                        </a:rPr>
                        <a:t> </a:t>
                      </a:r>
                    </a:p>
                    <a:p>
                      <a:pPr marL="0" algn="l" defTabSz="914400" rtl="0" eaLnBrk="1" fontAlgn="ctr" latinLnBrk="0" hangingPunct="1">
                        <a:buNone/>
                      </a:pPr>
                      <a:r>
                        <a:rPr lang="en-IN" sz="1000" u="none" strike="noStrike" kern="1200" dirty="0">
                          <a:solidFill>
                            <a:schemeClr val="dk1"/>
                          </a:solidFill>
                          <a:effectLst/>
                        </a:rPr>
                        <a:t> </a:t>
                      </a:r>
                    </a:p>
                    <a:p>
                      <a:pPr marL="0" algn="l" defTabSz="914400" rtl="0" eaLnBrk="1" fontAlgn="ctr" latinLnBrk="0" hangingPunct="1">
                        <a:buNone/>
                      </a:pPr>
                      <a:r>
                        <a:rPr lang="en-IN" sz="1000" u="none" strike="noStrike" kern="1200" dirty="0">
                          <a:solidFill>
                            <a:schemeClr val="dk1"/>
                          </a:solidFill>
                          <a:effectLst/>
                        </a:rPr>
                        <a:t> </a:t>
                      </a:r>
                    </a:p>
                    <a:p>
                      <a:pPr marL="0" algn="l" defTabSz="914400" rtl="0" eaLnBrk="1" fontAlgn="ctr" latinLnBrk="0" hangingPunct="1">
                        <a:buNone/>
                      </a:pPr>
                      <a:r>
                        <a:rPr lang="en-IN" sz="1000" u="none" strike="noStrike" kern="1200" dirty="0">
                          <a:solidFill>
                            <a:schemeClr val="dk1"/>
                          </a:solidFill>
                          <a:effectLst/>
                        </a:rPr>
                        <a:t> </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dirty="0">
                          <a:solidFill>
                            <a:schemeClr val="dk1"/>
                          </a:solidFill>
                          <a:effectLst/>
                        </a:rPr>
                        <a:t>System must handle 2x peak load for 30 min</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dirty="0">
                          <a:solidFill>
                            <a:schemeClr val="dk1"/>
                          </a:solidFill>
                          <a:effectLst/>
                        </a:rPr>
                        <a:t> </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a:solidFill>
                            <a:schemeClr val="dk1"/>
                          </a:solidFill>
                          <a:effectLst/>
                        </a:rPr>
                        <a:t> </a:t>
                      </a: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a:solidFill>
                            <a:schemeClr val="dk1"/>
                          </a:solidFill>
                          <a:effectLst/>
                        </a:rPr>
                        <a:t> </a:t>
                      </a: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a:solidFill>
                            <a:schemeClr val="dk1"/>
                          </a:solidFill>
                          <a:effectLst/>
                        </a:rPr>
                        <a:t> </a:t>
                      </a: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a:solidFill>
                            <a:schemeClr val="dk1"/>
                          </a:solidFill>
                          <a:effectLst/>
                        </a:rPr>
                        <a:t> </a:t>
                      </a: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a:solidFill>
                            <a:schemeClr val="dk1"/>
                          </a:solidFill>
                          <a:effectLst/>
                        </a:rPr>
                        <a:t> </a:t>
                      </a: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dirty="0">
                          <a:solidFill>
                            <a:schemeClr val="dk1"/>
                          </a:solidFill>
                          <a:effectLst/>
                        </a:rPr>
                        <a:t> </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1140071"/>
                  </a:ext>
                </a:extLst>
              </a:tr>
              <a:tr h="259502">
                <a:tc vMerge="1">
                  <a:txBody>
                    <a:bodyPr/>
                    <a:lstStyle/>
                    <a:p>
                      <a:endParaRPr/>
                    </a:p>
                  </a:txBody>
                  <a:tcPr marL="5001" marR="5001" marT="50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fontAlgn="ctr" latinLnBrk="0" hangingPunct="1">
                        <a:buNone/>
                      </a:pPr>
                      <a:r>
                        <a:rPr lang="en-IN" sz="1000" u="none" strike="noStrike" kern="1200" dirty="0">
                          <a:solidFill>
                            <a:schemeClr val="dk1"/>
                          </a:solidFill>
                          <a:effectLst/>
                        </a:rPr>
                        <a:t>System must handle 3x burst load for 5 min without failure</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dirty="0">
                          <a:solidFill>
                            <a:schemeClr val="dk1"/>
                          </a:solidFill>
                          <a:effectLst/>
                        </a:rPr>
                        <a:t> </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a:solidFill>
                            <a:schemeClr val="dk1"/>
                          </a:solidFill>
                          <a:effectLst/>
                        </a:rPr>
                        <a:t> </a:t>
                      </a: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dirty="0">
                          <a:solidFill>
                            <a:schemeClr val="dk1"/>
                          </a:solidFill>
                          <a:effectLst/>
                        </a:rPr>
                        <a:t> </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dirty="0">
                          <a:solidFill>
                            <a:schemeClr val="dk1"/>
                          </a:solidFill>
                          <a:effectLst/>
                        </a:rPr>
                        <a:t> </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dirty="0">
                          <a:solidFill>
                            <a:schemeClr val="dk1"/>
                          </a:solidFill>
                          <a:effectLst/>
                        </a:rPr>
                        <a:t> </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a:solidFill>
                            <a:schemeClr val="dk1"/>
                          </a:solidFill>
                          <a:effectLst/>
                        </a:rPr>
                        <a:t> </a:t>
                      </a: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a:solidFill>
                            <a:schemeClr val="dk1"/>
                          </a:solidFill>
                          <a:effectLst/>
                        </a:rPr>
                        <a:t> </a:t>
                      </a: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20951652"/>
                  </a:ext>
                </a:extLst>
              </a:tr>
              <a:tr h="167407">
                <a:tc vMerge="1">
                  <a:txBody>
                    <a:bodyPr/>
                    <a:lstStyle/>
                    <a:p>
                      <a:endParaRPr/>
                    </a:p>
                  </a:txBody>
                  <a:tcPr marL="5001" marR="5001" marT="50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fontAlgn="ctr" latinLnBrk="0" hangingPunct="1">
                        <a:buNone/>
                      </a:pPr>
                      <a:r>
                        <a:rPr lang="en-IN" sz="1000" u="none" strike="noStrike" kern="1200" dirty="0">
                          <a:solidFill>
                            <a:schemeClr val="dk1"/>
                          </a:solidFill>
                          <a:effectLst/>
                        </a:rPr>
                        <a:t>Auto-scaling must instantly respond to burst traffic</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dirty="0">
                          <a:solidFill>
                            <a:schemeClr val="dk1"/>
                          </a:solidFill>
                          <a:effectLst/>
                        </a:rPr>
                        <a:t> </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dirty="0">
                          <a:solidFill>
                            <a:schemeClr val="dk1"/>
                          </a:solidFill>
                          <a:effectLst/>
                        </a:rPr>
                        <a:t> </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dirty="0">
                          <a:solidFill>
                            <a:schemeClr val="dk1"/>
                          </a:solidFill>
                          <a:effectLst/>
                        </a:rPr>
                        <a:t> </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a:solidFill>
                            <a:schemeClr val="dk1"/>
                          </a:solidFill>
                          <a:effectLst/>
                        </a:rPr>
                        <a:t> </a:t>
                      </a: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a:solidFill>
                            <a:schemeClr val="dk1"/>
                          </a:solidFill>
                          <a:effectLst/>
                        </a:rPr>
                        <a:t> </a:t>
                      </a: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dirty="0">
                          <a:solidFill>
                            <a:schemeClr val="dk1"/>
                          </a:solidFill>
                          <a:effectLst/>
                        </a:rPr>
                        <a:t> </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a:solidFill>
                            <a:schemeClr val="dk1"/>
                          </a:solidFill>
                          <a:effectLst/>
                        </a:rPr>
                        <a:t> </a:t>
                      </a: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76121474"/>
                  </a:ext>
                </a:extLst>
              </a:tr>
              <a:tr h="243308">
                <a:tc vMerge="1">
                  <a:txBody>
                    <a:bodyPr/>
                    <a:lstStyle/>
                    <a:p>
                      <a:endParaRPr/>
                    </a:p>
                  </a:txBody>
                  <a:tcPr marL="5001" marR="5001" marT="50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fontAlgn="ctr" latinLnBrk="0" hangingPunct="1">
                        <a:buNone/>
                      </a:pPr>
                      <a:r>
                        <a:rPr lang="en-IN" sz="1000" u="none" strike="noStrike" kern="1200" dirty="0">
                          <a:solidFill>
                            <a:schemeClr val="dk1"/>
                          </a:solidFill>
                          <a:effectLst/>
                        </a:rPr>
                        <a:t>Batch processing window</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dirty="0">
                          <a:solidFill>
                            <a:schemeClr val="dk1"/>
                          </a:solidFill>
                          <a:effectLst/>
                        </a:rPr>
                        <a:t> </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dirty="0">
                          <a:solidFill>
                            <a:schemeClr val="dk1"/>
                          </a:solidFill>
                          <a:effectLst/>
                        </a:rPr>
                        <a:t> </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a:solidFill>
                            <a:schemeClr val="dk1"/>
                          </a:solidFill>
                          <a:effectLst/>
                        </a:rPr>
                        <a:t> </a:t>
                      </a: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dirty="0">
                          <a:solidFill>
                            <a:schemeClr val="dk1"/>
                          </a:solidFill>
                          <a:effectLst/>
                        </a:rPr>
                        <a:t> </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a:solidFill>
                            <a:schemeClr val="dk1"/>
                          </a:solidFill>
                          <a:effectLst/>
                        </a:rPr>
                        <a:t> </a:t>
                      </a: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dirty="0">
                          <a:solidFill>
                            <a:schemeClr val="dk1"/>
                          </a:solidFill>
                          <a:effectLst/>
                        </a:rPr>
                        <a:t> </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a:solidFill>
                            <a:schemeClr val="dk1"/>
                          </a:solidFill>
                          <a:effectLst/>
                        </a:rPr>
                        <a:t> </a:t>
                      </a: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40729410"/>
                  </a:ext>
                </a:extLst>
              </a:tr>
              <a:tr h="167407">
                <a:tc vMerge="1">
                  <a:txBody>
                    <a:bodyPr/>
                    <a:lstStyle/>
                    <a:p>
                      <a:endParaRPr/>
                    </a:p>
                  </a:txBody>
                  <a:tcPr marL="5001" marR="5001" marT="50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fontAlgn="ctr" latinLnBrk="0" hangingPunct="1">
                        <a:buNone/>
                      </a:pPr>
                      <a:r>
                        <a:rPr lang="en-IN" sz="1000" u="none" strike="noStrike" kern="1200" dirty="0">
                          <a:solidFill>
                            <a:schemeClr val="dk1"/>
                          </a:solidFill>
                          <a:effectLst/>
                        </a:rPr>
                        <a:t>End- of -day batch must finish within 45 minutes</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dirty="0">
                          <a:solidFill>
                            <a:schemeClr val="dk1"/>
                          </a:solidFill>
                          <a:effectLst/>
                        </a:rPr>
                        <a:t> </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dirty="0">
                          <a:solidFill>
                            <a:schemeClr val="dk1"/>
                          </a:solidFill>
                          <a:effectLst/>
                        </a:rPr>
                        <a:t> </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dirty="0">
                          <a:solidFill>
                            <a:schemeClr val="dk1"/>
                          </a:solidFill>
                          <a:effectLst/>
                        </a:rPr>
                        <a:t> </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a:solidFill>
                            <a:schemeClr val="dk1"/>
                          </a:solidFill>
                          <a:effectLst/>
                        </a:rPr>
                        <a:t> </a:t>
                      </a: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dirty="0">
                          <a:solidFill>
                            <a:schemeClr val="dk1"/>
                          </a:solidFill>
                          <a:effectLst/>
                        </a:rPr>
                        <a:t> </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dirty="0">
                          <a:solidFill>
                            <a:schemeClr val="dk1"/>
                          </a:solidFill>
                          <a:effectLst/>
                        </a:rPr>
                        <a:t> </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a:solidFill>
                            <a:schemeClr val="dk1"/>
                          </a:solidFill>
                          <a:effectLst/>
                        </a:rPr>
                        <a:t> </a:t>
                      </a: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24544526"/>
                  </a:ext>
                </a:extLst>
              </a:tr>
              <a:tr h="259502">
                <a:tc vMerge="1">
                  <a:txBody>
                    <a:bodyPr/>
                    <a:lstStyle/>
                    <a:p>
                      <a:endParaRPr/>
                    </a:p>
                  </a:txBody>
                  <a:tcPr marL="5001" marR="5001" marT="50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fontAlgn="ctr" latinLnBrk="0" hangingPunct="1">
                        <a:buNone/>
                      </a:pPr>
                      <a:r>
                        <a:rPr lang="en-IN" sz="1000" u="none" strike="noStrike" kern="1200" dirty="0">
                          <a:solidFill>
                            <a:schemeClr val="dk1"/>
                          </a:solidFill>
                          <a:effectLst/>
                        </a:rPr>
                        <a:t>End-of-month batch must finish within 4 hours</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dirty="0">
                          <a:solidFill>
                            <a:schemeClr val="dk1"/>
                          </a:solidFill>
                          <a:effectLst/>
                        </a:rPr>
                        <a:t> </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dirty="0">
                          <a:solidFill>
                            <a:schemeClr val="dk1"/>
                          </a:solidFill>
                          <a:effectLst/>
                        </a:rPr>
                        <a:t> </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dirty="0">
                          <a:solidFill>
                            <a:schemeClr val="dk1"/>
                          </a:solidFill>
                          <a:effectLst/>
                        </a:rPr>
                        <a:t> </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a:solidFill>
                            <a:schemeClr val="dk1"/>
                          </a:solidFill>
                          <a:effectLst/>
                        </a:rPr>
                        <a:t> </a:t>
                      </a: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dirty="0">
                          <a:solidFill>
                            <a:schemeClr val="dk1"/>
                          </a:solidFill>
                          <a:effectLst/>
                        </a:rPr>
                        <a:t> </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a:solidFill>
                            <a:schemeClr val="dk1"/>
                          </a:solidFill>
                          <a:effectLst/>
                        </a:rPr>
                        <a:t> </a:t>
                      </a: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dirty="0">
                          <a:solidFill>
                            <a:schemeClr val="dk1"/>
                          </a:solidFill>
                          <a:effectLst/>
                        </a:rPr>
                        <a:t> </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31617511"/>
                  </a:ext>
                </a:extLst>
              </a:tr>
              <a:tr h="167407">
                <a:tc vMerge="1">
                  <a:txBody>
                    <a:bodyPr/>
                    <a:lstStyle/>
                    <a:p>
                      <a:endParaRPr/>
                    </a:p>
                  </a:txBody>
                  <a:tcPr marL="5001" marR="5001" marT="50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fontAlgn="ctr" latinLnBrk="0" hangingPunct="1">
                        <a:buNone/>
                      </a:pPr>
                      <a:r>
                        <a:rPr lang="en-IN" sz="1000" u="none" strike="noStrike" kern="1200">
                          <a:solidFill>
                            <a:schemeClr val="dk1"/>
                          </a:solidFill>
                          <a:effectLst/>
                        </a:rPr>
                        <a:t>Queue Backlog tolerance</a:t>
                      </a: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dirty="0">
                          <a:solidFill>
                            <a:schemeClr val="dk1"/>
                          </a:solidFill>
                          <a:effectLst/>
                        </a:rPr>
                        <a:t> </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dirty="0">
                          <a:solidFill>
                            <a:schemeClr val="dk1"/>
                          </a:solidFill>
                          <a:effectLst/>
                        </a:rPr>
                        <a:t> </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dirty="0">
                          <a:solidFill>
                            <a:schemeClr val="dk1"/>
                          </a:solidFill>
                          <a:effectLst/>
                        </a:rPr>
                        <a:t> </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a:solidFill>
                            <a:schemeClr val="dk1"/>
                          </a:solidFill>
                          <a:effectLst/>
                        </a:rPr>
                        <a:t> </a:t>
                      </a: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a:solidFill>
                            <a:schemeClr val="dk1"/>
                          </a:solidFill>
                          <a:effectLst/>
                        </a:rPr>
                        <a:t> </a:t>
                      </a: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dirty="0">
                          <a:solidFill>
                            <a:schemeClr val="dk1"/>
                          </a:solidFill>
                          <a:effectLst/>
                        </a:rPr>
                        <a:t> </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dirty="0">
                          <a:solidFill>
                            <a:schemeClr val="dk1"/>
                          </a:solidFill>
                          <a:effectLst/>
                        </a:rPr>
                        <a:t> </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46545440"/>
                  </a:ext>
                </a:extLst>
              </a:tr>
              <a:tr h="167407">
                <a:tc vMerge="1">
                  <a:txBody>
                    <a:bodyPr/>
                    <a:lstStyle/>
                    <a:p>
                      <a:endParaRPr/>
                    </a:p>
                  </a:txBody>
                  <a:tcPr marL="5001" marR="5001" marT="50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fontAlgn="ctr" latinLnBrk="0" hangingPunct="1">
                        <a:buNone/>
                      </a:pPr>
                      <a:r>
                        <a:rPr lang="en-IN" sz="1000" u="none" strike="noStrike" kern="1200">
                          <a:solidFill>
                            <a:schemeClr val="dk1"/>
                          </a:solidFill>
                          <a:effectLst/>
                        </a:rPr>
                        <a:t>Queue backlog tolerance= max 5000 messages</a:t>
                      </a: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dirty="0">
                          <a:solidFill>
                            <a:schemeClr val="dk1"/>
                          </a:solidFill>
                          <a:effectLst/>
                        </a:rPr>
                        <a:t> </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dirty="0">
                          <a:solidFill>
                            <a:schemeClr val="dk1"/>
                          </a:solidFill>
                          <a:effectLst/>
                        </a:rPr>
                        <a:t> </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dirty="0">
                          <a:solidFill>
                            <a:schemeClr val="dk1"/>
                          </a:solidFill>
                          <a:effectLst/>
                        </a:rPr>
                        <a:t> </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dirty="0">
                          <a:solidFill>
                            <a:schemeClr val="dk1"/>
                          </a:solidFill>
                          <a:effectLst/>
                        </a:rPr>
                        <a:t> </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a:solidFill>
                            <a:schemeClr val="dk1"/>
                          </a:solidFill>
                          <a:effectLst/>
                        </a:rPr>
                        <a:t> </a:t>
                      </a: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dirty="0">
                          <a:solidFill>
                            <a:schemeClr val="dk1"/>
                          </a:solidFill>
                          <a:effectLst/>
                        </a:rPr>
                        <a:t> </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dirty="0">
                          <a:solidFill>
                            <a:schemeClr val="dk1"/>
                          </a:solidFill>
                          <a:effectLst/>
                        </a:rPr>
                        <a:t> </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01853676"/>
                  </a:ext>
                </a:extLst>
              </a:tr>
              <a:tr h="329496">
                <a:tc vMerge="1">
                  <a:txBody>
                    <a:bodyPr/>
                    <a:lstStyle/>
                    <a:p>
                      <a:endParaRPr/>
                    </a:p>
                  </a:txBody>
                  <a:tcPr marL="5001" marR="5001" marT="50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fontAlgn="ctr" latinLnBrk="0" hangingPunct="1">
                        <a:buNone/>
                      </a:pPr>
                      <a:r>
                        <a:rPr lang="en-IN" sz="1000" u="none" strike="noStrike" kern="1200">
                          <a:solidFill>
                            <a:schemeClr val="dk1"/>
                          </a:solidFill>
                          <a:effectLst/>
                        </a:rPr>
                        <a:t>System must auto-scale consumers when backlog&gt;1000 messages</a:t>
                      </a: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a:solidFill>
                            <a:schemeClr val="dk1"/>
                          </a:solidFill>
                          <a:effectLst/>
                        </a:rPr>
                        <a:t> </a:t>
                      </a: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dirty="0">
                          <a:solidFill>
                            <a:schemeClr val="dk1"/>
                          </a:solidFill>
                          <a:effectLst/>
                        </a:rPr>
                        <a:t> </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dirty="0">
                          <a:solidFill>
                            <a:schemeClr val="dk1"/>
                          </a:solidFill>
                          <a:effectLst/>
                        </a:rPr>
                        <a:t> </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dirty="0">
                          <a:solidFill>
                            <a:schemeClr val="dk1"/>
                          </a:solidFill>
                          <a:effectLst/>
                        </a:rPr>
                        <a:t> </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dirty="0">
                          <a:solidFill>
                            <a:schemeClr val="dk1"/>
                          </a:solidFill>
                          <a:effectLst/>
                        </a:rPr>
                        <a:t> </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dirty="0">
                          <a:solidFill>
                            <a:schemeClr val="dk1"/>
                          </a:solidFill>
                          <a:effectLst/>
                        </a:rPr>
                        <a:t> </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dirty="0">
                          <a:solidFill>
                            <a:schemeClr val="dk1"/>
                          </a:solidFill>
                          <a:effectLst/>
                        </a:rPr>
                        <a:t> </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51041096"/>
                  </a:ext>
                </a:extLst>
              </a:tr>
              <a:tr h="167407">
                <a:tc vMerge="1">
                  <a:txBody>
                    <a:bodyPr/>
                    <a:lstStyle/>
                    <a:p>
                      <a:endParaRPr/>
                    </a:p>
                  </a:txBody>
                  <a:tcPr marL="5001" marR="5001" marT="50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fontAlgn="ctr" latinLnBrk="0" hangingPunct="1">
                        <a:buNone/>
                      </a:pPr>
                      <a:r>
                        <a:rPr lang="en-IN" sz="1000" u="none" strike="noStrike" kern="1200">
                          <a:solidFill>
                            <a:schemeClr val="dk1"/>
                          </a:solidFill>
                          <a:effectLst/>
                        </a:rPr>
                        <a:t>API Rate limits/ Throttling specs</a:t>
                      </a: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a:solidFill>
                            <a:schemeClr val="dk1"/>
                          </a:solidFill>
                          <a:effectLst/>
                        </a:rPr>
                        <a:t> </a:t>
                      </a: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a:solidFill>
                            <a:schemeClr val="dk1"/>
                          </a:solidFill>
                          <a:effectLst/>
                        </a:rPr>
                        <a:t> </a:t>
                      </a: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dirty="0">
                          <a:solidFill>
                            <a:schemeClr val="dk1"/>
                          </a:solidFill>
                          <a:effectLst/>
                        </a:rPr>
                        <a:t> </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dirty="0">
                          <a:solidFill>
                            <a:schemeClr val="dk1"/>
                          </a:solidFill>
                          <a:effectLst/>
                        </a:rPr>
                        <a:t> </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dirty="0">
                          <a:solidFill>
                            <a:schemeClr val="dk1"/>
                          </a:solidFill>
                          <a:effectLst/>
                        </a:rPr>
                        <a:t> </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dirty="0">
                          <a:solidFill>
                            <a:schemeClr val="dk1"/>
                          </a:solidFill>
                          <a:effectLst/>
                        </a:rPr>
                        <a:t> </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dirty="0">
                          <a:solidFill>
                            <a:schemeClr val="dk1"/>
                          </a:solidFill>
                          <a:effectLst/>
                        </a:rPr>
                        <a:t> </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17803849"/>
                  </a:ext>
                </a:extLst>
              </a:tr>
              <a:tr h="329496">
                <a:tc vMerge="1">
                  <a:txBody>
                    <a:bodyPr/>
                    <a:lstStyle/>
                    <a:p>
                      <a:endParaRPr/>
                    </a:p>
                  </a:txBody>
                  <a:tcPr marL="5001" marR="5001" marT="50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fontAlgn="ctr" latinLnBrk="0" hangingPunct="1">
                        <a:buNone/>
                      </a:pPr>
                      <a:r>
                        <a:rPr lang="en-IN" sz="1000" u="none" strike="noStrike" kern="1200">
                          <a:solidFill>
                            <a:schemeClr val="dk1"/>
                          </a:solidFill>
                          <a:effectLst/>
                        </a:rPr>
                        <a:t>Rate limit= 300 requests/min per user, 1000 requests/min per client app</a:t>
                      </a: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a:solidFill>
                            <a:schemeClr val="dk1"/>
                          </a:solidFill>
                          <a:effectLst/>
                        </a:rPr>
                        <a:t> </a:t>
                      </a: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a:solidFill>
                            <a:schemeClr val="dk1"/>
                          </a:solidFill>
                          <a:effectLst/>
                        </a:rPr>
                        <a:t> </a:t>
                      </a: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dirty="0">
                          <a:solidFill>
                            <a:schemeClr val="dk1"/>
                          </a:solidFill>
                          <a:effectLst/>
                        </a:rPr>
                        <a:t> </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dirty="0">
                          <a:solidFill>
                            <a:schemeClr val="dk1"/>
                          </a:solidFill>
                          <a:effectLst/>
                        </a:rPr>
                        <a:t> </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dirty="0">
                          <a:solidFill>
                            <a:schemeClr val="dk1"/>
                          </a:solidFill>
                          <a:effectLst/>
                        </a:rPr>
                        <a:t> </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dirty="0">
                          <a:solidFill>
                            <a:schemeClr val="dk1"/>
                          </a:solidFill>
                          <a:effectLst/>
                        </a:rPr>
                        <a:t> </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dirty="0">
                          <a:solidFill>
                            <a:schemeClr val="dk1"/>
                          </a:solidFill>
                          <a:effectLst/>
                        </a:rPr>
                        <a:t> </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44801667"/>
                  </a:ext>
                </a:extLst>
              </a:tr>
              <a:tr h="167407">
                <a:tc vMerge="1">
                  <a:txBody>
                    <a:bodyPr/>
                    <a:lstStyle/>
                    <a:p>
                      <a:endParaRPr/>
                    </a:p>
                  </a:txBody>
                  <a:tcPr marL="5001" marR="5001" marT="50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fontAlgn="ctr" latinLnBrk="0" hangingPunct="1">
                        <a:buNone/>
                      </a:pPr>
                      <a:r>
                        <a:rPr lang="en-IN" sz="1000" u="none" strike="noStrike" kern="1200">
                          <a:solidFill>
                            <a:schemeClr val="dk1"/>
                          </a:solidFill>
                          <a:effectLst/>
                        </a:rPr>
                        <a:t>On throttling: return HTTP 429 + Retry-After header</a:t>
                      </a: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a:solidFill>
                            <a:schemeClr val="dk1"/>
                          </a:solidFill>
                          <a:effectLst/>
                        </a:rPr>
                        <a:t> </a:t>
                      </a: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a:solidFill>
                            <a:schemeClr val="dk1"/>
                          </a:solidFill>
                          <a:effectLst/>
                        </a:rPr>
                        <a:t> </a:t>
                      </a: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a:solidFill>
                            <a:schemeClr val="dk1"/>
                          </a:solidFill>
                          <a:effectLst/>
                        </a:rPr>
                        <a:t> </a:t>
                      </a: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dirty="0">
                          <a:solidFill>
                            <a:schemeClr val="dk1"/>
                          </a:solidFill>
                          <a:effectLst/>
                        </a:rPr>
                        <a:t> </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dirty="0">
                          <a:solidFill>
                            <a:schemeClr val="dk1"/>
                          </a:solidFill>
                          <a:effectLst/>
                        </a:rPr>
                        <a:t> </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dirty="0">
                          <a:solidFill>
                            <a:schemeClr val="dk1"/>
                          </a:solidFill>
                          <a:effectLst/>
                        </a:rPr>
                        <a:t> </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dirty="0">
                          <a:solidFill>
                            <a:schemeClr val="dk1"/>
                          </a:solidFill>
                          <a:effectLst/>
                        </a:rPr>
                        <a:t> </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11759588"/>
                  </a:ext>
                </a:extLst>
              </a:tr>
              <a:tr h="167407">
                <a:tc vMerge="1">
                  <a:txBody>
                    <a:bodyPr/>
                    <a:lstStyle/>
                    <a:p>
                      <a:endParaRPr dirty="0"/>
                    </a:p>
                  </a:txBody>
                  <a:tcPr marL="5001" marR="5001" marT="500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914400" rtl="0" eaLnBrk="1" fontAlgn="ctr" latinLnBrk="0" hangingPunct="1">
                        <a:buNone/>
                      </a:pPr>
                      <a:r>
                        <a:rPr lang="en-IN" sz="1000" u="none" strike="noStrike" kern="1200">
                          <a:solidFill>
                            <a:schemeClr val="dk1"/>
                          </a:solidFill>
                          <a:effectLst/>
                        </a:rPr>
                        <a:t>Client must backoff and retry</a:t>
                      </a: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a:solidFill>
                            <a:schemeClr val="dk1"/>
                          </a:solidFill>
                          <a:effectLst/>
                        </a:rPr>
                        <a:t> </a:t>
                      </a: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a:solidFill>
                            <a:schemeClr val="dk1"/>
                          </a:solidFill>
                          <a:effectLst/>
                        </a:rPr>
                        <a:t> </a:t>
                      </a: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a:solidFill>
                            <a:schemeClr val="dk1"/>
                          </a:solidFill>
                          <a:effectLst/>
                        </a:rPr>
                        <a:t> </a:t>
                      </a: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dirty="0">
                          <a:solidFill>
                            <a:schemeClr val="dk1"/>
                          </a:solidFill>
                          <a:effectLst/>
                        </a:rPr>
                        <a:t> </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dirty="0">
                          <a:solidFill>
                            <a:schemeClr val="dk1"/>
                          </a:solidFill>
                          <a:effectLst/>
                        </a:rPr>
                        <a:t> </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dirty="0">
                          <a:solidFill>
                            <a:schemeClr val="dk1"/>
                          </a:solidFill>
                          <a:effectLst/>
                        </a:rPr>
                        <a:t> </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dirty="0">
                          <a:solidFill>
                            <a:schemeClr val="dk1"/>
                          </a:solidFill>
                          <a:effectLst/>
                        </a:rPr>
                        <a:t> </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37677347"/>
                  </a:ext>
                </a:extLst>
              </a:tr>
              <a:tr h="167407">
                <a:tc>
                  <a:txBody>
                    <a:bodyPr/>
                    <a:lstStyle/>
                    <a:p>
                      <a:pPr marL="0" algn="l" defTabSz="914400" rtl="0" eaLnBrk="1" fontAlgn="ctr" latinLnBrk="0" hangingPunct="1">
                        <a:buNone/>
                      </a:pPr>
                      <a:r>
                        <a:rPr lang="en-IN" sz="1000" b="1" u="none" strike="noStrike" kern="1200" dirty="0">
                          <a:solidFill>
                            <a:schemeClr val="dk1"/>
                          </a:solidFill>
                          <a:effectLst/>
                        </a:rPr>
                        <a:t>UX- Messaging Standards</a:t>
                      </a:r>
                      <a:endParaRPr lang="en-IN" sz="1000" b="1" u="none" strike="noStrike" kern="1200" dirty="0">
                        <a:solidFill>
                          <a:schemeClr val="dk1"/>
                        </a:solidFill>
                        <a:effectLst/>
                        <a:latin typeface="IBM Plex Sans" panose="020B0503050203000203" pitchFamily="34" charset="0"/>
                        <a:ea typeface="+mn-ea"/>
                        <a:cs typeface="+mn-cs"/>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dirty="0">
                          <a:solidFill>
                            <a:schemeClr val="dk1"/>
                          </a:solidFill>
                          <a:effectLst/>
                        </a:rPr>
                        <a:t>Error messages must not expose stack trace, DB info</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a:solidFill>
                            <a:schemeClr val="dk1"/>
                          </a:solidFill>
                          <a:effectLst/>
                        </a:rPr>
                        <a:t> </a:t>
                      </a: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a:solidFill>
                            <a:schemeClr val="dk1"/>
                          </a:solidFill>
                          <a:effectLst/>
                        </a:rPr>
                        <a:t> </a:t>
                      </a: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a:solidFill>
                            <a:schemeClr val="dk1"/>
                          </a:solidFill>
                          <a:effectLst/>
                        </a:rPr>
                        <a:t> </a:t>
                      </a: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dirty="0">
                          <a:solidFill>
                            <a:schemeClr val="dk1"/>
                          </a:solidFill>
                          <a:effectLst/>
                        </a:rPr>
                        <a:t> </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a:solidFill>
                            <a:schemeClr val="dk1"/>
                          </a:solidFill>
                          <a:effectLst/>
                        </a:rPr>
                        <a:t> </a:t>
                      </a: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dirty="0">
                          <a:solidFill>
                            <a:schemeClr val="dk1"/>
                          </a:solidFill>
                          <a:effectLst/>
                        </a:rPr>
                        <a:t> </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dirty="0">
                          <a:solidFill>
                            <a:schemeClr val="dk1"/>
                          </a:solidFill>
                          <a:effectLst/>
                        </a:rPr>
                        <a:t> </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45391556"/>
                  </a:ext>
                </a:extLst>
              </a:tr>
              <a:tr h="167407">
                <a:tc>
                  <a:txBody>
                    <a:bodyPr/>
                    <a:lstStyle/>
                    <a:p>
                      <a:pPr marL="0" algn="l" defTabSz="914400" rtl="0" eaLnBrk="1" fontAlgn="ctr" latinLnBrk="0" hangingPunct="1">
                        <a:buNone/>
                      </a:pPr>
                      <a:r>
                        <a:rPr lang="en-IN" sz="1000" b="1" u="none" strike="noStrike" kern="1200" dirty="0">
                          <a:solidFill>
                            <a:schemeClr val="dk1"/>
                          </a:solidFill>
                          <a:effectLst/>
                        </a:rPr>
                        <a:t>Graceful Degradation</a:t>
                      </a:r>
                      <a:endParaRPr lang="en-IN" sz="1000" b="1" u="none" strike="noStrike" kern="1200" dirty="0">
                        <a:solidFill>
                          <a:schemeClr val="dk1"/>
                        </a:solidFill>
                        <a:effectLst/>
                        <a:latin typeface="IBM Plex Sans" panose="020B0503050203000203" pitchFamily="34" charset="0"/>
                        <a:ea typeface="+mn-ea"/>
                        <a:cs typeface="+mn-cs"/>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dirty="0">
                          <a:solidFill>
                            <a:schemeClr val="dk1"/>
                          </a:solidFill>
                          <a:effectLst/>
                        </a:rPr>
                        <a:t>Use cached data for 10 min</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82944567"/>
                  </a:ext>
                </a:extLst>
              </a:tr>
              <a:tr h="167407">
                <a:tc>
                  <a:txBody>
                    <a:bodyPr/>
                    <a:lstStyle/>
                    <a:p>
                      <a:pPr marL="0" algn="l" defTabSz="914400" rtl="0" eaLnBrk="1" fontAlgn="ctr" latinLnBrk="0" hangingPunct="1">
                        <a:buNone/>
                      </a:pPr>
                      <a:r>
                        <a:rPr lang="en-IN" sz="1000" u="none" strike="noStrike" kern="1200">
                          <a:solidFill>
                            <a:schemeClr val="dk1"/>
                          </a:solidFill>
                          <a:effectLst/>
                        </a:rPr>
                        <a:t> </a:t>
                      </a: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dirty="0">
                          <a:solidFill>
                            <a:schemeClr val="dk1"/>
                          </a:solidFill>
                          <a:effectLst/>
                        </a:rPr>
                        <a:t>Make portal </a:t>
                      </a:r>
                      <a:r>
                        <a:rPr lang="en-IN" sz="1000" u="none" strike="noStrike" kern="1200" dirty="0" err="1">
                          <a:solidFill>
                            <a:schemeClr val="dk1"/>
                          </a:solidFill>
                          <a:effectLst/>
                        </a:rPr>
                        <a:t>raed</a:t>
                      </a:r>
                      <a:r>
                        <a:rPr lang="en-IN" sz="1000" u="none" strike="noStrike" kern="1200" dirty="0">
                          <a:solidFill>
                            <a:schemeClr val="dk1"/>
                          </a:solidFill>
                          <a:effectLst/>
                        </a:rPr>
                        <a:t>-only</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7666283"/>
                  </a:ext>
                </a:extLst>
              </a:tr>
              <a:tr h="167407">
                <a:tc>
                  <a:txBody>
                    <a:bodyPr/>
                    <a:lstStyle/>
                    <a:p>
                      <a:pPr marL="0" algn="l" defTabSz="914400" rtl="0" eaLnBrk="1" fontAlgn="ctr" latinLnBrk="0" hangingPunct="1">
                        <a:buNone/>
                      </a:pPr>
                      <a:r>
                        <a:rPr lang="en-IN" sz="1000" u="none" strike="noStrike" kern="1200" dirty="0">
                          <a:solidFill>
                            <a:schemeClr val="dk1"/>
                          </a:solidFill>
                          <a:effectLst/>
                        </a:rPr>
                        <a:t> </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r>
                        <a:rPr lang="en-IN" sz="1000" u="none" strike="noStrike" kern="1200" dirty="0">
                          <a:solidFill>
                            <a:schemeClr val="dk1"/>
                          </a:solidFill>
                          <a:effectLst/>
                        </a:rPr>
                        <a:t>Disable non-critical features</a:t>
                      </a: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03313337"/>
                  </a:ext>
                </a:extLst>
              </a:tr>
              <a:tr h="172219">
                <a:tc rowSpan="2">
                  <a:txBody>
                    <a:bodyPr/>
                    <a:lstStyle/>
                    <a:p>
                      <a:pPr algn="l" fontAlgn="ctr">
                        <a:buNone/>
                      </a:pPr>
                      <a:r>
                        <a:rPr lang="en-IN" sz="1000" b="1" u="none" strike="noStrike" dirty="0">
                          <a:solidFill>
                            <a:srgbClr val="000000"/>
                          </a:solidFill>
                          <a:effectLst/>
                        </a:rPr>
                        <a:t>Virus Scanning</a:t>
                      </a:r>
                    </a:p>
                    <a:p>
                      <a:pPr algn="l" fontAlgn="ctr">
                        <a:buNone/>
                      </a:pPr>
                      <a:r>
                        <a:rPr lang="en-IN" sz="1000" b="1" u="none" strike="noStrike" dirty="0">
                          <a:solidFill>
                            <a:srgbClr val="000000"/>
                          </a:solidFill>
                          <a:effectLst/>
                        </a:rPr>
                        <a:t> </a:t>
                      </a:r>
                      <a:endParaRPr lang="en-IN" sz="1000" b="1" i="0" u="none" strike="noStrike" dirty="0">
                        <a:solidFill>
                          <a:srgbClr val="000000"/>
                        </a:solidFill>
                        <a:effectLst/>
                        <a:latin typeface="IBM Plex Sans" panose="020B0503050203000203"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t">
                        <a:buNone/>
                      </a:pPr>
                      <a:r>
                        <a:rPr lang="en-IN" sz="1000" b="0" u="none" strike="noStrike" dirty="0">
                          <a:solidFill>
                            <a:srgbClr val="000000"/>
                          </a:solidFill>
                          <a:effectLst/>
                        </a:rPr>
                        <a:t>All uploads scanned with anti-malware</a:t>
                      </a:r>
                      <a:endParaRPr lang="en-IN" sz="1000" b="0" i="0" u="none" strike="noStrike" dirty="0">
                        <a:solidFill>
                          <a:srgbClr val="000000"/>
                        </a:solidFill>
                        <a:effectLst/>
                        <a:latin typeface="IBM Plex Sans" panose="020B0503050203000203" pitchFamily="34" charset="0"/>
                      </a:endParaRPr>
                    </a:p>
                  </a:txBody>
                  <a:tcPr marL="9525" marR="9525" marT="952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6414445"/>
                  </a:ext>
                </a:extLst>
              </a:tr>
              <a:tr h="172219">
                <a:tc vMerge="1">
                  <a:txBody>
                    <a:bodyPr/>
                    <a:lstStyle/>
                    <a:p>
                      <a:endParaRPr dirty="0"/>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t">
                        <a:buNone/>
                      </a:pPr>
                      <a:r>
                        <a:rPr lang="en-IN" sz="1000" b="0" u="none" strike="noStrike" dirty="0">
                          <a:solidFill>
                            <a:srgbClr val="000000"/>
                          </a:solidFill>
                          <a:effectLst/>
                        </a:rPr>
                        <a:t>Allowed file types restricted</a:t>
                      </a:r>
                      <a:endParaRPr lang="en-IN" sz="1000" b="0" i="0" u="none" strike="noStrike" dirty="0">
                        <a:solidFill>
                          <a:srgbClr val="000000"/>
                        </a:solidFill>
                        <a:effectLst/>
                        <a:latin typeface="IBM Plex Sans" panose="020B0503050203000203" pitchFamily="34" charset="0"/>
                      </a:endParaRPr>
                    </a:p>
                  </a:txBody>
                  <a:tcPr marL="9525" marR="9525" marT="9525"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96496833"/>
                  </a:ext>
                </a:extLst>
              </a:tr>
              <a:tr h="172219">
                <a:tc rowSpan="3">
                  <a:txBody>
                    <a:bodyPr/>
                    <a:lstStyle/>
                    <a:p>
                      <a:pPr algn="l" fontAlgn="ctr">
                        <a:buNone/>
                      </a:pPr>
                      <a:r>
                        <a:rPr lang="en-IN" sz="1000" b="1" u="none" strike="noStrike" dirty="0">
                          <a:solidFill>
                            <a:srgbClr val="000000"/>
                          </a:solidFill>
                          <a:effectLst/>
                        </a:rPr>
                        <a:t>Retention Duration</a:t>
                      </a:r>
                    </a:p>
                    <a:p>
                      <a:pPr algn="l" fontAlgn="ctr">
                        <a:buNone/>
                      </a:pPr>
                      <a:r>
                        <a:rPr lang="en-IN" sz="1000" b="1" u="none" strike="noStrike" dirty="0">
                          <a:solidFill>
                            <a:srgbClr val="000000"/>
                          </a:solidFill>
                          <a:effectLst/>
                        </a:rPr>
                        <a:t> </a:t>
                      </a:r>
                    </a:p>
                    <a:p>
                      <a:pPr algn="l" fontAlgn="ctr">
                        <a:buNone/>
                      </a:pPr>
                      <a:r>
                        <a:rPr lang="en-IN" sz="1000" b="1" u="none" strike="noStrike" dirty="0">
                          <a:solidFill>
                            <a:srgbClr val="000000"/>
                          </a:solidFill>
                          <a:effectLst/>
                        </a:rPr>
                        <a:t> </a:t>
                      </a:r>
                      <a:endParaRPr lang="en-IN" sz="1000" b="1" i="0" u="none" strike="noStrike" dirty="0">
                        <a:solidFill>
                          <a:srgbClr val="000000"/>
                        </a:solidFill>
                        <a:effectLst/>
                        <a:latin typeface="IBM Plex Sans" panose="020B0503050203000203"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buNone/>
                      </a:pPr>
                      <a:r>
                        <a:rPr lang="en-IN" sz="1000" b="0" u="none" strike="noStrike" dirty="0">
                          <a:solidFill>
                            <a:srgbClr val="000000"/>
                          </a:solidFill>
                          <a:effectLst/>
                        </a:rPr>
                        <a:t>KYC: 10 years</a:t>
                      </a:r>
                      <a:endParaRPr lang="en-IN" sz="1000" b="0" i="0" u="none" strike="noStrike" dirty="0">
                        <a:solidFill>
                          <a:srgbClr val="000000"/>
                        </a:solidFill>
                        <a:effectLst/>
                        <a:latin typeface="IBM Plex Sans" panose="020B0503050203000203"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47998119"/>
                  </a:ext>
                </a:extLst>
              </a:tr>
              <a:tr h="172219">
                <a:tc vMerge="1">
                  <a:txBody>
                    <a:bodyPr/>
                    <a:lstStyle/>
                    <a:p>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buNone/>
                      </a:pPr>
                      <a:r>
                        <a:rPr lang="en-IN" sz="1000" b="0" u="none" strike="noStrike" dirty="0">
                          <a:solidFill>
                            <a:srgbClr val="000000"/>
                          </a:solidFill>
                          <a:effectLst/>
                        </a:rPr>
                        <a:t>Contracts: 7 years</a:t>
                      </a:r>
                      <a:endParaRPr lang="en-IN" sz="1000" b="0" i="0" u="none" strike="noStrike" dirty="0">
                        <a:solidFill>
                          <a:srgbClr val="000000"/>
                        </a:solidFill>
                        <a:effectLst/>
                        <a:latin typeface="IBM Plex Sans" panose="020B0503050203000203"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30797352"/>
                  </a:ext>
                </a:extLst>
              </a:tr>
              <a:tr h="334307">
                <a:tc vMerge="1">
                  <a:txBody>
                    <a:bodyPr/>
                    <a:lstStyle/>
                    <a:p>
                      <a:endParaRPr dirty="0"/>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buNone/>
                      </a:pPr>
                      <a:r>
                        <a:rPr lang="en-IN" sz="1000" b="0" u="none" strike="noStrike" dirty="0">
                          <a:solidFill>
                            <a:srgbClr val="000000"/>
                          </a:solidFill>
                          <a:effectLst/>
                        </a:rPr>
                        <a:t>Logs (System/application) : 1 years, Security Logs : 3 years, Audit Logs : 7 years</a:t>
                      </a:r>
                      <a:endParaRPr lang="en-IN" sz="1000" b="0" i="0" u="none" strike="noStrike" dirty="0">
                        <a:solidFill>
                          <a:srgbClr val="000000"/>
                        </a:solidFill>
                        <a:effectLst/>
                        <a:latin typeface="IBM Plex Sans" panose="020B0503050203000203"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03097932"/>
                  </a:ext>
                </a:extLst>
              </a:tr>
              <a:tr h="167407">
                <a:tc>
                  <a:txBody>
                    <a:bodyPr/>
                    <a:lstStyle/>
                    <a:p>
                      <a:pPr marL="0" algn="l" defTabSz="914400" rtl="0" eaLnBrk="1" fontAlgn="ctr" latinLnBrk="0" hangingPunct="1">
                        <a:buNone/>
                      </a:pP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endParaRPr lang="en-IN" sz="1000" u="none" strike="noStrike" kern="120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fontAlgn="ctr" latinLnBrk="0" hangingPunct="1">
                        <a:buNone/>
                      </a:pPr>
                      <a:endParaRPr lang="en-IN" sz="1000" u="none" strike="noStrike" kern="1200" dirty="0">
                        <a:solidFill>
                          <a:schemeClr val="dk1"/>
                        </a:solidFill>
                        <a:effectLst/>
                        <a:latin typeface="IBM Plex Sans" panose="020B0503050203000203" pitchFamily="34" charset="0"/>
                        <a:ea typeface="+mn-ea"/>
                        <a:cs typeface="+mn-cs"/>
                      </a:endParaRPr>
                    </a:p>
                  </a:txBody>
                  <a:tcPr marL="5001" marR="5001" marT="5001"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98697248"/>
                  </a:ext>
                </a:extLst>
              </a:tr>
            </a:tbl>
          </a:graphicData>
        </a:graphic>
      </p:graphicFrame>
    </p:spTree>
    <p:extLst>
      <p:ext uri="{BB962C8B-B14F-4D97-AF65-F5344CB8AC3E}">
        <p14:creationId xmlns:p14="http://schemas.microsoft.com/office/powerpoint/2010/main" val="21082611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5688</TotalTime>
  <Words>3837</Words>
  <Application>Microsoft Macintosh PowerPoint</Application>
  <PresentationFormat>Widescreen</PresentationFormat>
  <Paragraphs>1254</Paragraphs>
  <Slides>24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Aptos</vt:lpstr>
      <vt:lpstr>Aptos Display</vt:lpstr>
      <vt:lpstr>Arial</vt:lpstr>
      <vt:lpstr>Avenir Next LT Pro</vt:lpstr>
      <vt:lpstr>IBM Plex Sans</vt:lpstr>
      <vt:lpstr>Office Theme</vt:lpstr>
      <vt:lpstr>BUSINESS REQUIREMENTS</vt:lpstr>
      <vt:lpstr>BUSINESS VALUES</vt:lpstr>
      <vt:lpstr>USER EXPERIENCE DESIGN</vt:lpstr>
      <vt:lpstr>BUSINESS PROCESS DIAGRAM</vt:lpstr>
      <vt:lpstr>INFORMATION ARCHITECTURE DIAGRAM</vt:lpstr>
      <vt:lpstr>PowerPoint Presentation</vt:lpstr>
      <vt:lpstr>APPLICATION ARCHITECTURE DIAGRAM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Sougata Bagchi</dc:creator>
  <cp:lastModifiedBy>Sougata Bagchi</cp:lastModifiedBy>
  <cp:revision>20</cp:revision>
  <dcterms:created xsi:type="dcterms:W3CDTF">2026-03-26T07:26:53Z</dcterms:created>
  <dcterms:modified xsi:type="dcterms:W3CDTF">2026-03-30T06:15:42Z</dcterms:modified>
</cp:coreProperties>
</file>